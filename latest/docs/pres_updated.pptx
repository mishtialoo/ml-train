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0" r:id="rId1"/>
  </p:sldMasterIdLst>
  <p:notesMasterIdLst>
    <p:notesMasterId r:id="rId26"/>
  </p:notesMasterIdLst>
  <p:sldIdLst>
    <p:sldId id="256" r:id="rId2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  <p:sldId id="270" r:id="rId12"/>
    <p:sldId id="271" r:id="rId11"/>
    <p:sldId id="272" r:id="rId10"/>
    <p:sldId id="273" r:id="rId9"/>
    <p:sldId id="274" r:id="rId8"/>
    <p:sldId id="275" r:id="rId7"/>
    <p:sldId id="276" r:id="rId6"/>
    <p:sldId id="277" r:id="rId5"/>
    <p:sldId id="278" r:id="rId4"/>
    <p:sldId id="279" r:id="rId3"/>
    <p:sldId id="280" r:id="rId49"/>
    <p:sldId id="281" r:id="rId50"/>
    <p:sldId id="282" r:id="rId51"/>
    <p:sldId id="283" r:id="rId52"/>
    <p:sldId id="284" r:id="rId53"/>
    <p:sldId id="285" r:id="rId54"/>
    <p:sldId id="286" r:id="rId55"/>
    <p:sldId id="287" r:id="rId56"/>
  </p:sldIdLst>
  <p:sldSz cx="9144000" cy="5143500" type="screen16x9"/>
  <p:notesSz cx="5143500" cy="9144000"/>
  <p:embeddedFontLst>
    <p:embeddedFont>
      <p:font typeface="Arimo" panose="020B0604020202020204" charset="0"/>
      <p:regular r:id="rId27"/>
      <p:bold r:id="rId28"/>
      <p:italic r:id="rId29"/>
      <p:boldItalic r:id="rId30"/>
    </p:embeddedFont>
    <p:embeddedFont>
      <p:font typeface="Calibri" panose="020F0502020204030204" pitchFamily="34" charset="0"/>
      <p:regular r:id="rId31"/>
      <p:bold r:id="rId32"/>
      <p:italic r:id="rId33"/>
      <p:boldItalic r:id="rId34"/>
    </p:embeddedFont>
    <p:embeddedFont>
      <p:font typeface="Play" panose="020B0604020202020204" charset="0"/>
      <p:regular r:id="rId35"/>
      <p:bold r:id="rId36"/>
    </p:embeddedFont>
    <p:embeddedFont>
      <p:font typeface="Raleway" pitchFamily="2" charset="0"/>
      <p:regular r:id="rId37"/>
      <p:bold r:id="rId38"/>
      <p:italic r:id="rId39"/>
      <p:boldItalic r:id="rId40"/>
    </p:embeddedFont>
    <p:embeddedFont>
      <p:font typeface="Roboto" panose="02000000000000000000" pitchFamily="2" charset="0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99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4.xml"/><Relationship Id="rId4" Type="http://schemas.openxmlformats.org/officeDocument/2006/relationships/slide" Target="slides/slide23.xml"/><Relationship Id="rId5" Type="http://schemas.openxmlformats.org/officeDocument/2006/relationships/slide" Target="slides/slide22.xml"/><Relationship Id="rId6" Type="http://schemas.openxmlformats.org/officeDocument/2006/relationships/slide" Target="slides/slide21.xml"/><Relationship Id="rId7" Type="http://schemas.openxmlformats.org/officeDocument/2006/relationships/slide" Target="slides/slide20.xml"/><Relationship Id="rId8" Type="http://schemas.openxmlformats.org/officeDocument/2006/relationships/slide" Target="slides/slide19.xml"/><Relationship Id="rId9" Type="http://schemas.openxmlformats.org/officeDocument/2006/relationships/slide" Target="slides/slide18.xml"/><Relationship Id="rId10" Type="http://schemas.openxmlformats.org/officeDocument/2006/relationships/slide" Target="slides/slide17.xml"/><Relationship Id="rId11" Type="http://schemas.openxmlformats.org/officeDocument/2006/relationships/slide" Target="slides/slide16.xml"/><Relationship Id="rId12" Type="http://schemas.openxmlformats.org/officeDocument/2006/relationships/slide" Target="slides/slide15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notesMaster" Target="notesMasters/notesMaster1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font" Target="fonts/font4.fntdata"/><Relationship Id="rId31" Type="http://schemas.openxmlformats.org/officeDocument/2006/relationships/font" Target="fonts/font5.fntdata"/><Relationship Id="rId32" Type="http://schemas.openxmlformats.org/officeDocument/2006/relationships/font" Target="fonts/font6.fntdata"/><Relationship Id="rId33" Type="http://schemas.openxmlformats.org/officeDocument/2006/relationships/font" Target="fonts/font7.fntdata"/><Relationship Id="rId34" Type="http://schemas.openxmlformats.org/officeDocument/2006/relationships/font" Target="fonts/font8.fntdata"/><Relationship Id="rId35" Type="http://schemas.openxmlformats.org/officeDocument/2006/relationships/font" Target="fonts/font9.fntdata"/><Relationship Id="rId36" Type="http://schemas.openxmlformats.org/officeDocument/2006/relationships/font" Target="fonts/font10.fntdata"/><Relationship Id="rId37" Type="http://schemas.openxmlformats.org/officeDocument/2006/relationships/font" Target="fonts/font11.fntdata"/><Relationship Id="rId38" Type="http://schemas.openxmlformats.org/officeDocument/2006/relationships/font" Target="fonts/font12.fntdata"/><Relationship Id="rId39" Type="http://schemas.openxmlformats.org/officeDocument/2006/relationships/font" Target="fonts/font13.fntdata"/><Relationship Id="rId40" Type="http://schemas.openxmlformats.org/officeDocument/2006/relationships/font" Target="fonts/font14.fntdata"/><Relationship Id="rId41" Type="http://schemas.openxmlformats.org/officeDocument/2006/relationships/font" Target="fonts/font15.fntdata"/><Relationship Id="rId42" Type="http://schemas.openxmlformats.org/officeDocument/2006/relationships/font" Target="fonts/font16.fntdata"/><Relationship Id="rId43" Type="http://schemas.openxmlformats.org/officeDocument/2006/relationships/font" Target="fonts/font17.fntdata"/><Relationship Id="rId44" Type="http://schemas.openxmlformats.org/officeDocument/2006/relationships/font" Target="fonts/font18.fntdata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openxmlformats.org/officeDocument/2006/relationships/slide" Target="slides/slide25.xml"/><Relationship Id="rId50" Type="http://schemas.openxmlformats.org/officeDocument/2006/relationships/slide" Target="slides/slide26.xml"/><Relationship Id="rId51" Type="http://schemas.openxmlformats.org/officeDocument/2006/relationships/slide" Target="slides/slide27.xml"/><Relationship Id="rId52" Type="http://schemas.openxmlformats.org/officeDocument/2006/relationships/slide" Target="slides/slide28.xml"/><Relationship Id="rId53" Type="http://schemas.openxmlformats.org/officeDocument/2006/relationships/slide" Target="slides/slide29.xml"/><Relationship Id="rId54" Type="http://schemas.openxmlformats.org/officeDocument/2006/relationships/slide" Target="slides/slide30.xml"/><Relationship Id="rId55" Type="http://schemas.openxmlformats.org/officeDocument/2006/relationships/slide" Target="slides/slide31.xml"/><Relationship Id="rId56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" name="Google Shape;1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18" name="Google Shape;1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project sources: final_technical_report.md and final.pdf. E0 frozen; E1 last residual block; E2 last block plus embedding head. Saved pooled results are authoritative. See References &amp; Reproduction for citations. Dataset comparison is task-specific; it is not a claim of universal superiority.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master 1">
  <p:cSld name="Slide master 1">
    <p:bg>
      <p:bgPr>
        <a:solidFill>
          <a:srgbClr val="000000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2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drive.google.com/drive/u/1/folders/1XN55OGpozy5Rhbs5QRFMatlCMTAo8sPu" TargetMode="Externa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doi.org/10.1016/j.dib.2016.09.002" TargetMode="External"/><Relationship Id="rId3" Type="http://schemas.openxmlformats.org/officeDocument/2006/relationships/hyperlink" Target="https://doi.org/10.1109/ICoICT55009.2022.9914874" TargetMode="External"/><Relationship Id="rId4" Type="http://schemas.openxmlformats.org/officeDocument/2006/relationships/hyperlink" Target="https://doi.org/10.1109/SITIS57111.2022.00042" TargetMode="External"/><Relationship Id="rId5" Type="http://schemas.openxmlformats.org/officeDocument/2006/relationships/hyperlink" Target="https://openaccess.thecvf.com/content_CVPR_2019/html/Deng_ArcFace_Additive_Angular_Margin_Loss_for_Deep_Face_Recognition_CVPR_2019_paper.html" TargetMode="External"/><Relationship Id="rId6" Type="http://schemas.openxmlformats.org/officeDocument/2006/relationships/hyperlink" Target="https://openaccess.thecvf.com/content_CVPR_2020/html/Deng_RetinaFace_Single-Shot_Multi-Level_Face_Localisation_in_the_Wild_CVPR_2020_paper.html" TargetMode="External"/><Relationship Id="rId7" Type="http://schemas.openxmlformats.org/officeDocument/2006/relationships/hyperlink" Target="https://drive.google.com/drive/u/1/folders/1XN55OGpozy5Rhbs5QRFMatlCMTAo8sPu" TargetMode="External"/><Relationship Id="rId8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E1E1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" name="Google Shape;21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842" y="380181"/>
            <a:ext cx="3287241" cy="4383063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/>
          <p:nvPr/>
        </p:nvSpPr>
        <p:spPr>
          <a:xfrm>
            <a:off x="3925119" y="502920"/>
            <a:ext cx="4722763" cy="1252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B1B27"/>
              </a:buClr>
              <a:buSzPts val="2750"/>
              <a:buFont typeface="Raleway"/>
              <a:buNone/>
              <a:defRPr sz="2500">
                <a:solidFill>
                  <a:srgbClr val="1B1B27"/>
                </a:solidFill>
                <a:latin typeface="Raleway"/>
              </a:defRPr>
            </a:pPr>
            <a:r>
              <a:t>Occlusion-Robust Face Identification with Partially Fine-Tuned ArcFace</a:t>
            </a:r>
            <a:endParaRPr sz="2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3925119" y="1847088"/>
            <a:ext cx="4722763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C3939"/>
              </a:buClr>
              <a:buSzPts val="850"/>
              <a:buFont typeface="Roboto"/>
              <a:buNone/>
            </a:pPr>
            <a:r>
              <a:rPr lang="en-US" sz="900" b="0" i="0" u="none" strike="noStrike" cap="none" dirty="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Machine Learning Laboratory — CSE 4112</a:t>
            </a: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C3939"/>
              </a:buClr>
              <a:buSzPts val="850"/>
              <a:buFont typeface="Roboto"/>
              <a:buNone/>
            </a:pPr>
            <a:r>
              <a:rPr lang="en-US" sz="900" b="0" i="0" u="none" strike="noStrike" cap="none" dirty="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Department of Computer Science &amp; Engineering</a:t>
            </a: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C3939"/>
              </a:buClr>
              <a:buSzPts val="850"/>
              <a:buFont typeface="Roboto"/>
              <a:buNone/>
            </a:pPr>
            <a:r>
              <a:rPr lang="en-US" sz="900" b="0" i="0" u="none" strike="noStrike" cap="none" dirty="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Khulna University of Engineering &amp; Technology (KUET)</a:t>
            </a: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C3939"/>
              </a:buClr>
              <a:buSzPts val="850"/>
              <a:buFont typeface="Roboto"/>
              <a:buNone/>
            </a:pPr>
            <a:r>
              <a:rPr lang="en-US" sz="900" b="0" i="0" u="none" strike="noStrike" cap="none" dirty="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20 September 2026</a:t>
            </a: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 txBox="1"/>
          <p:nvPr/>
        </p:nvSpPr>
        <p:spPr>
          <a:xfrm>
            <a:off x="7952075" y="4762500"/>
            <a:ext cx="1191900" cy="381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922776" y="2907792"/>
            <a:ext cx="4718304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03C80"/>
                </a:solidFill>
                <a:latin typeface="Arimo"/>
              </a:defRPr>
            </a:pPr>
            <a:r>
              <a:t>Team members (rolls)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41063" y="3328416"/>
            <a:ext cx="4663440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2107031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41063" y="3557016"/>
            <a:ext cx="4663440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2107044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41063" y="3785616"/>
            <a:ext cx="4663440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2107046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41063" y="4014216"/>
            <a:ext cx="4663440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2107047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41063" y="4242816"/>
            <a:ext cx="4663440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2107057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41063" y="4471416"/>
            <a:ext cx="4663440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2107059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Does occlusion robustness transfer to identities never seen during fine-tuning?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261872"/>
            <a:ext cx="3931920" cy="2660904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80743"/>
            <a:ext cx="3639312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The task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65376"/>
            <a:ext cx="3639312" cy="20116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Identify an enrolled person from an occluded face.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Compare three adaptation scopes using the same gallery and decision threshold.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A correct label below the threshold is still a rejection.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61872"/>
            <a:ext cx="4032504" cy="2660904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64024" y="1380743"/>
            <a:ext cx="3739896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The experiment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1865376"/>
            <a:ext cx="3739896" cy="20116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E0 · Frozen pretrained ArcFace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E1 · Fine-tune the final residual block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E2 · Fine-tune the block + embedding head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20 train / 5 validation / 5 test identities per fold.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4261104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34256"/>
            <a:ext cx="7863840" cy="3017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Person-disjoint fine-tuning evaluation; all 30 identities remain enrolled in the gallery.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Dataset &amp; Occlusion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In-person capture, signed consent, pseudonymous identities p01–p30.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207008"/>
            <a:ext cx="1920240" cy="1225296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53312"/>
            <a:ext cx="1773936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03C80"/>
                </a:solidFill>
                <a:latin typeface="Arimo"/>
              </a:defRPr>
            </a:pPr>
            <a: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37943"/>
            <a:ext cx="1773936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B1B27"/>
                </a:solidFill>
                <a:latin typeface="Arimo"/>
              </a:defRPr>
            </a:pPr>
            <a:r>
              <a:t>Identities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2167128"/>
            <a:ext cx="18288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566174"/>
                </a:solidFill>
                <a:latin typeface="Arimo"/>
              </a:defRPr>
            </a:pPr>
            <a:r>
              <a:t>6 collectors × 5 people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207008"/>
            <a:ext cx="1920240" cy="1225296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3472" y="1353312"/>
            <a:ext cx="1773936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03C80"/>
                </a:solidFill>
                <a:latin typeface="Arimo"/>
              </a:defRPr>
            </a:pPr>
            <a:r>
              <a:t>6,000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1837943"/>
            <a:ext cx="1773936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B1B27"/>
                </a:solidFill>
                <a:latin typeface="Arimo"/>
              </a:defRPr>
            </a:pPr>
            <a:r>
              <a:t>Raw images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39" y="2167128"/>
            <a:ext cx="18288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566174"/>
                </a:solidFill>
                <a:latin typeface="Arimo"/>
              </a:defRPr>
            </a:pPr>
            <a:r>
              <a:t>200 per person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26864" y="1207008"/>
            <a:ext cx="1920240" cy="1225296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1353312"/>
            <a:ext cx="1773936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03C80"/>
                </a:solidFill>
                <a:latin typeface="Arimo"/>
              </a:defRPr>
            </a:pPr>
            <a:r>
              <a:t>5,988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6" y="1837943"/>
            <a:ext cx="1773936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B1B27"/>
                </a:solidFill>
                <a:latin typeface="Arimo"/>
              </a:defRPr>
            </a:pPr>
            <a:r>
              <a:t>Aligned crops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3" y="2167128"/>
            <a:ext cx="18288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566174"/>
                </a:solidFill>
                <a:latin typeface="Arimo"/>
              </a:defRPr>
            </a:pPr>
            <a:r>
              <a:t>99.8% detection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93408" y="1207008"/>
            <a:ext cx="1920240" cy="1225296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1353312"/>
            <a:ext cx="1773936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03C80"/>
                </a:solidFill>
                <a:latin typeface="Arimo"/>
              </a:defRPr>
            </a:pPr>
            <a:r>
              <a:t>8 ×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837943"/>
            <a:ext cx="1773936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B1B27"/>
                </a:solidFill>
                <a:latin typeface="Arimo"/>
              </a:defRPr>
            </a:pPr>
            <a:r>
              <a:t>Conditions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9128" y="2167128"/>
            <a:ext cx="18288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566174"/>
                </a:solidFill>
                <a:latin typeface="Arimo"/>
              </a:defRPr>
            </a:pPr>
            <a:r>
              <a:t>occlusion × lighting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" y="2642616"/>
            <a:ext cx="3931920" cy="1463040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761488"/>
            <a:ext cx="3639312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Capture protocol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246120"/>
            <a:ext cx="3639312" cy="8138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Phone-camera collection in regular and low light. Single-sitting capture; indoor conditions.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2642616"/>
            <a:ext cx="4032504" cy="1463040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4024" y="2761488"/>
            <a:ext cx="3739896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Evaluation pool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4024" y="3246120"/>
            <a:ext cx="3739896" cy="8138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5,818 queries after 170 gallery / near-burst exclusions. Fixed gallery: 30 identities.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352544"/>
            <a:ext cx="80924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03C80"/>
                </a:solidFill>
                <a:latin typeface="Arimo"/>
              </a:defRPr>
            </a:pPr>
            <a:r>
              <a:rPr>
                <a:hlinkClick r:id="rId2"/>
              </a:rPr>
              <a:t>Dataset folder · consent and access restrictions still apply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Eight Occlusion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Representative participant images reused from the previous presentation.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03</a:t>
            </a:r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93776" y="1097280"/>
            <a:ext cx="1911095" cy="1380744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575864" y="1097280"/>
            <a:ext cx="1911095" cy="1380744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657953" y="1097280"/>
            <a:ext cx="1911095" cy="1380744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740042" y="1097280"/>
            <a:ext cx="1911095" cy="1380744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93776" y="2935224"/>
            <a:ext cx="1911095" cy="1380744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2575864" y="2935224"/>
            <a:ext cx="1911095" cy="1380744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4657953" y="2935224"/>
            <a:ext cx="1911095" cy="1380744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740042" y="2935224"/>
            <a:ext cx="1911095" cy="1380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3776" y="2478024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93776" y="2478024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None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5864" y="2478024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2575864" y="2478024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Cap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7953" y="2478024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4657953" y="2478024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Clear glasses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0042" y="2478024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740042" y="2478024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Sunglasses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4315968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493776" y="4315968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Scarf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75864" y="4315968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2575864" y="4315968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Mask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57953" y="4315968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4657953" y="4315968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Mask + clear glasses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0042" y="4315968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740042" y="4315968"/>
            <a:ext cx="1911095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1B1B27"/>
                </a:solidFill>
                <a:latin typeface="Arimo"/>
              </a:defRPr>
            </a:pPr>
            <a:r>
              <a:t>Mask + sunglasses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Why This Dataset?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Pgu-Face is the base dataset paper—not a directly comparable recognition benchmark.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1234440"/>
            <a:ext cx="1874519" cy="475488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728216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1">
                <a:solidFill>
                  <a:srgbClr val="FFFFFF"/>
                </a:solidFill>
                <a:latin typeface="Arimo"/>
              </a:defRPr>
            </a:pPr>
            <a:r>
              <a:t>Property</a:t>
            </a:r>
          </a:p>
        </p:txBody>
      </p:sp>
      <p:sp>
        <p:nvSpPr>
          <p:cNvPr id="9" name="Rectangle 8"/>
          <p:cNvSpPr/>
          <p:nvPr/>
        </p:nvSpPr>
        <p:spPr>
          <a:xfrm>
            <a:off x="2368296" y="1234440"/>
            <a:ext cx="2788920" cy="475488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41448" y="1325880"/>
            <a:ext cx="2642615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1">
                <a:solidFill>
                  <a:srgbClr val="FFFFFF"/>
                </a:solidFill>
                <a:latin typeface="Arimo"/>
              </a:defRPr>
            </a:pPr>
            <a:r>
              <a:t>Pgu-Face (2016)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7216" y="1234440"/>
            <a:ext cx="3493008" cy="475488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30368" y="1325880"/>
            <a:ext cx="3346703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1">
                <a:solidFill>
                  <a:srgbClr val="FFFFFF"/>
                </a:solidFill>
                <a:latin typeface="Arimo"/>
              </a:defRPr>
            </a:pPr>
            <a:r>
              <a:t>Our dataset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1709928"/>
            <a:ext cx="1874519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01368"/>
            <a:ext cx="1728216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Participants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68296" y="1709928"/>
            <a:ext cx="2788920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1801368"/>
            <a:ext cx="2642615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224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216" y="1709928"/>
            <a:ext cx="3493008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0368" y="1801368"/>
            <a:ext cx="3346703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2185416"/>
            <a:ext cx="1874519" cy="475488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276856"/>
            <a:ext cx="1728216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Images / person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68296" y="2185416"/>
            <a:ext cx="2788920" cy="475488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41448" y="2276856"/>
            <a:ext cx="2642615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4 (896 total)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57216" y="2185416"/>
            <a:ext cx="3493008" cy="475488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0368" y="2276856"/>
            <a:ext cx="3346703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200 raw (6,000 total)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" y="2660904"/>
            <a:ext cx="1874519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752344"/>
            <a:ext cx="1728216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Covering variation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68296" y="2660904"/>
            <a:ext cx="2788920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41448" y="2752344"/>
            <a:ext cx="2642615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Facial hair + sunglasses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57216" y="2660904"/>
            <a:ext cx="3493008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30368" y="2752344"/>
            <a:ext cx="3346703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8 types, including compound masks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" y="3136392"/>
            <a:ext cx="1874519" cy="475488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227832"/>
            <a:ext cx="1728216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Capture conditions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68296" y="3136392"/>
            <a:ext cx="2788920" cy="475488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41448" y="3227832"/>
            <a:ext cx="2642615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Up to 2 sessions, ≥6 days apart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57216" y="3136392"/>
            <a:ext cx="3493008" cy="475488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30368" y="3227832"/>
            <a:ext cx="3346703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Regular + low light; one sitting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3776" y="3611880"/>
            <a:ext cx="1874519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3703320"/>
            <a:ext cx="1728216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Evaluation artifacts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68296" y="3611880"/>
            <a:ext cx="2788920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41448" y="3703320"/>
            <a:ext cx="2642615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Partially covered-face collection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57216" y="3611880"/>
            <a:ext cx="3493008" cy="475488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30368" y="3703320"/>
            <a:ext cx="3346703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112 × 112 crops, labels, six-fold split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3776" y="4251960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4325112"/>
            <a:ext cx="7863840" cy="3017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More within-person variation and coverings; fewer identities and no across-session evaluation.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Different—and Better for This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Broader occlusion stress testing, rather than a claim of universally better data.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261872"/>
            <a:ext cx="3931920" cy="277063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80743"/>
            <a:ext cx="3639312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What the new data enables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65376"/>
            <a:ext cx="3639312" cy="21214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~6.7× as many raw images overall.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50× as many captures per identity.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Mask + glasses combinations probe severe, compound occlusion.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Two light levels and condition labels support targeted error analysis.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61872"/>
            <a:ext cx="4032504" cy="277063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64024" y="1380743"/>
            <a:ext cx="3739896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What Pgu-Face still offers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1865376"/>
            <a:ext cx="3739896" cy="21214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224 identities versus our 30: greater identity diversity.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Separated capture sessions probe time-related change.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Different data and protocols mean published accuracies cannot be ranked directly.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4261104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34256"/>
            <a:ext cx="7863840" cy="3017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The advantage is alignment with our occlusion-transfer study—not broader population coverage.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Curation, Quality &amp;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Retain the documented dataset; disclose limitations rather than inventing cleanup counts.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261872"/>
            <a:ext cx="3931920" cy="272491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80743"/>
            <a:ext cx="3639312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Processing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65376"/>
            <a:ext cx="3639312" cy="20756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50" b="0">
                <a:solidFill>
                  <a:srgbClr val="1B1B27"/>
                </a:solidFill>
                <a:latin typeface="Arimo"/>
              </a:defRPr>
            </a:pPr>
            <a:r>
              <a:t>12 raw images failed detection.</a:t>
            </a:r>
          </a:p>
          <a:p>
            <a:pPr>
              <a:spcAft>
                <a:spcPts val="500"/>
              </a:spcAft>
              <a:defRPr sz="1350" b="0">
                <a:solidFill>
                  <a:srgbClr val="1B1B27"/>
                </a:solidFill>
                <a:latin typeface="Arimo"/>
              </a:defRPr>
            </a:pPr>
            <a:r>
              <a:t>5,988 crops: 3,050 regular / 2,938 low light.</a:t>
            </a:r>
          </a:p>
          <a:p>
            <a:pPr>
              <a:spcAft>
                <a:spcPts val="500"/>
              </a:spcAft>
              <a:defRPr sz="1350" b="0">
                <a:solidFill>
                  <a:srgbClr val="1B1B27"/>
                </a:solidFill>
                <a:latin typeface="Arimo"/>
              </a:defRPr>
            </a:pPr>
            <a:r>
              <a:t>429 duplicate MD5 occurrences retained, all within the same identity.</a:t>
            </a:r>
          </a:p>
          <a:p>
            <a:pPr>
              <a:spcAft>
                <a:spcPts val="500"/>
              </a:spcAft>
              <a:defRPr sz="1350" b="0">
                <a:solidFill>
                  <a:srgbClr val="1B1B27"/>
                </a:solidFill>
                <a:latin typeface="Arimo"/>
              </a:defRPr>
            </a:pPr>
            <a:r>
              <a:t>Person-disjoint folds keep a person’s copies together.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61872"/>
            <a:ext cx="4032504" cy="272491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64024" y="1380743"/>
            <a:ext cx="3739896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Coverage &amp; consent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1865376"/>
            <a:ext cx="3739896" cy="20756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50" b="0">
                <a:solidFill>
                  <a:srgbClr val="1B1B27"/>
                </a:solidFill>
                <a:latin typeface="Arimo"/>
              </a:defRPr>
            </a:pPr>
            <a:r>
              <a:t>Scarf coverage: 24 of 30 people; some other condition gaps.</a:t>
            </a:r>
          </a:p>
          <a:p>
            <a:pPr>
              <a:spcAft>
                <a:spcPts val="500"/>
              </a:spcAft>
              <a:defRPr sz="1350" b="0">
                <a:solidFill>
                  <a:srgbClr val="1B1B27"/>
                </a:solidFill>
                <a:latin typeface="Arimo"/>
              </a:defRPr>
            </a:pPr>
            <a:r>
              <a:t>A small, unflagged digitally added covering subset was reported previously.</a:t>
            </a:r>
          </a:p>
          <a:p>
            <a:pPr>
              <a:spcAft>
                <a:spcPts val="500"/>
              </a:spcAft>
              <a:defRPr sz="1350" b="0">
                <a:solidFill>
                  <a:srgbClr val="1B1B27"/>
                </a:solidFill>
                <a:latin typeface="Arimo"/>
              </a:defRPr>
            </a:pPr>
            <a:r>
              <a:t>Academic, non-commercial, withdrawable consent; faces are still identifiable.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4261104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34256"/>
            <a:ext cx="7863840" cy="3017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No claim of perfectly balanced coverage, fully natural coverings, or an unrestricted public license.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Detection Failures: Actual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Five documented rejected raw images: examples 1, 2, 5, 6 and 7 from the report.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07</a:t>
            </a:r>
          </a:p>
        </p:txBody>
      </p:sp>
      <p:pic>
        <p:nvPicPr>
          <p:cNvPr id="7" name="Picture 6" descr="retinaface_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680959" cy="2560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93776" y="4261104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34256"/>
            <a:ext cx="7863840" cy="3017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RetinaFace detects 5,988 of 6,000 raw images. These failures never enter the recognition evaluation.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Preprocessing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Frozen RetinaFace detection and landmark alignment produce the recognizer’s inputs.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08</a:t>
            </a:r>
          </a:p>
        </p:txBody>
      </p:sp>
      <p:sp>
        <p:nvSpPr>
          <p:cNvPr id="7" name="Diagram node: Raw photo"/>
          <p:cNvSpPr/>
          <p:nvPr/>
        </p:nvSpPr>
        <p:spPr>
          <a:xfrm>
            <a:off x="493776" y="1691640"/>
            <a:ext cx="1874519" cy="1234440"/>
          </a:xfrm>
          <a:prstGeom prst="roundRect">
            <a:avLst>
              <a:gd name="adj" fmla="val 7000"/>
            </a:avLst>
          </a:prstGeom>
          <a:solidFill>
            <a:srgbClr val="97ECF8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203C80"/>
                </a:solidFill>
                <a:latin typeface="Arimo"/>
              </a:defRPr>
            </a:pPr>
            <a:r>
              <a:t>Raw photo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67128"/>
            <a:ext cx="1764791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Read orientation</a:t>
            </a:r>
          </a:p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RGB image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68296" y="2313432"/>
            <a:ext cx="210312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5400000">
            <a:off x="2537460" y="227228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gram node: RetinaFace"/>
          <p:cNvSpPr/>
          <p:nvPr/>
        </p:nvSpPr>
        <p:spPr>
          <a:xfrm>
            <a:off x="2587752" y="1691640"/>
            <a:ext cx="1874519" cy="1234440"/>
          </a:xfrm>
          <a:prstGeom prst="roundRect">
            <a:avLst>
              <a:gd name="adj" fmla="val 7000"/>
            </a:avLst>
          </a:prstGeom>
          <a:solidFill>
            <a:srgbClr val="FFD0AC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42616" y="1783080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203C80"/>
                </a:solidFill>
                <a:latin typeface="Arimo"/>
              </a:defRPr>
            </a:pPr>
            <a:r>
              <a:t>RetinaFace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2616" y="2167128"/>
            <a:ext cx="1764791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Face box + score</a:t>
            </a:r>
          </a:p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5 landmarks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62272" y="2313432"/>
            <a:ext cx="210311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4631436" y="227228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gram node: Alignment"/>
          <p:cNvSpPr/>
          <p:nvPr/>
        </p:nvSpPr>
        <p:spPr>
          <a:xfrm>
            <a:off x="4681728" y="1691640"/>
            <a:ext cx="1874519" cy="1234440"/>
          </a:xfrm>
          <a:prstGeom prst="roundRect">
            <a:avLst>
              <a:gd name="adj" fmla="val 7000"/>
            </a:avLst>
          </a:prstGeom>
          <a:solidFill>
            <a:srgbClr val="FFD0AC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6592" y="1783080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203C80"/>
                </a:solidFill>
                <a:latin typeface="Arimo"/>
              </a:defRPr>
            </a:pPr>
            <a:r>
              <a:t>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2" y="2167128"/>
            <a:ext cx="1764791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Similarity transform</a:t>
            </a:r>
          </a:p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112 × 112 RGB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56248" y="2313432"/>
            <a:ext cx="210312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6725412" y="227228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gram node: Manifest"/>
          <p:cNvSpPr/>
          <p:nvPr/>
        </p:nvSpPr>
        <p:spPr>
          <a:xfrm>
            <a:off x="6775704" y="1691640"/>
            <a:ext cx="1874519" cy="1234440"/>
          </a:xfrm>
          <a:prstGeom prst="roundRect">
            <a:avLst>
              <a:gd name="adj" fmla="val 7000"/>
            </a:avLst>
          </a:prstGeom>
          <a:solidFill>
            <a:srgbClr val="A4FFA1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0568" y="1783080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203C80"/>
                </a:solidFill>
                <a:latin typeface="Arimo"/>
              </a:defRPr>
            </a:pPr>
            <a:r>
              <a:t>Manifest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2167128"/>
            <a:ext cx="1764791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Identity, covering, light</a:t>
            </a:r>
          </a:p>
          <a:p>
            <a:pPr algn="ctr"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Crop + quality fields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3337560"/>
            <a:ext cx="8156448" cy="832104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410712"/>
            <a:ext cx="7863840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03C80"/>
                </a:solidFill>
                <a:latin typeface="Arimo"/>
              </a:defRPr>
            </a:pPr>
            <a:r>
              <a:t>Recognition normalization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730752"/>
            <a:ext cx="7863840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(pixel − 127.5) / 127.5; channel-first tensor N × 3 × 112 × 112.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Person-Disjoint Six-Fold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Seed 42 · 20 train identities, 5 validation identities, 5 held-out test identities per fold.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09</a:t>
            </a:r>
          </a:p>
        </p:txBody>
      </p:sp>
      <p:pic>
        <p:nvPicPr>
          <p:cNvPr id="7" name="Picture 6" descr="fold_assig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315" y="1161288"/>
            <a:ext cx="6839368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471416"/>
            <a:ext cx="7955279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66174"/>
                </a:solidFill>
                <a:latin typeface="Arimo"/>
              </a:defRPr>
            </a:pPr>
            <a:r>
              <a:t>Every identity is tested once. Validation uses the next five-person block cyclically.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One Fixed Gallery, Fair Comparisons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Enrollment is not fine-tuning: held-out test identities have a gallery reference only.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261872"/>
            <a:ext cx="3931920" cy="2697480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80743"/>
            <a:ext cx="3639312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Build once with E0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65376"/>
            <a:ext cx="3639312" cy="20482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Choose the highest-detection-score “none” crop per identity.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Compute and L2-normalize its pretrained 512-D embedding.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Lock these 30 reference vectors across E0, E1, and E2.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61872"/>
            <a:ext cx="4032504" cy="2697480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64024" y="1380743"/>
            <a:ext cx="3739896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Prevent shortcut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1865376"/>
            <a:ext cx="3739896" cy="20482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Exclude gallery photos and near-burst queries (170 images total).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Fine-tuning uses only the 20 training identities’ fixed vectors.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Validation and testing match against all 30 gallery identities.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4261104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34256"/>
            <a:ext cx="7863840" cy="3017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5,818 pooled test queries. No held-out person contributes fine-tuning gradients.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Two Models, Two Distinct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Detector stays frozen. Only selected ArcFace recognition layers are adapted.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11</a:t>
            </a:r>
          </a:p>
        </p:txBody>
      </p:sp>
      <p:sp>
        <p:nvSpPr>
          <p:cNvPr id="7" name="Diagram node: 1 · RetinaFace"/>
          <p:cNvSpPr/>
          <p:nvPr/>
        </p:nvSpPr>
        <p:spPr>
          <a:xfrm>
            <a:off x="640080" y="1554480"/>
            <a:ext cx="3383280" cy="1645920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45920"/>
            <a:ext cx="3273552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03C80"/>
                </a:solidFill>
                <a:latin typeface="Arimo"/>
              </a:defRPr>
            </a:pPr>
            <a:r>
              <a:t>1 · RetinaFace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029967"/>
            <a:ext cx="3273552" cy="11430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Raw RGB → box, score, 5 landmarks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4,225,835 parameters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Detection and alignment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23360" y="2377440"/>
            <a:ext cx="868680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5400000">
            <a:off x="4850892" y="2336292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gram node: 2 · ArcFace / iResNet-50"/>
          <p:cNvSpPr/>
          <p:nvPr/>
        </p:nvSpPr>
        <p:spPr>
          <a:xfrm>
            <a:off x="4892040" y="1554480"/>
            <a:ext cx="3611880" cy="1645920"/>
          </a:xfrm>
          <a:prstGeom prst="roundRect">
            <a:avLst>
              <a:gd name="adj" fmla="val 7000"/>
            </a:avLst>
          </a:prstGeom>
          <a:solidFill>
            <a:srgbClr val="F4C5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46903" y="1645920"/>
            <a:ext cx="3502152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03C80"/>
                </a:solidFill>
                <a:latin typeface="Arimo"/>
              </a:defRPr>
            </a:pPr>
            <a:r>
              <a:t>2 · ArcFace / iResNet-50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46903" y="2029967"/>
            <a:ext cx="3502152" cy="11430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Aligned RGB → 512-D embedding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43,590,976 parameters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Fixed-gallery cosine identification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3977639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50791"/>
            <a:ext cx="7863840" cy="3017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The following diagrams reflect the exported model graphs used in the report.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RetinaFace: Actual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Frozen det_10g.onnx · typical detector input 1 × 3 × 640 × 640 RGB.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12</a:t>
            </a:r>
          </a:p>
        </p:txBody>
      </p:sp>
      <p:sp>
        <p:nvSpPr>
          <p:cNvPr id="7" name="Diagram node: Input RGB"/>
          <p:cNvSpPr/>
          <p:nvPr/>
        </p:nvSpPr>
        <p:spPr>
          <a:xfrm>
            <a:off x="493776" y="1993392"/>
            <a:ext cx="1097280" cy="1234440"/>
          </a:xfrm>
          <a:prstGeom prst="roundRect">
            <a:avLst>
              <a:gd name="adj" fmla="val 7000"/>
            </a:avLst>
          </a:prstGeom>
          <a:solidFill>
            <a:srgbClr val="97ECF8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987552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203C80"/>
                </a:solidFill>
                <a:latin typeface="Arimo"/>
              </a:defRPr>
            </a:pPr>
            <a:r>
              <a:t>Input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987552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1B1B27"/>
                </a:solidFill>
                <a:latin typeface="Arimo"/>
              </a:defRPr>
            </a:pPr>
            <a:r>
              <a:t>640 × 640</a:t>
            </a:r>
          </a:p>
          <a:p>
            <a:pPr algn="ctr">
              <a:spcAft>
                <a:spcPts val="500"/>
              </a:spcAft>
              <a:defRPr sz="1000" b="0">
                <a:solidFill>
                  <a:srgbClr val="1B1B27"/>
                </a:solidFill>
                <a:latin typeface="Arimo"/>
              </a:defRPr>
            </a:pPr>
            <a:r>
              <a:t>Dynamic H, W</a:t>
            </a:r>
          </a:p>
        </p:txBody>
      </p:sp>
      <p:sp>
        <p:nvSpPr>
          <p:cNvPr id="10" name="Diagram node: Backbone"/>
          <p:cNvSpPr/>
          <p:nvPr/>
        </p:nvSpPr>
        <p:spPr>
          <a:xfrm>
            <a:off x="1819656" y="1993392"/>
            <a:ext cx="1234440" cy="1234440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2084832"/>
            <a:ext cx="1124712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203C80"/>
                </a:solidFill>
                <a:latin typeface="Arimo"/>
              </a:defRPr>
            </a:pPr>
            <a:r>
              <a:t>Backbone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68880"/>
            <a:ext cx="1124712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1B1B27"/>
                </a:solidFill>
                <a:latin typeface="Arimo"/>
              </a:defRPr>
            </a:pPr>
            <a:r>
              <a:t>Convolutional</a:t>
            </a:r>
          </a:p>
          <a:p>
            <a:pPr algn="ctr">
              <a:spcAft>
                <a:spcPts val="500"/>
              </a:spcAft>
              <a:defRPr sz="1000" b="0">
                <a:solidFill>
                  <a:srgbClr val="1B1B27"/>
                </a:solidFill>
                <a:latin typeface="Arimo"/>
              </a:defRPr>
            </a:pPr>
            <a:r>
              <a:t>features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91056" y="2606040"/>
            <a:ext cx="228600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1778508" y="2564892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gram node: 3-level FPN"/>
          <p:cNvSpPr/>
          <p:nvPr/>
        </p:nvSpPr>
        <p:spPr>
          <a:xfrm>
            <a:off x="3282696" y="1993392"/>
            <a:ext cx="1188720" cy="1234440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2084832"/>
            <a:ext cx="1078992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203C80"/>
                </a:solidFill>
                <a:latin typeface="Arimo"/>
              </a:defRPr>
            </a:pPr>
            <a:r>
              <a:t>3-level FPN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468880"/>
            <a:ext cx="1078992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1B1B27"/>
                </a:solidFill>
                <a:latin typeface="Arimo"/>
              </a:defRPr>
            </a:pPr>
            <a:r>
              <a:t>Multi-scale</a:t>
            </a:r>
          </a:p>
          <a:p>
            <a:pPr algn="ctr">
              <a:spcAft>
                <a:spcPts val="500"/>
              </a:spcAft>
              <a:defRPr sz="1000" b="0">
                <a:solidFill>
                  <a:srgbClr val="1B1B27"/>
                </a:solidFill>
                <a:latin typeface="Arimo"/>
              </a:defRPr>
            </a:pPr>
            <a:r>
              <a:t>fusion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54096" y="2606040"/>
            <a:ext cx="228600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3241548" y="2564892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471416" y="2606040"/>
            <a:ext cx="118872" cy="0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90288" y="1719072"/>
            <a:ext cx="0" cy="1975104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gram node: P3 · stride 8"/>
          <p:cNvSpPr/>
          <p:nvPr/>
        </p:nvSpPr>
        <p:spPr>
          <a:xfrm>
            <a:off x="4700016" y="1280160"/>
            <a:ext cx="1737360" cy="877824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1344168"/>
            <a:ext cx="1627632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P3 · stride 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1618488"/>
            <a:ext cx="1627632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80 × 80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90288" y="1719072"/>
            <a:ext cx="109728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4658868" y="167792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437376" y="1719072"/>
            <a:ext cx="256032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652260" y="167792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gram node: P3 · stride 8 outputs"/>
          <p:cNvSpPr/>
          <p:nvPr/>
        </p:nvSpPr>
        <p:spPr>
          <a:xfrm>
            <a:off x="6693408" y="1280160"/>
            <a:ext cx="1956816" cy="877824"/>
          </a:xfrm>
          <a:prstGeom prst="roundRect">
            <a:avLst>
              <a:gd name="adj" fmla="val 7000"/>
            </a:avLst>
          </a:prstGeom>
          <a:solidFill>
            <a:srgbClr val="A4FFA1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48272" y="1362456"/>
            <a:ext cx="1847088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Scores: 12800 × 1</a:t>
            </a:r>
          </a:p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Boxes: 12800 × 4</a:t>
            </a:r>
          </a:p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Landmarks: 12800 × 10</a:t>
            </a:r>
          </a:p>
        </p:txBody>
      </p:sp>
      <p:sp>
        <p:nvSpPr>
          <p:cNvPr id="31" name="Diagram node: P4 · stride 16"/>
          <p:cNvSpPr/>
          <p:nvPr/>
        </p:nvSpPr>
        <p:spPr>
          <a:xfrm>
            <a:off x="4700016" y="2267712"/>
            <a:ext cx="1737360" cy="877824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0" y="2331720"/>
            <a:ext cx="1627632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P4 · stride 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2606040"/>
            <a:ext cx="1627632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40 × 40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590288" y="2706624"/>
            <a:ext cx="109728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5400000">
            <a:off x="4658868" y="2665476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6437376" y="2706624"/>
            <a:ext cx="256032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6652260" y="2665476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gram node: P4 · stride 16 outputs"/>
          <p:cNvSpPr/>
          <p:nvPr/>
        </p:nvSpPr>
        <p:spPr>
          <a:xfrm>
            <a:off x="6693408" y="2267712"/>
            <a:ext cx="1956816" cy="877824"/>
          </a:xfrm>
          <a:prstGeom prst="roundRect">
            <a:avLst>
              <a:gd name="adj" fmla="val 7000"/>
            </a:avLst>
          </a:prstGeom>
          <a:solidFill>
            <a:srgbClr val="A4FFA1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48272" y="2350008"/>
            <a:ext cx="1847088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Scores: 3200 × 1</a:t>
            </a:r>
          </a:p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Boxes: 3200 × 4</a:t>
            </a:r>
          </a:p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Landmarks: 3200 × 10</a:t>
            </a:r>
          </a:p>
        </p:txBody>
      </p:sp>
      <p:sp>
        <p:nvSpPr>
          <p:cNvPr id="40" name="Diagram node: P5 · stride 32"/>
          <p:cNvSpPr/>
          <p:nvPr/>
        </p:nvSpPr>
        <p:spPr>
          <a:xfrm>
            <a:off x="4700016" y="3255264"/>
            <a:ext cx="1737360" cy="877824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0" y="3319272"/>
            <a:ext cx="1627632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P5 · stride 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3593592"/>
            <a:ext cx="1627632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20 × 20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590288" y="3694176"/>
            <a:ext cx="109728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4658868" y="3653028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6437376" y="3694176"/>
            <a:ext cx="256032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Isosceles Triangle 45"/>
          <p:cNvSpPr/>
          <p:nvPr/>
        </p:nvSpPr>
        <p:spPr>
          <a:xfrm rot="5400000">
            <a:off x="6652260" y="3653028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iagram node: P5 · stride 32 outputs"/>
          <p:cNvSpPr/>
          <p:nvPr/>
        </p:nvSpPr>
        <p:spPr>
          <a:xfrm>
            <a:off x="6693408" y="3255264"/>
            <a:ext cx="1956816" cy="877824"/>
          </a:xfrm>
          <a:prstGeom prst="roundRect">
            <a:avLst>
              <a:gd name="adj" fmla="val 7000"/>
            </a:avLst>
          </a:prstGeom>
          <a:solidFill>
            <a:srgbClr val="A4FFA1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48272" y="3337560"/>
            <a:ext cx="1847088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Scores: 800 × 1</a:t>
            </a:r>
          </a:p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Boxes: 800 × 4</a:t>
            </a:r>
          </a:p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Landmarks: 800 × 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1024128"/>
            <a:ext cx="1993392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203C80"/>
                </a:solidFill>
                <a:latin typeface="Arimo"/>
              </a:defRPr>
            </a:pPr>
            <a:r>
              <a:t>OUTPUT TENSORS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3630168"/>
            <a:ext cx="3977639" cy="5577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Nine output tensors per image:</a:t>
            </a:r>
          </a:p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scores, boxes and landmarks at each level.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3776" y="4315968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389120"/>
            <a:ext cx="7863840" cy="3017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Outputs → box decoding / filtering → 5-landmark alignment → 112 × 112 RGB crop.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ArcFace: Actual iResNet-50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w600k_r50.onnx · 24 residual blocks; block internals intentionally omitted.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13</a:t>
            </a:r>
          </a:p>
        </p:txBody>
      </p:sp>
      <p:sp>
        <p:nvSpPr>
          <p:cNvPr id="7" name="Diagram node: Input RGB"/>
          <p:cNvSpPr/>
          <p:nvPr/>
        </p:nvSpPr>
        <p:spPr>
          <a:xfrm>
            <a:off x="493776" y="1325880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97ECF8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Input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1764791" cy="59435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N × 3 × 112 × 112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68296" y="1874519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5400000">
            <a:off x="2546604" y="1833372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gram node: Stem"/>
          <p:cNvSpPr/>
          <p:nvPr/>
        </p:nvSpPr>
        <p:spPr>
          <a:xfrm>
            <a:off x="2587752" y="1325880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42616" y="1417320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2616" y="1801368"/>
            <a:ext cx="1764791" cy="59435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Convolution + PReLU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62272" y="1874519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4640580" y="1833372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gram node: Stage 1"/>
          <p:cNvSpPr/>
          <p:nvPr/>
        </p:nvSpPr>
        <p:spPr>
          <a:xfrm>
            <a:off x="4681728" y="1325880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6592" y="1417320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Stage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2" y="1801368"/>
            <a:ext cx="1764791" cy="59435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3 residual blocks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56248" y="1874519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6734556" y="1833372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gram node: Stage 2"/>
          <p:cNvSpPr/>
          <p:nvPr/>
        </p:nvSpPr>
        <p:spPr>
          <a:xfrm>
            <a:off x="6775704" y="1325880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0568" y="1417320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Stage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1801368"/>
            <a:ext cx="1764791" cy="59435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4 residual blocks</a:t>
            </a:r>
          </a:p>
        </p:txBody>
      </p:sp>
      <p:sp>
        <p:nvSpPr>
          <p:cNvPr id="25" name="Diagram node: Stage 3"/>
          <p:cNvSpPr/>
          <p:nvPr/>
        </p:nvSpPr>
        <p:spPr>
          <a:xfrm>
            <a:off x="493776" y="2999232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090672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Stage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474720"/>
            <a:ext cx="1764791" cy="59435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14 residual blocks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368296" y="3547872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5400000">
            <a:off x="2546604" y="350672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gram node: Stage 4"/>
          <p:cNvSpPr/>
          <p:nvPr/>
        </p:nvSpPr>
        <p:spPr>
          <a:xfrm>
            <a:off x="2587752" y="2999232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F4C5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42616" y="3090672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Stage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42616" y="3474720"/>
            <a:ext cx="1764791" cy="59435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3 residual blocks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Last block: layer4.2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462272" y="3547872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5400000">
            <a:off x="4640580" y="350672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gram node: Embedding head"/>
          <p:cNvSpPr/>
          <p:nvPr/>
        </p:nvSpPr>
        <p:spPr>
          <a:xfrm>
            <a:off x="4681728" y="2999232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F4C5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36592" y="3090672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Embedding head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36592" y="3474720"/>
            <a:ext cx="1764791" cy="59435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BN → flatten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FC → final BN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56248" y="3547872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/>
          <p:cNvSpPr/>
          <p:nvPr/>
        </p:nvSpPr>
        <p:spPr>
          <a:xfrm rot="5400000">
            <a:off x="6734556" y="350672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gram node: Output embedding"/>
          <p:cNvSpPr/>
          <p:nvPr/>
        </p:nvSpPr>
        <p:spPr>
          <a:xfrm>
            <a:off x="6775704" y="2999232"/>
            <a:ext cx="1874519" cy="1097280"/>
          </a:xfrm>
          <a:prstGeom prst="roundRect">
            <a:avLst>
              <a:gd name="adj" fmla="val 7000"/>
            </a:avLst>
          </a:prstGeom>
          <a:solidFill>
            <a:srgbClr val="A4FFA1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30568" y="3090672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Output embedding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0568" y="3474720"/>
            <a:ext cx="1764791" cy="59435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N × 512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External L2 normalization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717536" y="2423160"/>
            <a:ext cx="0" cy="301752"/>
          </a:xfrm>
          <a:prstGeom prst="line">
            <a:avLst/>
          </a:prstGeom>
          <a:ln w="1524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435608" y="2724912"/>
            <a:ext cx="6281928" cy="0"/>
          </a:xfrm>
          <a:prstGeom prst="line">
            <a:avLst/>
          </a:prstGeom>
          <a:ln w="1524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435608" y="2724912"/>
            <a:ext cx="0" cy="274320"/>
          </a:xfrm>
          <a:prstGeom prst="line">
            <a:avLst/>
          </a:prstGeom>
          <a:ln w="1524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435608" y="2843784"/>
            <a:ext cx="0" cy="155448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10800000">
            <a:off x="1394460" y="2958084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3776" y="4261104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334256"/>
            <a:ext cx="7863840" cy="3017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E1: final block of stage 4 (layer4.2). E2: that block + embedding head. Earlier layers stay frozen.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E0 / E1 / E2: What Changes?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The reference vectors and evaluation rule are identical; the trainable scope changes.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1234440"/>
            <a:ext cx="1920240" cy="603504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773936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Experiment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016" y="1234440"/>
            <a:ext cx="3995928" cy="603504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7168" y="1325880"/>
            <a:ext cx="3849624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Trainable layers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9944" y="1234440"/>
            <a:ext cx="2240280" cy="603504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325880"/>
            <a:ext cx="2093976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Trainable parameters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1837944"/>
            <a:ext cx="1920240" cy="60350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29384"/>
            <a:ext cx="1773936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E0 · pretrained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14016" y="1837944"/>
            <a:ext cx="3995928" cy="60350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87168" y="1929384"/>
            <a:ext cx="3849624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None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9944" y="1837944"/>
            <a:ext cx="2240280" cy="60350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929384"/>
            <a:ext cx="2093976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2441448"/>
            <a:ext cx="1920240" cy="60350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532888"/>
            <a:ext cx="1773936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E1 · block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14016" y="2441448"/>
            <a:ext cx="3995928" cy="60350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87168" y="2532888"/>
            <a:ext cx="3849624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Final stage-4 residual block (layer4.2)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9944" y="2441448"/>
            <a:ext cx="2240280" cy="60350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2532888"/>
            <a:ext cx="2093976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4,720,640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" y="3044952"/>
            <a:ext cx="1920240" cy="60350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136392"/>
            <a:ext cx="1773936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E2 · block + head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14016" y="3044952"/>
            <a:ext cx="3995928" cy="60350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87168" y="3136392"/>
            <a:ext cx="3849624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Same block + BN / FC / final BN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9944" y="3044952"/>
            <a:ext cx="2240280" cy="60350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136392"/>
            <a:ext cx="2093976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17,568,256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3794760"/>
            <a:ext cx="8156448" cy="80467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867912"/>
            <a:ext cx="7863840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03C80"/>
                </a:solidFill>
                <a:latin typeface="Arimo"/>
              </a:defRPr>
            </a:pPr>
            <a:r>
              <a:t>Important distinction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187952"/>
            <a:ext cx="786384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1B1B27"/>
                </a:solidFill>
                <a:latin typeface="Arimo"/>
              </a:defRPr>
            </a:pPr>
            <a:r>
              <a:t>The 20-vector training classifier is a fixed buffer—not a learned classification head.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20 training identities per fold; gradients affect only the selected E1 or E2 layers.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15</a:t>
            </a:r>
          </a:p>
        </p:txBody>
      </p:sp>
      <p:sp>
        <p:nvSpPr>
          <p:cNvPr id="7" name="Diagram node: Aligned crops"/>
          <p:cNvSpPr/>
          <p:nvPr/>
        </p:nvSpPr>
        <p:spPr>
          <a:xfrm>
            <a:off x="493776" y="1444752"/>
            <a:ext cx="1874519" cy="1298448"/>
          </a:xfrm>
          <a:prstGeom prst="roundRect">
            <a:avLst>
              <a:gd name="adj" fmla="val 7000"/>
            </a:avLst>
          </a:prstGeom>
          <a:solidFill>
            <a:srgbClr val="97ECF8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36192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Aligned crops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764791" cy="79552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Training identities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Augment + normalize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68296" y="2093976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5400000">
            <a:off x="2546604" y="2052828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gram node: ArcFace"/>
          <p:cNvSpPr/>
          <p:nvPr/>
        </p:nvSpPr>
        <p:spPr>
          <a:xfrm>
            <a:off x="2587752" y="1444752"/>
            <a:ext cx="1874519" cy="1298448"/>
          </a:xfrm>
          <a:prstGeom prst="roundRect">
            <a:avLst>
              <a:gd name="adj" fmla="val 7000"/>
            </a:avLst>
          </a:prstGeom>
          <a:solidFill>
            <a:srgbClr val="F4C5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42616" y="1536192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ArcFace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2616" y="1920240"/>
            <a:ext cx="1764791" cy="79552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Selected layers trainable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512-D L2 embeddings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62272" y="2093976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4640580" y="2052828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gram node: Cosine logits"/>
          <p:cNvSpPr/>
          <p:nvPr/>
        </p:nvSpPr>
        <p:spPr>
          <a:xfrm>
            <a:off x="4681728" y="1444752"/>
            <a:ext cx="1874519" cy="1298448"/>
          </a:xfrm>
          <a:prstGeom prst="roundRect">
            <a:avLst>
              <a:gd name="adj" fmla="val 7000"/>
            </a:avLst>
          </a:prstGeom>
          <a:solidFill>
            <a:srgbClr val="FFD0AC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6592" y="1536192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Cosine logits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2" y="1920240"/>
            <a:ext cx="1764791" cy="79552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20 locked E0 references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Angular margin + scale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56248" y="2093976"/>
            <a:ext cx="219456" cy="0"/>
          </a:xfrm>
          <a:prstGeom prst="line">
            <a:avLst/>
          </a:prstGeom>
          <a:ln w="19050">
            <a:solidFill>
              <a:srgbClr val="203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6734556" y="2052828"/>
            <a:ext cx="82296" cy="82296"/>
          </a:xfrm>
          <a:prstGeom prst="triangle">
            <a:avLst/>
          </a:prstGeom>
          <a:solidFill>
            <a:srgbClr val="203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gram node: Loss + update"/>
          <p:cNvSpPr/>
          <p:nvPr/>
        </p:nvSpPr>
        <p:spPr>
          <a:xfrm>
            <a:off x="6775704" y="1444752"/>
            <a:ext cx="1874519" cy="1298448"/>
          </a:xfrm>
          <a:prstGeom prst="roundRect">
            <a:avLst>
              <a:gd name="adj" fmla="val 7000"/>
            </a:avLst>
          </a:prstGeom>
          <a:solidFill>
            <a:srgbClr val="ACA7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0568" y="1536192"/>
            <a:ext cx="1764791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03C80"/>
                </a:solidFill>
                <a:latin typeface="Arimo"/>
              </a:defRPr>
            </a:pPr>
            <a:r>
              <a:t>Loss + update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1920240"/>
            <a:ext cx="1764791" cy="79552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Smoothed cross-entropy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AdamW on selected layers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3200400"/>
            <a:ext cx="3931920" cy="107899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273552"/>
            <a:ext cx="3639312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03C80"/>
                </a:solidFill>
                <a:latin typeface="Arimo"/>
              </a:defRPr>
            </a:pPr>
            <a:r>
              <a:t>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593592"/>
            <a:ext cx="3639312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1B1B27"/>
                </a:solidFill>
                <a:latin typeface="Arimo"/>
              </a:defRPr>
            </a:pPr>
            <a:r>
              <a:t>All 30 gallery vectors; select by validation accuracy, then confidence gap.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200400"/>
            <a:ext cx="4032504" cy="107899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64024" y="3273552"/>
            <a:ext cx="3739896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03C80"/>
                </a:solidFill>
                <a:latin typeface="Arimo"/>
              </a:defRPr>
            </a:pPr>
            <a:r>
              <a:t>Baseline is eligible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4024" y="3593592"/>
            <a:ext cx="3739896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1B1B27"/>
                </a:solidFill>
                <a:latin typeface="Arimo"/>
              </a:defRPr>
            </a:pPr>
            <a:r>
              <a:t>Epoch 0 is a candidate. E2 keeps E0 on folds 3, 4 and 5.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Training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Same optimization schedule and data protocol for both fine-tuned configurations.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1234440"/>
            <a:ext cx="2103120" cy="438912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956815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FFFFFF"/>
                </a:solidFill>
                <a:latin typeface="Arimo"/>
              </a:defRPr>
            </a:pPr>
            <a:r>
              <a:t>Setting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596896" y="1234440"/>
            <a:ext cx="6053328" cy="438912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0048" y="1325880"/>
            <a:ext cx="590702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FFFFFF"/>
                </a:solidFill>
                <a:latin typeface="Arimo"/>
              </a:defRPr>
            </a:pPr>
            <a:r>
              <a:t>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" y="1673352"/>
            <a:ext cx="2103120" cy="438912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764792"/>
            <a:ext cx="1956815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Optimizer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96896" y="1673352"/>
            <a:ext cx="6053328" cy="438912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0048" y="1764792"/>
            <a:ext cx="590702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AdamW · learning rate 3 × 10⁻⁵ · weight decay 10⁻⁴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2112264"/>
            <a:ext cx="2103120" cy="438912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203704"/>
            <a:ext cx="1956815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Schedule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96896" y="2112264"/>
            <a:ext cx="6053328" cy="438912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70048" y="2203704"/>
            <a:ext cx="590702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Cosine decay (Tmax = 20); maximum 20 epochs; patience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2551176"/>
            <a:ext cx="2103120" cy="438912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642616"/>
            <a:ext cx="1956815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Batch / seed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96896" y="2551176"/>
            <a:ext cx="6053328" cy="438912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70048" y="2642616"/>
            <a:ext cx="590702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Train 32 · evaluation 64 · random seed 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" y="2990088"/>
            <a:ext cx="2103120" cy="438912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081528"/>
            <a:ext cx="1956815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Classification loss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96896" y="2990088"/>
            <a:ext cx="6053328" cy="438912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70048" y="3081528"/>
            <a:ext cx="590702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Scale 32; label smoothing 0.1; fixed benchmark classifier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3776" y="3429000"/>
            <a:ext cx="2103120" cy="438912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520440"/>
            <a:ext cx="1956815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Angular margin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96896" y="3429000"/>
            <a:ext cx="6053328" cy="438912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70048" y="3520440"/>
            <a:ext cx="590702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0 for epochs 1–2; ramp to 0.20 over epochs 3–6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" y="3867912"/>
            <a:ext cx="2103120" cy="438912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959352"/>
            <a:ext cx="1956815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Batch normalization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96896" y="3867912"/>
            <a:ext cx="6053328" cy="438912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70048" y="3959352"/>
            <a:ext cx="590702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B1B27"/>
                </a:solidFill>
                <a:latin typeface="Arimo"/>
              </a:defRPr>
            </a:pPr>
            <a:r>
              <a:t>Running statistics stay frozen; selected affine terms may train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" y="4443984"/>
            <a:ext cx="8156448" cy="25603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517136"/>
            <a:ext cx="7863840" cy="1645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566174"/>
                </a:solidFill>
                <a:latin typeface="Arimo"/>
              </a:defRPr>
            </a:pPr>
            <a:r>
              <a:t>Augmentations: flip, down-up blur, Gaussian blur, noise, JPEG compression, brightness / contrast.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Inference &amp; Decision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Identical identification pipeline and acceptance threshold for all three configurations.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17</a:t>
            </a:r>
          </a:p>
        </p:txBody>
      </p:sp>
      <p:sp>
        <p:nvSpPr>
          <p:cNvPr id="7" name="Neutral inference panel: 1"/>
          <p:cNvSpPr/>
          <p:nvPr/>
        </p:nvSpPr>
        <p:spPr>
          <a:xfrm>
            <a:off x="329184" y="1197864"/>
            <a:ext cx="2761488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261872"/>
            <a:ext cx="393192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D32F2F"/>
                </a:solidFill>
                <a:latin typeface="Arimo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316736"/>
            <a:ext cx="210312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B1B27"/>
                </a:solidFill>
                <a:latin typeface="Arimo"/>
              </a:defRPr>
            </a:pPr>
            <a:r>
              <a:t>Face Detection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0623" y="1627632"/>
            <a:ext cx="2569465" cy="0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453895" y="1728216"/>
            <a:ext cx="1508760" cy="7955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RetinaFace returns a face box and five landmarks.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rcRect l="3900" t="29800" r="83700" b="54400"/>
          <a:stretch>
            <a:fillRect/>
          </a:stretch>
        </p:blipFill>
        <p:spPr>
          <a:xfrm>
            <a:off x="438912" y="1764792"/>
            <a:ext cx="905256" cy="7040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72384" y="1874519"/>
            <a:ext cx="182880" cy="3017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03C80"/>
                </a:solidFill>
                <a:latin typeface="Arimo"/>
              </a:defRPr>
            </a:pPr>
            <a:r>
              <a:t>›</a:t>
            </a:r>
          </a:p>
        </p:txBody>
      </p:sp>
      <p:sp>
        <p:nvSpPr>
          <p:cNvPr id="14" name="Neutral inference panel: 2"/>
          <p:cNvSpPr/>
          <p:nvPr/>
        </p:nvSpPr>
        <p:spPr>
          <a:xfrm>
            <a:off x="3182112" y="1197864"/>
            <a:ext cx="2761488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82696" y="1261872"/>
            <a:ext cx="393192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D32F2F"/>
                </a:solidFill>
                <a:latin typeface="Arimo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1316736"/>
            <a:ext cx="210312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B1B27"/>
                </a:solidFill>
                <a:latin typeface="Arimo"/>
              </a:defRPr>
            </a:pPr>
            <a:r>
              <a:t>Alignment &amp; Crop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73552" y="1627632"/>
            <a:ext cx="2569464" cy="0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06824" y="1728216"/>
            <a:ext cx="1508760" cy="7955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Five landmarks align the face to a 112 × 112 RGB crop.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rcRect l="77200" t="31300" r="16600" b="57500"/>
          <a:stretch>
            <a:fillRect/>
          </a:stretch>
        </p:blipFill>
        <p:spPr>
          <a:xfrm>
            <a:off x="3291840" y="1764792"/>
            <a:ext cx="704088" cy="7040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91840" y="2450592"/>
            <a:ext cx="731520" cy="14630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203C80"/>
                </a:solidFill>
                <a:latin typeface="Arimo"/>
              </a:defRPr>
            </a:pPr>
            <a:r>
              <a:t>112 × 112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25312" y="1874519"/>
            <a:ext cx="182880" cy="3017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03C80"/>
                </a:solidFill>
                <a:latin typeface="Arimo"/>
              </a:defRPr>
            </a:pPr>
            <a:r>
              <a:t>›</a:t>
            </a:r>
          </a:p>
        </p:txBody>
      </p:sp>
      <p:sp>
        <p:nvSpPr>
          <p:cNvPr id="22" name="Neutral inference panel: 3"/>
          <p:cNvSpPr/>
          <p:nvPr/>
        </p:nvSpPr>
        <p:spPr>
          <a:xfrm>
            <a:off x="6035040" y="1197864"/>
            <a:ext cx="2761488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35624" y="1261872"/>
            <a:ext cx="393192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D32F2F"/>
                </a:solidFill>
                <a:latin typeface="Arimo"/>
              </a:defRPr>
            </a:pPr>
            <a: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1968" y="1316736"/>
            <a:ext cx="210312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B1B27"/>
                </a:solidFill>
                <a:latin typeface="Arimo"/>
              </a:defRPr>
            </a:pPr>
            <a:r>
              <a:t>Feature Extraction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26480" y="1627632"/>
            <a:ext cx="2569464" cy="0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59752" y="1728216"/>
            <a:ext cx="1508760" cy="7955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E0 or fold-specific E1 / E2 ArcFace produces 512 features.</a:t>
            </a:r>
          </a:p>
        </p:txBody>
      </p:sp>
      <p:sp>
        <p:nvSpPr>
          <p:cNvPr id="27" name="Diagram node: ArcFace"/>
          <p:cNvSpPr/>
          <p:nvPr/>
        </p:nvSpPr>
        <p:spPr>
          <a:xfrm>
            <a:off x="6126480" y="1783080"/>
            <a:ext cx="950976" cy="649224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81344" y="1874520"/>
            <a:ext cx="841248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203C80"/>
                </a:solidFill>
                <a:latin typeface="Arimo"/>
              </a:defRPr>
            </a:pPr>
            <a:r>
              <a:t>ArcFace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1344" y="2258568"/>
            <a:ext cx="841248" cy="146303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1B1B27"/>
                </a:solidFill>
                <a:latin typeface="Arimo"/>
              </a:defRPr>
            </a:pPr>
            <a:r>
              <a:t>→ 512-D</a:t>
            </a:r>
          </a:p>
        </p:txBody>
      </p:sp>
      <p:sp>
        <p:nvSpPr>
          <p:cNvPr id="30" name="Neutral inference panel: 4"/>
          <p:cNvSpPr/>
          <p:nvPr/>
        </p:nvSpPr>
        <p:spPr>
          <a:xfrm>
            <a:off x="329184" y="2743200"/>
            <a:ext cx="2761488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9768" y="2807208"/>
            <a:ext cx="393192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D32F2F"/>
                </a:solidFill>
                <a:latin typeface="Arimo"/>
              </a:defRPr>
            </a:pPr>
            <a: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2862072"/>
            <a:ext cx="210312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B1B27"/>
                </a:solidFill>
                <a:latin typeface="Arimo"/>
              </a:defRPr>
            </a:pPr>
            <a:r>
              <a:t>L2 Normalization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20623" y="3172968"/>
            <a:ext cx="2569465" cy="0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53895" y="3273552"/>
            <a:ext cx="1508760" cy="7955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Normalize the embedding to unit length. No rolling buffer.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3" y="3447288"/>
            <a:ext cx="960120" cy="4663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203C80"/>
                </a:solidFill>
                <a:latin typeface="Arimo"/>
              </a:defRPr>
            </a:pPr>
            <a:r>
              <a:t>z / ‖z‖₂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72384" y="3419856"/>
            <a:ext cx="182880" cy="3017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03C80"/>
                </a:solidFill>
                <a:latin typeface="Arimo"/>
              </a:defRPr>
            </a:pPr>
            <a:r>
              <a:t>›</a:t>
            </a:r>
          </a:p>
        </p:txBody>
      </p:sp>
      <p:sp>
        <p:nvSpPr>
          <p:cNvPr id="37" name="Neutral inference panel: 5"/>
          <p:cNvSpPr/>
          <p:nvPr/>
        </p:nvSpPr>
        <p:spPr>
          <a:xfrm>
            <a:off x="3182112" y="2743200"/>
            <a:ext cx="2761488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82696" y="2807208"/>
            <a:ext cx="393192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D32F2F"/>
                </a:solidFill>
                <a:latin typeface="Arimo"/>
              </a:defRPr>
            </a:pPr>
            <a: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2862072"/>
            <a:ext cx="210312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B1B27"/>
                </a:solidFill>
                <a:latin typeface="Arimo"/>
              </a:defRPr>
            </a:pPr>
            <a:r>
              <a:t>Gallery Matching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273552" y="3172968"/>
            <a:ext cx="2569464" cy="0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306824" y="3273552"/>
            <a:ext cx="1508760" cy="7955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Compare with all 30 locked pretrained gallery vectors.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64408" y="3383280"/>
            <a:ext cx="987552" cy="6492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203C80"/>
                </a:solidFill>
                <a:latin typeface="Arimo"/>
              </a:defRPr>
            </a:pPr>
            <a:r>
              <a:t>512-D</a:t>
            </a:r>
          </a:p>
          <a:p>
            <a:pPr algn="ctr">
              <a:spcAft>
                <a:spcPts val="500"/>
              </a:spcAft>
              <a:defRPr sz="1100" b="1">
                <a:solidFill>
                  <a:srgbClr val="203C80"/>
                </a:solidFill>
                <a:latin typeface="Arimo"/>
              </a:defRPr>
            </a:pPr>
            <a:r>
              <a:t>×</a:t>
            </a:r>
          </a:p>
          <a:p>
            <a:pPr algn="ctr">
              <a:spcAft>
                <a:spcPts val="500"/>
              </a:spcAft>
              <a:defRPr sz="1100" b="1">
                <a:solidFill>
                  <a:srgbClr val="203C80"/>
                </a:solidFill>
                <a:latin typeface="Arimo"/>
              </a:defRPr>
            </a:pPr>
            <a:r>
              <a:t>30 vectors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25312" y="3419856"/>
            <a:ext cx="182880" cy="3017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03C80"/>
                </a:solidFill>
                <a:latin typeface="Arimo"/>
              </a:defRPr>
            </a:pPr>
            <a:r>
              <a:t>›</a:t>
            </a:r>
          </a:p>
        </p:txBody>
      </p:sp>
      <p:sp>
        <p:nvSpPr>
          <p:cNvPr id="44" name="Neutral inference panel: 6"/>
          <p:cNvSpPr/>
          <p:nvPr/>
        </p:nvSpPr>
        <p:spPr>
          <a:xfrm>
            <a:off x="6035040" y="2743200"/>
            <a:ext cx="2761488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35624" y="2807208"/>
            <a:ext cx="393192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D32F2F"/>
                </a:solidFill>
                <a:latin typeface="Arimo"/>
              </a:defRPr>
            </a:pPr>
            <a:r>
              <a:t>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862072"/>
            <a:ext cx="210312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B1B27"/>
                </a:solidFill>
                <a:latin typeface="Arimo"/>
              </a:defRPr>
            </a:pPr>
            <a:r>
              <a:t>Decision Rule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126480" y="3172968"/>
            <a:ext cx="2569464" cy="0"/>
          </a:xfrm>
          <a:prstGeom prst="line">
            <a:avLst/>
          </a:prstGeom>
          <a:ln w="15240">
            <a:solidFill>
              <a:srgbClr val="203C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159752" y="3273552"/>
            <a:ext cx="1508760" cy="7955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B1B27"/>
                </a:solidFill>
                <a:latin typeface="Arimo"/>
              </a:defRPr>
            </a:pPr>
            <a:r>
              <a:t>Choose the top identity if cosine ≥ 0.30; else UNKNOWN.</a:t>
            </a:r>
          </a:p>
        </p:txBody>
      </p:sp>
      <p:sp>
        <p:nvSpPr>
          <p:cNvPr id="49" name="Diagram node: IDENTITY"/>
          <p:cNvSpPr/>
          <p:nvPr/>
        </p:nvSpPr>
        <p:spPr>
          <a:xfrm>
            <a:off x="6126480" y="3337560"/>
            <a:ext cx="950976" cy="256032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35624" y="3374136"/>
            <a:ext cx="93268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900" b="1">
                <a:solidFill>
                  <a:srgbClr val="1B1B27"/>
                </a:solidFill>
                <a:latin typeface="Arimo"/>
              </a:defRPr>
            </a:pPr>
            <a:r>
              <a:t>IDENTITY</a:t>
            </a:r>
          </a:p>
        </p:txBody>
      </p:sp>
      <p:sp>
        <p:nvSpPr>
          <p:cNvPr id="51" name="Diagram node: UNKNOWN"/>
          <p:cNvSpPr/>
          <p:nvPr/>
        </p:nvSpPr>
        <p:spPr>
          <a:xfrm>
            <a:off x="6126480" y="3685032"/>
            <a:ext cx="950976" cy="256032"/>
          </a:xfrm>
          <a:prstGeom prst="roundRect">
            <a:avLst>
              <a:gd name="adj" fmla="val 7000"/>
            </a:avLst>
          </a:prstGeom>
          <a:solidFill>
            <a:srgbClr val="E0E0E0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35624" y="3721608"/>
            <a:ext cx="93268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900" b="1">
                <a:solidFill>
                  <a:srgbClr val="1B1B27"/>
                </a:solidFill>
                <a:latin typeface="Arimo"/>
              </a:defRPr>
            </a:pPr>
            <a:r>
              <a:t>UNKNOWN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4361688"/>
            <a:ext cx="8156448" cy="310896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434840"/>
            <a:ext cx="7863840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566174"/>
                </a:solidFill>
                <a:latin typeface="Arimo"/>
              </a:defRPr>
            </a:pPr>
            <a:r>
              <a:t>Correct = right identity AND cosine ≥ 0.30. All queries are enrolled people; UNKNOWN means rejection.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Main Results: Pooled Held-Out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5,818 queries across all six test folds; the report’s saved aggregate results.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1234440"/>
            <a:ext cx="1005840" cy="594360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859536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1499616" y="1234440"/>
            <a:ext cx="1508760" cy="594360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72768" y="1325880"/>
            <a:ext cx="1362456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08376" y="1234440"/>
            <a:ext cx="2057400" cy="594360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8" y="1325880"/>
            <a:ext cx="1911095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Macro precision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5776" y="1234440"/>
            <a:ext cx="1847088" cy="594360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8928" y="1325880"/>
            <a:ext cx="1700784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Macro recall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12864" y="1234440"/>
            <a:ext cx="1737360" cy="594360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1325880"/>
            <a:ext cx="1591056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Macro F1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" y="1828800"/>
            <a:ext cx="100584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920240"/>
            <a:ext cx="859536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E0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99616" y="1828800"/>
            <a:ext cx="150876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72768" y="1920240"/>
            <a:ext cx="1362456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84.98%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08376" y="1828800"/>
            <a:ext cx="205740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81528" y="1920240"/>
            <a:ext cx="1911095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100.00%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5776" y="1828800"/>
            <a:ext cx="1847088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8928" y="1920240"/>
            <a:ext cx="1700784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85.12%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12864" y="1828800"/>
            <a:ext cx="173736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86016" y="1920240"/>
            <a:ext cx="1591056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91.67%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3776" y="2423160"/>
            <a:ext cx="1005840" cy="594360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514600"/>
            <a:ext cx="859536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E1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99616" y="2423160"/>
            <a:ext cx="1508760" cy="594360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72768" y="2514600"/>
            <a:ext cx="1362456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86.18%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08376" y="2423160"/>
            <a:ext cx="2057400" cy="594360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2514600"/>
            <a:ext cx="1911095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99.72%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65776" y="2423160"/>
            <a:ext cx="1847088" cy="594360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38928" y="2514600"/>
            <a:ext cx="1700784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86.33%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12864" y="2423160"/>
            <a:ext cx="1737360" cy="594360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86016" y="2514600"/>
            <a:ext cx="1591056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92.15%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3776" y="3017520"/>
            <a:ext cx="100584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3108960"/>
            <a:ext cx="859536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E2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99616" y="3017520"/>
            <a:ext cx="150876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572768" y="3108960"/>
            <a:ext cx="1362456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84.72%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08376" y="3017520"/>
            <a:ext cx="205740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81528" y="3108960"/>
            <a:ext cx="1911095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96.43%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65776" y="3017520"/>
            <a:ext cx="1847088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38928" y="3108960"/>
            <a:ext cx="1700784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84.87%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12864" y="3017520"/>
            <a:ext cx="1737360" cy="594360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86016" y="3108960"/>
            <a:ext cx="1591056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89.85%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767328"/>
            <a:ext cx="8156448" cy="80467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3840480"/>
            <a:ext cx="7863840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03C80"/>
                </a:solidFill>
                <a:latin typeface="Arimo"/>
              </a:defRPr>
            </a:pPr>
            <a:r>
              <a:t>Best configuration: E1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1B1B27"/>
                </a:solidFill>
                <a:latin typeface="Arimo"/>
              </a:defRPr>
            </a:pPr>
            <a:r>
              <a:t>+1.20 percentage points over E0, with 4.72M trainable parameters. E2 is 0.26 points below E0.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Consistency Across Six Test Folds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E1 improves over E0 on every fold; E2 improves on only two test folds.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19</a:t>
            </a:r>
          </a:p>
        </p:txBody>
      </p:sp>
      <p:pic>
        <p:nvPicPr>
          <p:cNvPr id="7" name="Picture 6" descr="fold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194612"/>
            <a:ext cx="8156448" cy="335320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Where E1 Helps Most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The largest benefit is severe compound occlusion—not uniform improvement in every condition.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</a:t>
            </a:r>
          </a:p>
        </p:txBody>
      </p:sp>
      <p:pic>
        <p:nvPicPr>
          <p:cNvPr id="7" name="Picture 6" descr="condi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63" y="1124712"/>
            <a:ext cx="7740272" cy="318211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93776" y="4361688"/>
            <a:ext cx="8156448" cy="30175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7863840" cy="2103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566174"/>
                </a:solidFill>
                <a:latin typeface="Arimo"/>
              </a:defRPr>
            </a:pPr>
            <a:r>
              <a:t>Mask + sunglasses: 35.6% → 47.2% (+11.6 points). Scarf, mask, and clean-face results do not all improve.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Accuracy Alone Hides the 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Lower rejection can come with more accepted wrong identities.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1234440"/>
            <a:ext cx="3657600" cy="521207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3511296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Outcome (count)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51376" y="1234440"/>
            <a:ext cx="1499616" cy="521207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325880"/>
            <a:ext cx="1353312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E0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50992" y="1234440"/>
            <a:ext cx="1499616" cy="521207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24144" y="1325880"/>
            <a:ext cx="1353312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E1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7" y="1234440"/>
            <a:ext cx="1499616" cy="521207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59" y="1325880"/>
            <a:ext cx="1353312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rimo"/>
              </a:defRPr>
            </a:pPr>
            <a:r>
              <a:t>E2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1755648"/>
            <a:ext cx="3657600" cy="521207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47088"/>
            <a:ext cx="3511296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Accepted, correct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51376" y="1755648"/>
            <a:ext cx="1499616" cy="521207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24528" y="1847088"/>
            <a:ext cx="1353312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4,944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50992" y="1755648"/>
            <a:ext cx="1499616" cy="521207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24144" y="1847088"/>
            <a:ext cx="1353312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5,014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50607" y="1755648"/>
            <a:ext cx="1499616" cy="521207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59" y="1847088"/>
            <a:ext cx="1353312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4,929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" y="2276856"/>
            <a:ext cx="3657600" cy="521207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2368296"/>
            <a:ext cx="3511296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Rejected, correct argmax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51376" y="2276856"/>
            <a:ext cx="1499616" cy="521207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24528" y="2368296"/>
            <a:ext cx="1353312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727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50992" y="2276856"/>
            <a:ext cx="1499616" cy="521207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24144" y="2368296"/>
            <a:ext cx="1353312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493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0607" y="2276856"/>
            <a:ext cx="1499616" cy="521207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59" y="2368296"/>
            <a:ext cx="1353312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421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" y="2798064"/>
            <a:ext cx="3657600" cy="521207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889504"/>
            <a:ext cx="3511296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Rejected, wrong argmax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51376" y="2798064"/>
            <a:ext cx="1499616" cy="521207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4528" y="2889504"/>
            <a:ext cx="1353312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147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50992" y="2798064"/>
            <a:ext cx="1499616" cy="521207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24144" y="2889504"/>
            <a:ext cx="1353312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298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50607" y="2798064"/>
            <a:ext cx="1499616" cy="521207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3759" y="2889504"/>
            <a:ext cx="1353312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275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3776" y="3319272"/>
            <a:ext cx="3657600" cy="521207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3410712"/>
            <a:ext cx="3511296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Accepted, wrong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51376" y="3319272"/>
            <a:ext cx="1499616" cy="521207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24528" y="3410712"/>
            <a:ext cx="1353312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50992" y="3319272"/>
            <a:ext cx="1499616" cy="521207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24144" y="3410712"/>
            <a:ext cx="1353312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50607" y="3319272"/>
            <a:ext cx="1499616" cy="521207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23759" y="3410712"/>
            <a:ext cx="1353312" cy="41147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193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803904"/>
            <a:ext cx="8156448" cy="822960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3877056"/>
            <a:ext cx="7863840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03C80"/>
                </a:solidFill>
                <a:latin typeface="Arimo"/>
              </a:defRPr>
            </a:pPr>
            <a:r>
              <a:t>Interpretation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4197096"/>
            <a:ext cx="7863840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50" b="0">
                <a:solidFill>
                  <a:srgbClr val="1B1B27"/>
                </a:solidFill>
                <a:latin typeface="Arimo"/>
              </a:defRPr>
            </a:pPr>
            <a:r>
              <a:t>E2 accepts 193 wrong identities (3.32%), versus 13 (0.22%) for E1.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E1: Training &amp; Validation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Same axes: solid = training loss; dashed = validation loss; one colour per fold.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22</a:t>
            </a:r>
          </a:p>
        </p:txBody>
      </p:sp>
      <p:pic>
        <p:nvPicPr>
          <p:cNvPr id="7" name="Picture 6" descr="e1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124712"/>
            <a:ext cx="8115299" cy="32461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434840"/>
            <a:ext cx="7955279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566174"/>
                </a:solidFill>
                <a:latin typeface="Arimo"/>
              </a:defRPr>
            </a:pPr>
            <a:r>
              <a:t>Loss scales differ: training uses 20-class margin + smoothing; validation uses 30-class plain logits.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E2: Training &amp; Validation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Same axes: solid = training loss; dashed = validation loss; one colour per fold.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23</a:t>
            </a:r>
          </a:p>
        </p:txBody>
      </p:sp>
      <p:pic>
        <p:nvPicPr>
          <p:cNvPr id="7" name="Picture 6" descr="e2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124712"/>
            <a:ext cx="8115299" cy="32461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434840"/>
            <a:ext cx="7955279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566174"/>
                </a:solidFill>
                <a:latin typeface="Arimo"/>
              </a:defRPr>
            </a:pPr>
            <a:r>
              <a:t>Loss scales differ: training uses 20-class margin + smoothing; validation uses 30-class plain logits.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Why More Trainable Layers Did Not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The block-only update is the strongest transfer configuration in this experiment.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261872"/>
            <a:ext cx="3931920" cy="267919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80743"/>
            <a:ext cx="3639312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65376"/>
            <a:ext cx="3639312" cy="20299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E1: 86.18%, improvements in all six folds.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E2: 84.72%, 193 accepted wrong labels.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Validation retained epoch 0 in three E2 folds.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The embedding FC matrix alone has ~12.85M weights.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61872"/>
            <a:ext cx="4032504" cy="267919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64024" y="1380743"/>
            <a:ext cx="3739896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Interpretation—not proof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1865376"/>
            <a:ext cx="3739896" cy="20299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With only 20 training people, the larger update may adapt too strongly to them.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A fixed pretrained gallery may amplify embedding-space drift.</a:t>
            </a:r>
          </a:p>
          <a:p>
            <a:pPr>
              <a:spcAft>
                <a:spcPts val="500"/>
              </a:spcAft>
              <a:defRPr sz="1400" b="0">
                <a:solidFill>
                  <a:srgbClr val="1B1B27"/>
                </a:solidFill>
                <a:latin typeface="Arimo"/>
              </a:defRPr>
            </a:pPr>
            <a:r>
              <a:t>These explanations need dedicated ablations; the measured conclusion is narrower.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4261104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34256"/>
            <a:ext cx="7863840" cy="3017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Fine-tuning scope matters: increasing capacity does not guarantee better held-out identity transfer.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Related Work &amp;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Complementary precedents; their reported accuracies use different datasets and protocols.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1234440"/>
            <a:ext cx="1920240" cy="649224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773936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1">
                <a:solidFill>
                  <a:srgbClr val="FFFFFF"/>
                </a:solidFill>
                <a:latin typeface="Arimo"/>
              </a:defRPr>
            </a:pPr>
            <a:r>
              <a:t>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016" y="1234440"/>
            <a:ext cx="3063240" cy="649224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7168" y="1325880"/>
            <a:ext cx="2916936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1">
                <a:solidFill>
                  <a:srgbClr val="FFFFFF"/>
                </a:solidFill>
                <a:latin typeface="Arimo"/>
              </a:defRPr>
            </a:pPr>
            <a:r>
              <a:t>Contribution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77256" y="1234440"/>
            <a:ext cx="3172968" cy="649224"/>
          </a:xfrm>
          <a:prstGeom prst="rect">
            <a:avLst/>
          </a:prstGeom>
          <a:solidFill>
            <a:srgbClr val="1B2A54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0408" y="1325880"/>
            <a:ext cx="3026664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1">
                <a:solidFill>
                  <a:srgbClr val="FFFFFF"/>
                </a:solidFill>
                <a:latin typeface="Arimo"/>
              </a:defRPr>
            </a:pPr>
            <a:r>
              <a:t>Relation to our project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1883664"/>
            <a:ext cx="1920240" cy="64922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75104"/>
            <a:ext cx="1773936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Salari &amp; Rostami, 2016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14016" y="1883664"/>
            <a:ext cx="3063240" cy="64922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87168" y="1975104"/>
            <a:ext cx="2916936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Pgu-Face partially covered-face dataset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77256" y="1883664"/>
            <a:ext cx="3172968" cy="64922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0408" y="1975104"/>
            <a:ext cx="3026664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Collection precedent; broaden covering types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2532888"/>
            <a:ext cx="1920240" cy="64922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624328"/>
            <a:ext cx="1773936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Chong et al., 2022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14016" y="2532888"/>
            <a:ext cx="3063240" cy="64922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87168" y="2624328"/>
            <a:ext cx="2916936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CNN features + SVM for masked faces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77256" y="2532888"/>
            <a:ext cx="3172968" cy="64922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0408" y="2624328"/>
            <a:ext cx="3026664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Different recognition pipeline and benchmark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" y="3182112"/>
            <a:ext cx="1920240" cy="64922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273552"/>
            <a:ext cx="1773936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Montero et al., 2022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14016" y="3182112"/>
            <a:ext cx="3063240" cy="64922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87168" y="3273552"/>
            <a:ext cx="2916936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Multi-task ArcFace for masked faces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77256" y="3182112"/>
            <a:ext cx="3172968" cy="649224"/>
          </a:xfrm>
          <a:prstGeom prst="rect">
            <a:avLst/>
          </a:prstGeom>
          <a:solidFill>
            <a:srgbClr val="EFF4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3273552"/>
            <a:ext cx="3026664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Our study varies layer scope, not task losses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" y="3831335"/>
            <a:ext cx="1920240" cy="64922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922775"/>
            <a:ext cx="1773936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Deng et al., 2019 / 2020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14016" y="3831335"/>
            <a:ext cx="3063240" cy="64922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87168" y="3922775"/>
            <a:ext cx="2916936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ArcFace / RetinaFace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77256" y="3831335"/>
            <a:ext cx="3172968" cy="649224"/>
          </a:xfrm>
          <a:prstGeom prst="rect">
            <a:avLst/>
          </a:prstGeom>
          <a:solidFill>
            <a:srgbClr val="FBFCF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50408" y="3922775"/>
            <a:ext cx="3026664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1B1B27"/>
                </a:solidFill>
                <a:latin typeface="Arimo"/>
              </a:defRPr>
            </a:pPr>
            <a:r>
              <a:t>Embedding and detection foundations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3776" y="4306824"/>
            <a:ext cx="8156448" cy="393192"/>
          </a:xfrm>
          <a:prstGeom prst="rect">
            <a:avLst/>
          </a:prstGeom>
          <a:solidFill>
            <a:srgbClr val="F5F5F5"/>
          </a:solidFill>
          <a:ln w="7620">
            <a:solidFill>
              <a:srgbClr val="F5F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379976"/>
            <a:ext cx="7863840" cy="3017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Our contribution: a documented local collection and a fixed-gallery, person-disjoint adaptation study.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Limitations &amp; Responsible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The results describe this collection and protocol, not unrestricted real-world recognition.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261872"/>
            <a:ext cx="3931920" cy="3072384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80743"/>
            <a:ext cx="3639312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Data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65376"/>
            <a:ext cx="3639312" cy="24231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Only 30 people; indoor, single-sitting capture.</a:t>
            </a:r>
          </a:p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Scarf coverage and some conditions are incomplete.</a:t>
            </a:r>
          </a:p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Same-identity duplicates remain.</a:t>
            </a:r>
          </a:p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Previously added digital coverings are not flagged individually.</a:t>
            </a:r>
          </a:p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Faces remain personal data despite pseudonyms.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61872"/>
            <a:ext cx="4032504" cy="3072384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64024" y="1380743"/>
            <a:ext cx="3739896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3C80"/>
                </a:solidFill>
                <a:latin typeface="Arimo"/>
              </a:defRPr>
            </a:pPr>
            <a:r>
              <a:t>Evaluation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1865376"/>
            <a:ext cx="3739896" cy="24231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All test queries are enrolled identities; no unseen-stranger rejection benchmark.</a:t>
            </a:r>
          </a:p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Threshold 0.30 is fixed, not a deployment guarantee.</a:t>
            </a:r>
          </a:p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Gallery is locked to pretrained embeddings.</a:t>
            </a:r>
          </a:p>
          <a:p>
            <a:pPr>
              <a:spcAft>
                <a:spcPts val="500"/>
              </a:spcAft>
              <a:defRPr sz="1300" b="0">
                <a:solidFill>
                  <a:srgbClr val="1B1B27"/>
                </a:solidFill>
                <a:latin typeface="Arimo"/>
              </a:defRPr>
            </a:pPr>
            <a:r>
              <a:t>Consent is academic / non-commercial and withdrawable; access is not a public license.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A modest, targeted update gives the best measured transfer to held-out people.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389888"/>
            <a:ext cx="2633472" cy="130759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618488"/>
            <a:ext cx="2450592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03C80"/>
                </a:solidFill>
                <a:latin typeface="Arimo"/>
              </a:defRPr>
            </a:pPr>
            <a:r>
              <a:t>86.18%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221992"/>
            <a:ext cx="2450592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1B1B27"/>
                </a:solidFill>
                <a:latin typeface="Arimo"/>
              </a:defRPr>
            </a:pPr>
            <a:r>
              <a:t>E1 pooled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5264" y="1389888"/>
            <a:ext cx="2633472" cy="130759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46704" y="1618488"/>
            <a:ext cx="2450592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03C80"/>
                </a:solidFill>
                <a:latin typeface="Arimo"/>
              </a:defRPr>
            </a:pPr>
            <a:r>
              <a:t>+1.20 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221992"/>
            <a:ext cx="2450592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1B1B27"/>
                </a:solidFill>
                <a:latin typeface="Arimo"/>
              </a:defRPr>
            </a:pPr>
            <a:r>
              <a:t>E1 improvement over E0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16752" y="1389888"/>
            <a:ext cx="2633472" cy="1307592"/>
          </a:xfrm>
          <a:prstGeom prst="roundRect">
            <a:avLst>
              <a:gd name="adj" fmla="val 7000"/>
            </a:avLst>
          </a:prstGeom>
          <a:solidFill>
            <a:srgbClr val="FBFCFF"/>
          </a:solidFill>
          <a:ln w="7620">
            <a:solidFill>
              <a:srgbClr val="D6D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618488"/>
            <a:ext cx="2450592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03C80"/>
                </a:solidFill>
                <a:latin typeface="Arimo"/>
              </a:defRPr>
            </a:pPr>
            <a:r>
              <a:t>+11.6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2221992"/>
            <a:ext cx="2450592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1B1B27"/>
                </a:solidFill>
                <a:latin typeface="Arimo"/>
              </a:defRPr>
            </a:pPr>
            <a:r>
              <a:t>Mask + sunglasses gain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3127248"/>
            <a:ext cx="7772400" cy="10698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The new dataset targets richer occlusion variation, not greater identity diversity.</a:t>
            </a:r>
          </a:p>
          <a:p>
            <a:pPr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Train the final ArcFace block; keep the gallery and early representation stable.</a:t>
            </a:r>
          </a:p>
          <a:p>
            <a:pPr>
              <a:spcAft>
                <a:spcPts val="500"/>
              </a:spcAft>
              <a:defRPr sz="1500" b="0">
                <a:solidFill>
                  <a:srgbClr val="1B1B27"/>
                </a:solidFill>
                <a:latin typeface="Arimo"/>
              </a:defRPr>
            </a:pPr>
            <a:r>
              <a:t>Next: independent sessions, more participants, and unseen-identity rejection tests.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References &amp;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Report-aligned sources and artifacts; original deck retained as the visual template.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1261872"/>
            <a:ext cx="786384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03C80"/>
                </a:solidFill>
                <a:latin typeface="Arimo"/>
              </a:defRPr>
            </a:pPr>
            <a:r>
              <a:rPr>
                <a:hlinkClick r:id="rId2"/>
              </a:rPr>
              <a:t>Salari &amp; Rostami · Pgu-Face · Data in Brief 9 (2016), 288–291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691639"/>
            <a:ext cx="786384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03C80"/>
                </a:solidFill>
                <a:latin typeface="Arimo"/>
              </a:defRPr>
            </a:pPr>
            <a:r>
              <a:rPr>
                <a:hlinkClick r:id="rId3"/>
              </a:rPr>
              <a:t>Chong et al. · Masked Face Recognition Using SVM and CNN · ICoICT 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121408"/>
            <a:ext cx="786384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03C80"/>
                </a:solidFill>
                <a:latin typeface="Arimo"/>
              </a:defRPr>
            </a:pPr>
            <a:r>
              <a:rPr>
                <a:hlinkClick r:id="rId4"/>
              </a:rPr>
              <a:t>Montero et al. · Boosting Masked Face Recognition with Multi-Task ArcFace · 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551176"/>
            <a:ext cx="786384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03C80"/>
                </a:solidFill>
                <a:latin typeface="Arimo"/>
              </a:defRPr>
            </a:pPr>
            <a:r>
              <a:rPr>
                <a:hlinkClick r:id="rId5"/>
              </a:rPr>
              <a:t>Deng et al. · ArcFace · CVPR 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980944"/>
            <a:ext cx="786384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03C80"/>
                </a:solidFill>
                <a:latin typeface="Arimo"/>
              </a:defRPr>
            </a:pPr>
            <a:r>
              <a:rPr>
                <a:hlinkClick r:id="rId6"/>
              </a:rPr>
              <a:t>Deng et al. · RetinaFace · CVPR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3602736"/>
            <a:ext cx="78638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66174"/>
                </a:solidFill>
                <a:latin typeface="Arimo"/>
              </a:defRPr>
            </a:pPr>
            <a:r>
              <a:t>Project artifacts: final_technical_report.md, final.pdf, metadata/e1e2_person_folds.json, runs/e1e2/. Results reproduced from saved aggregates and histories.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325112"/>
            <a:ext cx="786384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203C80"/>
                </a:solidFill>
                <a:latin typeface="Arimo"/>
              </a:defRPr>
            </a:pPr>
            <a:r>
              <a:rPr>
                <a:hlinkClick r:id="rId7"/>
              </a:rPr>
              <a:t>Open our dataset folder (Google Drive)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Appendix · E0 Confusion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30 identity columns + R for rejection; held-out queries pooled across six folds.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29</a:t>
            </a:r>
          </a:p>
        </p:txBody>
      </p:sp>
      <p:pic>
        <p:nvPicPr>
          <p:cNvPr id="7" name="Picture 6" descr="e0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521" y="1078992"/>
            <a:ext cx="4312957" cy="361187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Appendix · E1 Confusion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30 identity columns + R for rejection; held-out queries pooled across six folds.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30</a:t>
            </a:r>
          </a:p>
        </p:txBody>
      </p:sp>
      <p:pic>
        <p:nvPicPr>
          <p:cNvPr id="7" name="Picture 6" descr="e1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521" y="1078992"/>
            <a:ext cx="4312957" cy="361187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74320"/>
            <a:ext cx="8156448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B1B27"/>
                </a:solidFill>
                <a:latin typeface="Raleway"/>
              </a:defRPr>
            </a:pPr>
            <a:r>
              <a:t>Appendix · E2 Confusion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68096"/>
            <a:ext cx="815644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1150" b="0">
                <a:solidFill>
                  <a:srgbClr val="566174"/>
                </a:solidFill>
                <a:latin typeface="Arimo"/>
              </a:defRPr>
            </a:pPr>
            <a:r>
              <a:t>30 identity columns + R for rejection; held-out queries pooled across six folds.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4837176"/>
            <a:ext cx="8577072" cy="0"/>
          </a:xfrm>
          <a:prstGeom prst="line">
            <a:avLst/>
          </a:prstGeom>
          <a:ln w="7620">
            <a:solidFill>
              <a:srgbClr val="C9D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4901184"/>
            <a:ext cx="1828800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20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901184"/>
            <a:ext cx="301752" cy="1554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4A5782"/>
                </a:solidFill>
                <a:latin typeface="Arimo"/>
              </a:defRPr>
            </a:pPr>
            <a:r>
              <a:t>31</a:t>
            </a:r>
          </a:p>
        </p:txBody>
      </p:sp>
      <p:pic>
        <p:nvPicPr>
          <p:cNvPr id="7" name="Picture 6" descr="e2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521" y="1078992"/>
            <a:ext cx="4312957" cy="36118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3307</Words>
  <Application>Microsoft Office PowerPoint</Application>
  <PresentationFormat>On-screen Show (16:9)</PresentationFormat>
  <Paragraphs>632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Arimo</vt:lpstr>
      <vt:lpstr>Calibri</vt:lpstr>
      <vt:lpstr>Play</vt:lpstr>
      <vt:lpstr>Arial</vt:lpstr>
      <vt:lpstr>Courier New</vt:lpstr>
      <vt:lpstr>Roboto</vt:lpstr>
      <vt:lpstr>Raleway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Occlusion-Robust Face Identification — Current Project</dc:title>
  <cp:lastModifiedBy>DIP</cp:lastModifiedBy>
  <cp:revision>7</cp:revision>
  <dcterms:modified xsi:type="dcterms:W3CDTF">2026-09-08T07:11:37Z</dcterms:modified>
  <dc:subject>Person-disjoint six-fold evaluation of partial ArcFace fine-tuning</dc:subject>
  <dc:description>Updated from the supplied v4 deck; no demo or deployment slides.</dc:description>
</cp:coreProperties>
</file>