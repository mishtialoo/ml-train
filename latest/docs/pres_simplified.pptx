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26"/>
  </p:notesMasterIdLst>
  <p:sldIdLst>
    <p:sldId id="256" r:id="rId2"/>
    <p:sldId id="257" r:id="rId25"/>
    <p:sldId id="258" r:id="rId24"/>
    <p:sldId id="259" r:id="rId23"/>
    <p:sldId id="260" r:id="rId22"/>
    <p:sldId id="261" r:id="rId21"/>
    <p:sldId id="262" r:id="rId20"/>
    <p:sldId id="263" r:id="rId19"/>
    <p:sldId id="264" r:id="rId18"/>
    <p:sldId id="265" r:id="rId17"/>
    <p:sldId id="266" r:id="rId16"/>
    <p:sldId id="267" r:id="rId15"/>
    <p:sldId id="268" r:id="rId14"/>
    <p:sldId id="269" r:id="rId13"/>
    <p:sldId id="270" r:id="rId12"/>
    <p:sldId id="271" r:id="rId11"/>
    <p:sldId id="272" r:id="rId10"/>
    <p:sldId id="273" r:id="rId9"/>
    <p:sldId id="274" r:id="rId8"/>
    <p:sldId id="275" r:id="rId7"/>
    <p:sldId id="276" r:id="rId6"/>
    <p:sldId id="277" r:id="rId5"/>
    <p:sldId id="278" r:id="rId4"/>
    <p:sldId id="279" r:id="rId3"/>
    <p:sldId id="280" r:id="rId49"/>
    <p:sldId id="281" r:id="rId50"/>
    <p:sldId id="282" r:id="rId51"/>
    <p:sldId id="283" r:id="rId52"/>
    <p:sldId id="284" r:id="rId53"/>
    <p:sldId id="285" r:id="rId54"/>
    <p:sldId id="286" r:id="rId55"/>
    <p:sldId id="287" r:id="rId56"/>
  </p:sldIdLst>
  <p:sldSz cx="9144000" cy="5143500" type="screen16x9"/>
  <p:notesSz cx="5143500" cy="9144000"/>
  <p:embeddedFontLst>
    <p:embeddedFont>
      <p:font typeface="Arimo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Play" panose="020B0604020202020204" charset="0"/>
      <p:regular r:id="rId35"/>
      <p:bold r:id="rId36"/>
    </p:embeddedFont>
    <p:embeddedFont>
      <p:font typeface="Raleway" pitchFamily="2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4.xml"/><Relationship Id="rId4" Type="http://schemas.openxmlformats.org/officeDocument/2006/relationships/slide" Target="slides/slide23.xml"/><Relationship Id="rId5" Type="http://schemas.openxmlformats.org/officeDocument/2006/relationships/slide" Target="slides/slide22.xml"/><Relationship Id="rId6" Type="http://schemas.openxmlformats.org/officeDocument/2006/relationships/slide" Target="slides/slide21.xml"/><Relationship Id="rId7" Type="http://schemas.openxmlformats.org/officeDocument/2006/relationships/slide" Target="slides/slide20.xml"/><Relationship Id="rId8" Type="http://schemas.openxmlformats.org/officeDocument/2006/relationships/slide" Target="slides/slide19.xml"/><Relationship Id="rId9" Type="http://schemas.openxmlformats.org/officeDocument/2006/relationships/slide" Target="slides/slide18.xml"/><Relationship Id="rId10" Type="http://schemas.openxmlformats.org/officeDocument/2006/relationships/slide" Target="slides/slide17.xml"/><Relationship Id="rId11" Type="http://schemas.openxmlformats.org/officeDocument/2006/relationships/slide" Target="slides/slide16.xml"/><Relationship Id="rId12" Type="http://schemas.openxmlformats.org/officeDocument/2006/relationships/slide" Target="slides/slide15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2.xml"/><Relationship Id="rId16" Type="http://schemas.openxmlformats.org/officeDocument/2006/relationships/slide" Target="slides/slide11.xml"/><Relationship Id="rId17" Type="http://schemas.openxmlformats.org/officeDocument/2006/relationships/slide" Target="slides/slide10.xml"/><Relationship Id="rId18" Type="http://schemas.openxmlformats.org/officeDocument/2006/relationships/slide" Target="slides/slide9.xml"/><Relationship Id="rId19" Type="http://schemas.openxmlformats.org/officeDocument/2006/relationships/slide" Target="slides/slide8.xml"/><Relationship Id="rId20" Type="http://schemas.openxmlformats.org/officeDocument/2006/relationships/slide" Target="slides/slide7.xml"/><Relationship Id="rId21" Type="http://schemas.openxmlformats.org/officeDocument/2006/relationships/slide" Target="slides/slide6.xml"/><Relationship Id="rId22" Type="http://schemas.openxmlformats.org/officeDocument/2006/relationships/slide" Target="slides/slide5.xml"/><Relationship Id="rId23" Type="http://schemas.openxmlformats.org/officeDocument/2006/relationships/slide" Target="slides/slide4.xml"/><Relationship Id="rId24" Type="http://schemas.openxmlformats.org/officeDocument/2006/relationships/slide" Target="slides/slide3.xml"/><Relationship Id="rId25" Type="http://schemas.openxmlformats.org/officeDocument/2006/relationships/slide" Target="slides/slide2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font" Target="fonts/font12.fntdata"/><Relationship Id="rId39" Type="http://schemas.openxmlformats.org/officeDocument/2006/relationships/font" Target="fonts/font13.fntdata"/><Relationship Id="rId40" Type="http://schemas.openxmlformats.org/officeDocument/2006/relationships/font" Target="fonts/font14.fntdata"/><Relationship Id="rId41" Type="http://schemas.openxmlformats.org/officeDocument/2006/relationships/font" Target="fonts/font15.fntdata"/><Relationship Id="rId42" Type="http://schemas.openxmlformats.org/officeDocument/2006/relationships/font" Target="fonts/font16.fntdata"/><Relationship Id="rId43" Type="http://schemas.openxmlformats.org/officeDocument/2006/relationships/font" Target="fonts/font17.fntdata"/><Relationship Id="rId44" Type="http://schemas.openxmlformats.org/officeDocument/2006/relationships/font" Target="fonts/font18.fntdata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25.xml"/><Relationship Id="rId50" Type="http://schemas.openxmlformats.org/officeDocument/2006/relationships/slide" Target="slides/slide26.xml"/><Relationship Id="rId51" Type="http://schemas.openxmlformats.org/officeDocument/2006/relationships/slide" Target="slides/slide27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4" Type="http://schemas.openxmlformats.org/officeDocument/2006/relationships/slide" Target="slides/slide30.xml"/><Relationship Id="rId55" Type="http://schemas.openxmlformats.org/officeDocument/2006/relationships/slide" Target="slides/slide31.xml"/><Relationship Id="rId56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rive.google.com/drive/u/1/folders/1XN55OGpozy5Rhbs5QRFMatlCMTAo8sPu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i.org/10.1016/j.dib.2016.09.002" TargetMode="External"/><Relationship Id="rId3" Type="http://schemas.openxmlformats.org/officeDocument/2006/relationships/hyperlink" Target="https://doi.org/10.1109/ICoICT55009.2022.9914874" TargetMode="External"/><Relationship Id="rId4" Type="http://schemas.openxmlformats.org/officeDocument/2006/relationships/hyperlink" Target="https://doi.org/10.1109/SITIS57111.2022.00042" TargetMode="External"/><Relationship Id="rId5" Type="http://schemas.openxmlformats.org/officeDocument/2006/relationships/hyperlink" Target="https://openaccess.thecvf.com/content_CVPR_2019/html/Deng_ArcFace_Additive_Angular_Margin_Loss_for_Deep_Face_Recognition_CVPR_2019_paper.html" TargetMode="External"/><Relationship Id="rId6" Type="http://schemas.openxmlformats.org/officeDocument/2006/relationships/hyperlink" Target="https://openaccess.thecvf.com/content_CVPR_2020/html/Deng_RetinaFace_Single-Shot_Multi-Level_Face_Localisation_in_the_Wild_CVPR_2020_paper.html" TargetMode="External"/><Relationship Id="rId7" Type="http://schemas.openxmlformats.org/officeDocument/2006/relationships/hyperlink" Target="https://drive.google.com/drive/u/1/folders/1XN55OGpozy5Rhbs5QRFMatlCMTAo8sPu" TargetMode="External"/><Relationship Id="rId8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3925119" y="502920"/>
            <a:ext cx="4722763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  <a:defRPr sz="2500">
                <a:solidFill>
                  <a:srgbClr val="1B1B27"/>
                </a:solidFill>
                <a:latin typeface="Raleway"/>
              </a:defRPr>
            </a:pPr>
            <a:r>
              <a:t>Occlusion-Robust Face Identification with Partially Fine-Tuned ArcFace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925119" y="1847088"/>
            <a:ext cx="4722763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90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Machine Learning Laboratory — CSE 4112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90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Department of Computer Science &amp; Engineering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90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Khulna University of Engineering &amp; Technology (KUET)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90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20 September 2026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22776" y="2907792"/>
            <a:ext cx="4718304" cy="2834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Team members (rolls)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1063" y="33284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1063" y="35570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3" y="37856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1063" y="40142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41063" y="42428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41063" y="44714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Does occlusion robustness transfer to identities never seen during fine-tuning?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66090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Identify an enrolled person from an occluded face.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Compare three adaptation scopes using the same gallery and decision threshold.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A correct label below the threshold is still a rejection.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66090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The experiment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E0 · Frozen pretrained ArcFace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E1 · Fine-tune the final residual block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E2 · Fine-tune the block + embedding head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20 train / 5 validation / 5 test identities per fold.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Person-disjoint fine-tuning evaluation; all 30 identities remain enrolled in the gallery.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Dataset &amp; Occlusion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In-person capture, signed consent, pseudonymous identities p01–p30.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Identities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6 collectors × 5 people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Raw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200 per person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5,988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Aligned crops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3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99.8%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93408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8 ×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occlusion × lighting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" y="2642616"/>
            <a:ext cx="3931920" cy="146304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61488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Capture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46120"/>
            <a:ext cx="3639312" cy="8138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Phone-camera collection in regular and low light. Single-sitting capture; indoor conditions.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2642616"/>
            <a:ext cx="4032504" cy="146304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4024" y="2761488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Evaluation pool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4024" y="3246120"/>
            <a:ext cx="3739896" cy="8138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5,818 queries after 170 gallery / near-burst exclusions. Fixed gallery: 30 identities.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52544"/>
            <a:ext cx="80924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2"/>
              </a:rPr>
              <a:t>Dataset folder · consent and access restrictions still apply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Eight Occlusion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Representative participant images reused from the previous presentation.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03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097280"/>
            <a:ext cx="1911095" cy="1380744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75864" y="1097280"/>
            <a:ext cx="1911095" cy="1380744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57953" y="1097280"/>
            <a:ext cx="1911095" cy="1380744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40042" y="1097280"/>
            <a:ext cx="1911095" cy="1380744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93776" y="2935224"/>
            <a:ext cx="1911095" cy="1380744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575864" y="2935224"/>
            <a:ext cx="1911095" cy="1380744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657953" y="2935224"/>
            <a:ext cx="1911095" cy="1380744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740042" y="2935224"/>
            <a:ext cx="1911095" cy="1380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3776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93776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5864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575864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7953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657953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Clear glasses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0042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740042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Sunglasses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93776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Scarf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5864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575864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Mask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7953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657953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Mask + clear glasses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0042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740042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Mask + sunglasses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Why This Dataset?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Pgu-Face is the base dataset paper—not a directly comparable recognition benchmark.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874519" cy="475488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Property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68296" y="1234440"/>
            <a:ext cx="2788920" cy="475488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1325880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Pgu-Face (2016)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7216" y="1234440"/>
            <a:ext cx="3493008" cy="475488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325880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Our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709928"/>
            <a:ext cx="1874519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01368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Participants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68296" y="1709928"/>
            <a:ext cx="2788920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1801368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224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57216" y="1709928"/>
            <a:ext cx="3493008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1801368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185416"/>
            <a:ext cx="1874519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276856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Images / person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68296" y="2185416"/>
            <a:ext cx="2788920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41448" y="2276856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4 (896 total)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57216" y="2185416"/>
            <a:ext cx="3493008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276856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200 raw (6,000 total)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2660904"/>
            <a:ext cx="1874519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752344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Covering variation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68296" y="2660904"/>
            <a:ext cx="2788920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1448" y="2752344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Facial hair + sunglasses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57216" y="2660904"/>
            <a:ext cx="3493008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0368" y="2752344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8 types, including compound masks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136392"/>
            <a:ext cx="1874519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227832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Capture conditions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68296" y="3136392"/>
            <a:ext cx="2788920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41448" y="3227832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Up to 2 sessions, ≥6 days apart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57216" y="3136392"/>
            <a:ext cx="3493008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3227832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Regular + low light; one sitting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3611880"/>
            <a:ext cx="1874519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703320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Evaluation artifacts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68296" y="3611880"/>
            <a:ext cx="2788920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41448" y="3703320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Partially covered-face collection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57216" y="3611880"/>
            <a:ext cx="3493008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3703320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112 × 112 crops, labels, six-fold split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" y="4251960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325112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More within-person variation and coverings; fewer identities and no across-session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Different—and Better for This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Broader occlusion stress testing, rather than a claim of universally better data.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77063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What the new data enables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1214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~6.7× as many raw images overall.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50× as many captures per identity.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Mask + glasses combinations probe severe, compound occlusion.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Two light levels and condition labels support targeted error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77063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What Pgu-Face still offers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1214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224 identities versus our 30: greater identity diversity.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Separated capture sessions probe time-related change.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Different data and protocols mean published accuracies cannot be ranked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The advantage is alignment with our occlusion-transfer study—not broader population coverage.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Curation, Quality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Retain the documented dataset; disclose limitations rather than inventing cleanup counts.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72491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Processing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75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12 raw images failed detection.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5,988 crops: 3,050 regular / 2,938 low light.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429 duplicate MD5 occurrences retained, all within the same identity.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Person-disjoint folds keep a person’s copies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72491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Coverage &amp; consent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75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Scarf coverage: 24 of 30 people; some other condition gaps.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A small, unflagged digitally added covering subset was reported previously.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Academic, non-commercial, withdrawable consent; faces are still identifiable.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No claim of perfectly balanced coverage, fully natural coverings, or an unrestricted public license.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Detection Failures: Actual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Five documented rejected raw images: examples 1, 2, 5, 6 and 7 from the report.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07</a:t>
            </a:r>
          </a:p>
        </p:txBody>
      </p:sp>
      <p:pic>
        <p:nvPicPr>
          <p:cNvPr id="7" name="Picture 6" descr="retinaface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59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RetinaFace detects 5,988 of 6,000 raw images. These failures never enter the recognition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Frozen RetinaFace detection and landmark alignment produce the recognizer’s inputs.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08</a:t>
            </a:r>
          </a:p>
        </p:txBody>
      </p:sp>
      <p:sp>
        <p:nvSpPr>
          <p:cNvPr id="7" name="Diagram node: Raw photo"/>
          <p:cNvSpPr/>
          <p:nvPr/>
        </p:nvSpPr>
        <p:spPr>
          <a:xfrm>
            <a:off x="493776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Raw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Read orientation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RGB image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2313432"/>
            <a:ext cx="210312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37460" y="22722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RetinaFace"/>
          <p:cNvSpPr/>
          <p:nvPr/>
        </p:nvSpPr>
        <p:spPr>
          <a:xfrm>
            <a:off x="2587752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RetinaFace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Face box + score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5 landmarks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62272" y="2313432"/>
            <a:ext cx="210311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31436" y="22722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gram node: Alignment"/>
          <p:cNvSpPr/>
          <p:nvPr/>
        </p:nvSpPr>
        <p:spPr>
          <a:xfrm>
            <a:off x="4681728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Similarity transform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112 × 112 RGB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6248" y="2313432"/>
            <a:ext cx="210312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725412" y="22722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gram node: Manifest"/>
          <p:cNvSpPr/>
          <p:nvPr/>
        </p:nvSpPr>
        <p:spPr>
          <a:xfrm>
            <a:off x="6775704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Manifest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Identity, covering, light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Crop + quality fields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3337560"/>
            <a:ext cx="8156448" cy="83210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10712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Recognition normalization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730752"/>
            <a:ext cx="7863840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(pixel − 127.5) / 127.5; channel-first tensor N × 3 × 112 × 112.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Person-Disjoint Six-Fold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Seed 42 · 20 train identities, 5 validation identities, 5 held-out test identities per fold.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09</a:t>
            </a:r>
          </a:p>
        </p:txBody>
      </p:sp>
      <p:pic>
        <p:nvPicPr>
          <p:cNvPr id="7" name="Picture 6" descr="fold_ass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15" y="1161288"/>
            <a:ext cx="6839368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471416"/>
            <a:ext cx="7955279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66174"/>
                </a:solidFill>
                <a:latin typeface="Arimo"/>
              </a:defRPr>
            </a:pPr>
            <a:r>
              <a:t>Every identity is tested once. Validation uses the next five-person block cyclically.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One Fixed Gallery, Fair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Enrollment is not fine-tuning: held-out test identities have a gallery reference only.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6974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Build once with E0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482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Choose the highest-detection-score “none” crop per identity.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Compute and L2-normalize its pretrained 512-D embedding.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Lock these 30 reference vectors across E0, E1, and E2.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6974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Prevent shortcut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482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Exclude gallery photos and near-burst queries (170 images total).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Fine-tuning uses only the 20 training identities’ fixed vectors.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Validation and testing match against all 30 gallery identities.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5,818 pooled test queries. No held-out person contributes fine-tuning gradients.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Two Models, Two Distinct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Detector stays frozen. Only selected ArcFace recognition layers are adapted.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11</a:t>
            </a:r>
          </a:p>
        </p:txBody>
      </p:sp>
      <p:sp>
        <p:nvSpPr>
          <p:cNvPr id="7" name="Diagram node: 1 · RetinaFace"/>
          <p:cNvSpPr/>
          <p:nvPr/>
        </p:nvSpPr>
        <p:spPr>
          <a:xfrm>
            <a:off x="640080" y="1554480"/>
            <a:ext cx="3383280" cy="16459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45920"/>
            <a:ext cx="327355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03C80"/>
                </a:solidFill>
                <a:latin typeface="Arimo"/>
              </a:defRPr>
            </a:pPr>
            <a:r>
              <a:t>1 · RetinaFace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029967"/>
            <a:ext cx="3273552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Raw RGB → box, score, 5 landmarks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4,225,835 parameters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Detection and alignment only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377440"/>
            <a:ext cx="868680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850892" y="23362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2 · ArcFace / iResNet-50"/>
          <p:cNvSpPr/>
          <p:nvPr/>
        </p:nvSpPr>
        <p:spPr>
          <a:xfrm>
            <a:off x="4892040" y="1554480"/>
            <a:ext cx="3611880" cy="164592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46903" y="1645920"/>
            <a:ext cx="350215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03C80"/>
                </a:solidFill>
                <a:latin typeface="Arimo"/>
              </a:defRPr>
            </a:pPr>
            <a:r>
              <a:t>2 · ArcFace / iResNet-50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3" y="2029967"/>
            <a:ext cx="3502152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Aligned RGB → 512-D embedding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43,590,976 parameters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Fixed-gallery cosine identification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3977639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50791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The following diagrams reflect the exported model graphs used in the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RetinaFace: Actual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Frozen det_10g.onnx · typical detector input 1 × 3 × 640 × 640 RGB.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12</a:t>
            </a:r>
          </a:p>
        </p:txBody>
      </p:sp>
      <p:sp>
        <p:nvSpPr>
          <p:cNvPr id="7" name="Diagram node: Input RGB"/>
          <p:cNvSpPr/>
          <p:nvPr/>
        </p:nvSpPr>
        <p:spPr>
          <a:xfrm>
            <a:off x="493776" y="1993392"/>
            <a:ext cx="1097280" cy="123444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98755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Input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987552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640 × 640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Dynamic H, W</a:t>
            </a:r>
          </a:p>
        </p:txBody>
      </p:sp>
      <p:sp>
        <p:nvSpPr>
          <p:cNvPr id="10" name="Diagram node: Backbone"/>
          <p:cNvSpPr/>
          <p:nvPr/>
        </p:nvSpPr>
        <p:spPr>
          <a:xfrm>
            <a:off x="1819656" y="1993392"/>
            <a:ext cx="1234440" cy="123444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084832"/>
            <a:ext cx="11247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468880"/>
            <a:ext cx="1124712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Convolutional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features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91056" y="2606040"/>
            <a:ext cx="228600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1778508" y="25648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gram node: 3-level FPN"/>
          <p:cNvSpPr/>
          <p:nvPr/>
        </p:nvSpPr>
        <p:spPr>
          <a:xfrm>
            <a:off x="3282696" y="1993392"/>
            <a:ext cx="1188720" cy="123444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084832"/>
            <a:ext cx="107899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3-level FPN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468880"/>
            <a:ext cx="1078992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Multi-scale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fusion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54096" y="2606040"/>
            <a:ext cx="228600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241548" y="25648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471416" y="2606040"/>
            <a:ext cx="118872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90288" y="1719072"/>
            <a:ext cx="0" cy="1975104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gram node: P3 · stride 8"/>
          <p:cNvSpPr/>
          <p:nvPr/>
        </p:nvSpPr>
        <p:spPr>
          <a:xfrm>
            <a:off x="4700016" y="1280160"/>
            <a:ext cx="1737360" cy="8778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344168"/>
            <a:ext cx="1627632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P3 · stride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618488"/>
            <a:ext cx="1627632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80 × 80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90288" y="1719072"/>
            <a:ext cx="109728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4658868" y="16779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437376" y="1719072"/>
            <a:ext cx="256032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652260" y="16779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gram node: P3 · stride 8 outputs"/>
          <p:cNvSpPr/>
          <p:nvPr/>
        </p:nvSpPr>
        <p:spPr>
          <a:xfrm>
            <a:off x="6693408" y="1280160"/>
            <a:ext cx="1956816" cy="877824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1362456"/>
            <a:ext cx="1847088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Face scores</a:t>
            </a:r>
          </a:p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Bounding boxes</a:t>
            </a:r>
          </a:p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Five facial landmarks</a:t>
            </a:r>
          </a:p>
        </p:txBody>
      </p:sp>
      <p:sp>
        <p:nvSpPr>
          <p:cNvPr id="31" name="Diagram node: P4 · stride 16"/>
          <p:cNvSpPr/>
          <p:nvPr/>
        </p:nvSpPr>
        <p:spPr>
          <a:xfrm>
            <a:off x="4700016" y="2267712"/>
            <a:ext cx="1737360" cy="8778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2331720"/>
            <a:ext cx="1627632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P4 · stride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606040"/>
            <a:ext cx="1627632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40 × 40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90288" y="2706624"/>
            <a:ext cx="109728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4658868" y="2665476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437376" y="2706624"/>
            <a:ext cx="256032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6652260" y="2665476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gram node: P4 · stride 16 outputs"/>
          <p:cNvSpPr/>
          <p:nvPr/>
        </p:nvSpPr>
        <p:spPr>
          <a:xfrm>
            <a:off x="6693408" y="2267712"/>
            <a:ext cx="1956816" cy="877824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8272" y="2350008"/>
            <a:ext cx="1847088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Face scores</a:t>
            </a:r>
          </a:p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Bounding boxes</a:t>
            </a:r>
          </a:p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Five facial landmarks</a:t>
            </a:r>
          </a:p>
        </p:txBody>
      </p:sp>
      <p:sp>
        <p:nvSpPr>
          <p:cNvPr id="40" name="Diagram node: P5 · stride 32"/>
          <p:cNvSpPr/>
          <p:nvPr/>
        </p:nvSpPr>
        <p:spPr>
          <a:xfrm>
            <a:off x="4700016" y="3255264"/>
            <a:ext cx="1737360" cy="8778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3319272"/>
            <a:ext cx="1627632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P5 · stride 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3593592"/>
            <a:ext cx="1627632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20 × 20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90288" y="3694176"/>
            <a:ext cx="109728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4658868" y="36530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437376" y="3694176"/>
            <a:ext cx="256032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6652260" y="36530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iagram node: P5 · stride 32 outputs"/>
          <p:cNvSpPr/>
          <p:nvPr/>
        </p:nvSpPr>
        <p:spPr>
          <a:xfrm>
            <a:off x="6693408" y="3255264"/>
            <a:ext cx="1956816" cy="877824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48272" y="3337560"/>
            <a:ext cx="1847088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Face scores</a:t>
            </a:r>
          </a:p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Bounding boxes</a:t>
            </a:r>
          </a:p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Five facial landmarks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1024128"/>
            <a:ext cx="1993392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OUTPUTS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630168"/>
            <a:ext cx="3977639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Nine output tensors per image:</a:t>
            </a:r>
          </a:p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scores, boxes and landmarks at each level.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" y="4315968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389120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Outputs → box decoding / filtering → 5-landmark alignment → 112 × 112 RGB crop.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ArcFace: Actual iResNet-50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w600k_r50.onnx · 24 residual blocks; block internals intentionally omitted.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13</a:t>
            </a:r>
          </a:p>
        </p:txBody>
      </p:sp>
      <p:sp>
        <p:nvSpPr>
          <p:cNvPr id="7" name="Diagram node: Input RGB"/>
          <p:cNvSpPr/>
          <p:nvPr/>
        </p:nvSpPr>
        <p:spPr>
          <a:xfrm>
            <a:off x="493776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Input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3 × 112 × 112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1874519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46604" y="183337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Stem"/>
          <p:cNvSpPr/>
          <p:nvPr/>
        </p:nvSpPr>
        <p:spPr>
          <a:xfrm>
            <a:off x="2587752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Convolution + PReLU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62272" y="1874519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40580" y="183337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gram node: Stage 1"/>
          <p:cNvSpPr/>
          <p:nvPr/>
        </p:nvSpPr>
        <p:spPr>
          <a:xfrm>
            <a:off x="4681728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3 residual blocks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6248" y="1874519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734556" y="183337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gram node: Stage 2"/>
          <p:cNvSpPr/>
          <p:nvPr/>
        </p:nvSpPr>
        <p:spPr>
          <a:xfrm>
            <a:off x="6775704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4 residual blocks</a:t>
            </a:r>
          </a:p>
        </p:txBody>
      </p:sp>
      <p:sp>
        <p:nvSpPr>
          <p:cNvPr id="25" name="Diagram node: Stage 3"/>
          <p:cNvSpPr/>
          <p:nvPr/>
        </p:nvSpPr>
        <p:spPr>
          <a:xfrm>
            <a:off x="493776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14 residual blocks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68296" y="3547872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2546604" y="35067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gram node: Stage 4"/>
          <p:cNvSpPr/>
          <p:nvPr/>
        </p:nvSpPr>
        <p:spPr>
          <a:xfrm>
            <a:off x="2587752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42616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42616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3 residual blocks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Last block: layer4.2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62272" y="3547872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4640580" y="35067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gram node: Embedding head"/>
          <p:cNvSpPr/>
          <p:nvPr/>
        </p:nvSpPr>
        <p:spPr>
          <a:xfrm>
            <a:off x="4681728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Embedding 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BN → flatten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FC → final BN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56248" y="3547872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6734556" y="35067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gram node: Output embedding"/>
          <p:cNvSpPr/>
          <p:nvPr/>
        </p:nvSpPr>
        <p:spPr>
          <a:xfrm>
            <a:off x="6775704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0568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Output embedding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512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External L2 normalization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17536" y="2423160"/>
            <a:ext cx="0" cy="301752"/>
          </a:xfrm>
          <a:prstGeom prst="line">
            <a:avLst/>
          </a:prstGeom>
          <a:ln w="1524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435608" y="2724912"/>
            <a:ext cx="6281928" cy="0"/>
          </a:xfrm>
          <a:prstGeom prst="line">
            <a:avLst/>
          </a:prstGeom>
          <a:ln w="1524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35608" y="2724912"/>
            <a:ext cx="0" cy="274320"/>
          </a:xfrm>
          <a:prstGeom prst="line">
            <a:avLst/>
          </a:prstGeom>
          <a:ln w="1524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35608" y="2843784"/>
            <a:ext cx="0" cy="155448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10800000">
            <a:off x="1394460" y="29580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E1: final block of stage 4 (layer4.2). E2: that block + embedding head. Earlier layers stay frozen.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E0 / E1 / E2: What Changes?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reference vectors and evaluation rule are identical; the trainable scope changes.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920240" cy="60350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Experiment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016" y="1234440"/>
            <a:ext cx="3995928" cy="60350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325880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Trainable layers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9944" y="1234440"/>
            <a:ext cx="2240280" cy="60350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325880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Trainable parameters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837944"/>
            <a:ext cx="192024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29384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E0 · pretrained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4016" y="1837944"/>
            <a:ext cx="3995928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929384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None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9944" y="1837944"/>
            <a:ext cx="224028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929384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441448"/>
            <a:ext cx="1920240" cy="60350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532888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E1 · block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4016" y="2441448"/>
            <a:ext cx="3995928" cy="60350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2532888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Final stage-4 residual block (layer4.2)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2441448"/>
            <a:ext cx="2240280" cy="60350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2532888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4,720,640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3044952"/>
            <a:ext cx="192024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136392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E2 · block + head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14016" y="3044952"/>
            <a:ext cx="3995928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3136392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Same block + BN / FC / final BN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9944" y="3044952"/>
            <a:ext cx="224028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3136392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17,568,256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" y="3794760"/>
            <a:ext cx="8156448" cy="80467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67912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Important distinction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187952"/>
            <a:ext cx="7863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The 20-vector training classifier is a fixed buffer—not a learned classification head.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20 training identities per fold; gradients affect only the selected E1 or E2 layers.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15</a:t>
            </a:r>
          </a:p>
        </p:txBody>
      </p:sp>
      <p:sp>
        <p:nvSpPr>
          <p:cNvPr id="7" name="Diagram node: Aligned crops"/>
          <p:cNvSpPr/>
          <p:nvPr/>
        </p:nvSpPr>
        <p:spPr>
          <a:xfrm>
            <a:off x="493776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Aligned crops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Training identities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Augment + normalize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2093976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46604" y="20528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ArcFace"/>
          <p:cNvSpPr/>
          <p:nvPr/>
        </p:nvSpPr>
        <p:spPr>
          <a:xfrm>
            <a:off x="2587752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ArcFace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Selected layers trainable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512-D L2 embeddings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62272" y="2093976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40580" y="20528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gram node: Cosine logits"/>
          <p:cNvSpPr/>
          <p:nvPr/>
        </p:nvSpPr>
        <p:spPr>
          <a:xfrm>
            <a:off x="4681728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Cosine logits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20 locked E0 references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Angular margin + scale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6248" y="2093976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734556" y="20528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gram node: Loss + update"/>
          <p:cNvSpPr/>
          <p:nvPr/>
        </p:nvSpPr>
        <p:spPr>
          <a:xfrm>
            <a:off x="6775704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ACA7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Loss +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Smoothed cross-entropy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AdamW on selected layers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3200400"/>
            <a:ext cx="3931920" cy="10789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73552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93592"/>
            <a:ext cx="3639312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All 30 gallery vectors; select by validation accuracy, then confidence gap.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200400"/>
            <a:ext cx="4032504" cy="10789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4024" y="3273552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Baseline is eligible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4024" y="3593592"/>
            <a:ext cx="3739896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Epoch 0 is a candidate. E2 keeps E0 on folds 3, 4 and 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Training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Same optimization schedule and data protocol for both fine-tuned configurations.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2103120" cy="438912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mo"/>
              </a:defRPr>
            </a:pPr>
            <a:r>
              <a:t>Setting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6896" y="1234440"/>
            <a:ext cx="6053328" cy="438912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1325880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mo"/>
              </a:defRPr>
            </a:pPr>
            <a:r>
              <a:t>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673352"/>
            <a:ext cx="2103120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64792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Optimizer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6896" y="1673352"/>
            <a:ext cx="6053328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1764792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AdamW · learning rate 3 × 10⁻⁵ · weight decay 10⁻⁴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112264"/>
            <a:ext cx="2103120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203704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2112264"/>
            <a:ext cx="6053328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203704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Cosine decay (Tmax = 20); maximum 20 epochs; patience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551176"/>
            <a:ext cx="2103120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642616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Batch / seed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96896" y="2551176"/>
            <a:ext cx="6053328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2642616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Train 32 · evaluation 64 · random seed 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2990088"/>
            <a:ext cx="2103120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081528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Classification loss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96896" y="2990088"/>
            <a:ext cx="6053328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081528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Scale 32; label smoothing 0.1; fixed benchmark classifier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3429000"/>
            <a:ext cx="2103120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520440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Angular margin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6896" y="3429000"/>
            <a:ext cx="6053328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0048" y="3520440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0 for epochs 1–2; ramp to 0.20 over epochs 3–6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867912"/>
            <a:ext cx="2103120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959352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Batch normalization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6896" y="3867912"/>
            <a:ext cx="6053328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0048" y="3959352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Running statistics stay frozen; selected affine terms may train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4443984"/>
            <a:ext cx="8156448" cy="25603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517136"/>
            <a:ext cx="786384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Augmentations: flip, down-up blur, Gaussian blur, noise, JPEG compression, brightness / contrast.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Inference &amp; Decision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Identical identification pipeline and acceptance threshold for all three configurations.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17</a:t>
            </a:r>
          </a:p>
        </p:txBody>
      </p:sp>
      <p:sp>
        <p:nvSpPr>
          <p:cNvPr id="7" name="Neutral inference panel: 1"/>
          <p:cNvSpPr/>
          <p:nvPr/>
        </p:nvSpPr>
        <p:spPr>
          <a:xfrm>
            <a:off x="329184" y="1197864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61872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16736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Face Detection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0623" y="1627632"/>
            <a:ext cx="2569465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53895" y="1728216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RetinaFace returns a face box and five landmarks.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rcRect l="3900" t="29800" r="83700" b="54400"/>
          <a:stretch>
            <a:fillRect/>
          </a:stretch>
        </p:blipFill>
        <p:spPr>
          <a:xfrm>
            <a:off x="438912" y="1764792"/>
            <a:ext cx="905256" cy="704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72384" y="1874519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14" name="Neutral inference panel: 2"/>
          <p:cNvSpPr/>
          <p:nvPr/>
        </p:nvSpPr>
        <p:spPr>
          <a:xfrm>
            <a:off x="3182112" y="1197864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2696" y="1261872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316736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Alignment &amp; Crop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73552" y="1627632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06824" y="1728216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Five landmarks align the face to a 112 × 112 RGB crop.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rcRect l="77200" t="31300" r="16600" b="57500"/>
          <a:stretch>
            <a:fillRect/>
          </a:stretch>
        </p:blipFill>
        <p:spPr>
          <a:xfrm>
            <a:off x="3291840" y="1764792"/>
            <a:ext cx="704088" cy="7040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91840" y="2450592"/>
            <a:ext cx="7315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03C80"/>
                </a:solidFill>
                <a:latin typeface="Arimo"/>
              </a:defRPr>
            </a:pPr>
            <a:r>
              <a:t>112 × 112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1874519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22" name="Neutral inference panel: 3"/>
          <p:cNvSpPr/>
          <p:nvPr/>
        </p:nvSpPr>
        <p:spPr>
          <a:xfrm>
            <a:off x="6035040" y="1197864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5624" y="1261872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1316736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Feature Extraction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0" y="1627632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59752" y="1728216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E0 or fold-specific E1 / E2 ArcFace produces 512 features.</a:t>
            </a:r>
          </a:p>
        </p:txBody>
      </p:sp>
      <p:sp>
        <p:nvSpPr>
          <p:cNvPr id="27" name="Diagram node: ArcFace"/>
          <p:cNvSpPr/>
          <p:nvPr/>
        </p:nvSpPr>
        <p:spPr>
          <a:xfrm>
            <a:off x="6126480" y="1783080"/>
            <a:ext cx="950976" cy="6492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1874520"/>
            <a:ext cx="841248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03C80"/>
                </a:solidFill>
                <a:latin typeface="Arimo"/>
              </a:defRPr>
            </a:pPr>
            <a:r>
              <a:t>ArcFace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1344" y="2258568"/>
            <a:ext cx="841248" cy="146303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1B1B27"/>
                </a:solidFill>
                <a:latin typeface="Arimo"/>
              </a:defRPr>
            </a:pPr>
            <a:r>
              <a:t>→ 512-D</a:t>
            </a:r>
          </a:p>
        </p:txBody>
      </p:sp>
      <p:sp>
        <p:nvSpPr>
          <p:cNvPr id="30" name="Neutral inference panel: 4"/>
          <p:cNvSpPr/>
          <p:nvPr/>
        </p:nvSpPr>
        <p:spPr>
          <a:xfrm>
            <a:off x="329184" y="2743200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2807208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862072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L2 Normalization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3" y="3172968"/>
            <a:ext cx="2569465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53895" y="3273552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Normalize the embedding to unit length. No rolling buffer.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3" y="3447288"/>
            <a:ext cx="960120" cy="4663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z / ‖z‖₂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2384" y="3419856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37" name="Neutral inference panel: 5"/>
          <p:cNvSpPr/>
          <p:nvPr/>
        </p:nvSpPr>
        <p:spPr>
          <a:xfrm>
            <a:off x="3182112" y="2743200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82696" y="2807208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2862072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Gallery Matching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73552" y="3172968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306824" y="3273552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Compare with all 30 locked pretrained gallery vectors.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4408" y="3383280"/>
            <a:ext cx="987552" cy="6492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512-D</a:t>
            </a:r>
          </a:p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×</a:t>
            </a:r>
          </a:p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30 vectors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5312" y="3419856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44" name="Neutral inference panel: 6"/>
          <p:cNvSpPr/>
          <p:nvPr/>
        </p:nvSpPr>
        <p:spPr>
          <a:xfrm>
            <a:off x="6035040" y="2743200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2807208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2862072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Decision Rule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126480" y="3172968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159752" y="3273552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Choose the top identity if cosine ≥ 0.30; else UNKNOWN.</a:t>
            </a:r>
          </a:p>
        </p:txBody>
      </p:sp>
      <p:sp>
        <p:nvSpPr>
          <p:cNvPr id="49" name="Diagram node: IDENTITY"/>
          <p:cNvSpPr/>
          <p:nvPr/>
        </p:nvSpPr>
        <p:spPr>
          <a:xfrm>
            <a:off x="6126480" y="3337560"/>
            <a:ext cx="950976" cy="256032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3374136"/>
            <a:ext cx="932688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B1B27"/>
                </a:solidFill>
                <a:latin typeface="Arimo"/>
              </a:defRPr>
            </a:pPr>
            <a:r>
              <a:t>IDENTITY</a:t>
            </a:r>
          </a:p>
        </p:txBody>
      </p:sp>
      <p:sp>
        <p:nvSpPr>
          <p:cNvPr id="51" name="Diagram node: UNKNOWN"/>
          <p:cNvSpPr/>
          <p:nvPr/>
        </p:nvSpPr>
        <p:spPr>
          <a:xfrm>
            <a:off x="6126480" y="3685032"/>
            <a:ext cx="950976" cy="256032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721608"/>
            <a:ext cx="932688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B1B27"/>
                </a:solidFill>
                <a:latin typeface="Arimo"/>
              </a:defRPr>
            </a:pPr>
            <a:r>
              <a:t>UNKNOWN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4361688"/>
            <a:ext cx="8156448" cy="310896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434840"/>
            <a:ext cx="78638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Correct = right identity AND cosine ≥ 0.30. All queries are enrolled people; UNKNOWN means rejection.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Main Results: Pooled Held-Out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5,818 queries across all six test folds; the report’s saved aggregate results.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00584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9616" y="1234440"/>
            <a:ext cx="150876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132588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8376" y="1234440"/>
            <a:ext cx="205740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32588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Macro 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5776" y="1234440"/>
            <a:ext cx="1847088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32588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Macro 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2864" y="1234440"/>
            <a:ext cx="173736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132588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Macro 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" y="1828800"/>
            <a:ext cx="100584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192024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9616" y="1828800"/>
            <a:ext cx="15087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192024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84.98%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8376" y="1828800"/>
            <a:ext cx="205740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1528" y="192024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100.00%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776" y="1828800"/>
            <a:ext cx="1847088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192024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85.12%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12864" y="1828800"/>
            <a:ext cx="17373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86016" y="192024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91.67%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2423160"/>
            <a:ext cx="100584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51460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99616" y="2423160"/>
            <a:ext cx="150876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72768" y="251460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86.18%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08376" y="2423160"/>
            <a:ext cx="205740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251460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99.72%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65776" y="2423160"/>
            <a:ext cx="1847088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251460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86.33%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12864" y="2423160"/>
            <a:ext cx="173736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6016" y="251460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92.15%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3017520"/>
            <a:ext cx="100584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10896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99616" y="3017520"/>
            <a:ext cx="15087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72768" y="310896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84.72%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08376" y="3017520"/>
            <a:ext cx="205740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81528" y="310896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96.43%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3017520"/>
            <a:ext cx="1847088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310896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84.87%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12864" y="3017520"/>
            <a:ext cx="17373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86016" y="310896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89.85%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" y="3767328"/>
            <a:ext cx="8156448" cy="80467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840480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Best configuration: E1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+1.20 percentage points over E0, with 4.72M trainable parameters. E2 is 0.26 points below E0.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Consistency Across Six Test Folds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E1 improves over E0 on every fold; E2 improves on only two test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19</a:t>
            </a:r>
          </a:p>
        </p:txBody>
      </p:sp>
      <p:pic>
        <p:nvPicPr>
          <p:cNvPr id="7" name="Picture 6" descr="fol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194612"/>
            <a:ext cx="8156448" cy="33532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Where E1 Helps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largest benefit is severe compound occlusion—not uniform improvement in every condition.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</a:t>
            </a:r>
          </a:p>
        </p:txBody>
      </p:sp>
      <p:pic>
        <p:nvPicPr>
          <p:cNvPr id="7" name="Picture 6" descr="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63" y="1124712"/>
            <a:ext cx="7740272" cy="31821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3776" y="4361688"/>
            <a:ext cx="8156448" cy="30175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7863840" cy="2103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Mask + sunglasses: 35.6% → 47.2% (+11.6 points). Scarf, mask, and clean-face results do not all improve.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Accuracy Alone Hides the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Lower rejection can come with more accepted wrong identities.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3657600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Outcome (count)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1376" y="1234440"/>
            <a:ext cx="1499616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1325880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1234440"/>
            <a:ext cx="1499616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24144" y="1325880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0607" y="1234440"/>
            <a:ext cx="1499616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1325880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1755648"/>
            <a:ext cx="3657600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847088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Accepted, correct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51376" y="1755648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1847088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4,944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50992" y="1755648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1847088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5,014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50607" y="1755648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1847088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4,929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2276856"/>
            <a:ext cx="3657600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368296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Rejected, correct argmax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1376" y="2276856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2368296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727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0992" y="2276856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24144" y="2368296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493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7" y="2276856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59" y="2368296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2798064"/>
            <a:ext cx="3657600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2889504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Rejected, wrong argmax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1376" y="2798064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4528" y="2889504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50992" y="2798064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24144" y="2889504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298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7" y="2798064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59" y="2889504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275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" y="3319272"/>
            <a:ext cx="3657600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410712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Accepted, wrong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51376" y="3319272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4528" y="3410712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50992" y="3319272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24144" y="3410712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50607" y="3319272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59" y="3410712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193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" y="3803904"/>
            <a:ext cx="8156448" cy="82296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877056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Interpretation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197096"/>
            <a:ext cx="78638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E2 accepts 193 wrong identities (3.32%), versus 13 (0.22%) for E1.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E1: Training &amp; Validation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Same axes: solid = training loss; dashed = validation loss; one colour per fold.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22</a:t>
            </a:r>
          </a:p>
        </p:txBody>
      </p:sp>
      <p:pic>
        <p:nvPicPr>
          <p:cNvPr id="7" name="Picture 6" descr="e1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24712"/>
            <a:ext cx="8115299" cy="32461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434840"/>
            <a:ext cx="7955279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Loss scales differ: training uses 20-class margin + smoothing; validation uses 30-class plain logits.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E2: Training &amp; Validation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Same axes: solid = training loss; dashed = validation loss; one colour per fold.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23</a:t>
            </a:r>
          </a:p>
        </p:txBody>
      </p:sp>
      <p:pic>
        <p:nvPicPr>
          <p:cNvPr id="7" name="Picture 6" descr="e2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24712"/>
            <a:ext cx="8115299" cy="32461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434840"/>
            <a:ext cx="7955279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Loss scales differ: training uses 20-class margin + smoothing; validation uses 30-class plain logits.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Why More Trainable Layers Did Not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block-only update is the strongest transfer configuration in this experiment.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6791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299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E1: 86.18%, improvements in all six folds.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E2: 84.72%, 193 accepted wrong labels.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Validation retained epoch 0 in three E2 folds.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The embedding FC matrix alone has ~12.85M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6791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Interpretation—not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299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With only 20 training people, the larger update may adapt too strongly to them.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A fixed pretrained gallery may amplify embedding-space drift.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These explanations need dedicated ablations; the measured conclusion is narrower.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Fine-tuning scope matters: increasing capacity does not guarantee better held-out identity transfer.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Related Work &amp;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Complementary precedents; their reported accuracies use different datasets and protocols.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920240" cy="64922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016" y="1234440"/>
            <a:ext cx="3063240" cy="64922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325880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Contribution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7256" y="1234440"/>
            <a:ext cx="3172968" cy="64922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0408" y="1325880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Relation to our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883664"/>
            <a:ext cx="1920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75104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Salari &amp; Rostami, 2016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4016" y="1883664"/>
            <a:ext cx="3063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975104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Pgu-Face partially covered-face dataset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256" y="1883664"/>
            <a:ext cx="3172968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0408" y="1975104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Collection precedent; broaden covering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532888"/>
            <a:ext cx="1920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624328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Chong et al., 2022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4016" y="2532888"/>
            <a:ext cx="3063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2624328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CNN features + SVM for masked faces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77256" y="2532888"/>
            <a:ext cx="3172968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0408" y="2624328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Different recognition pipeline and benchmark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3182112"/>
            <a:ext cx="1920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273552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Montero et al., 2022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14016" y="3182112"/>
            <a:ext cx="3063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3273552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Multi-task ArcFace for masked faces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7256" y="3182112"/>
            <a:ext cx="3172968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0408" y="3273552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Our study varies layer scope, not task losses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831335"/>
            <a:ext cx="1920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922775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Deng et al., 2019 / 2020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14016" y="3831335"/>
            <a:ext cx="3063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87168" y="3922775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ArcFace / RetinaFace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77256" y="3831335"/>
            <a:ext cx="3172968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8" y="3922775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Embedding and detection foundations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430682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37997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Our contribution: a documented local collection and a fixed-gallery, person-disjoint adaptation study.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Limitations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results describe this collection and protocol, not unrestricted real-world recognition.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307238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Data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423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Only 30 people; indoor, single-sitting capture.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Scarf coverage and some conditions are incomplete.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Same-identity duplicates remain.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Previously added digital coverings are not flagged individually.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Faces remain personal data despite pseudonyms.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307238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Evaluation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423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All test queries are enrolled identities; no unseen-stranger rejection benchmark.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Threshold 0.30 is fixed, not a deployment guarantee.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Gallery is locked to pretrained embeddings.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Consent is academic / non-commercial and withdrawable; access is not a public license.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A modest, targeted update gives the best measured transfer to held-out people.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389888"/>
            <a:ext cx="2633472" cy="13075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618488"/>
            <a:ext cx="245059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86.18%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21992"/>
            <a:ext cx="2450592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B1B27"/>
                </a:solidFill>
                <a:latin typeface="Arimo"/>
              </a:defRPr>
            </a:pPr>
            <a:r>
              <a:t>E1 pooled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5264" y="1389888"/>
            <a:ext cx="2633472" cy="13075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618488"/>
            <a:ext cx="245059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+1.20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221992"/>
            <a:ext cx="2450592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B1B27"/>
                </a:solidFill>
                <a:latin typeface="Arimo"/>
              </a:defRPr>
            </a:pPr>
            <a:r>
              <a:t>E1 improvement over E0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1389888"/>
            <a:ext cx="2633472" cy="13075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618488"/>
            <a:ext cx="245059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+11.6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221992"/>
            <a:ext cx="2450592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B1B27"/>
                </a:solidFill>
                <a:latin typeface="Arimo"/>
              </a:defRPr>
            </a:pPr>
            <a:r>
              <a:t>Mask + sunglasses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127248"/>
            <a:ext cx="7772400" cy="10698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The new dataset targets richer occlusion variation, not greater identity diversity.</a:t>
            </a:r>
          </a:p>
          <a:p>
            <a:pPr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Train the final ArcFace block; keep the gallery and early representation stable.</a:t>
            </a:r>
          </a:p>
          <a:p>
            <a:pPr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Next: independent sessions, more participants, and unseen-identity rejection tests.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References &amp;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Report-aligned sources and artifacts; original deck retained as the visual template.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61872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2"/>
              </a:rPr>
              <a:t>Salari &amp; Rostami · Pgu-Face · Data in Brief 9 (2016), 288–291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691639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3"/>
              </a:rPr>
              <a:t>Chong et al. · Masked Face Recognition Using SVM and CNN · ICoICT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121408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4"/>
              </a:rPr>
              <a:t>Montero et al. · Boosting Masked Face Recognition with Multi-Task ArcFace ·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551176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5"/>
              </a:rPr>
              <a:t>Deng et al. · ArcFace · CVPR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980944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6"/>
              </a:rPr>
              <a:t>Deng et al. · RetinaFace · CVPR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602736"/>
            <a:ext cx="78638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Project artifacts: final_technical_report.md, final.pdf, metadata/e1e2_person_folds.json, runs/e1e2/. Results reproduced from saved aggregates and histories.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325112"/>
            <a:ext cx="78638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rPr>
                <a:hlinkClick r:id="rId7"/>
              </a:rPr>
              <a:t>Open our dataset folder (Google Drive)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Appendix · E0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30 identity columns + R for rejection; held-out queries pooled across six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29</a:t>
            </a:r>
          </a:p>
        </p:txBody>
      </p:sp>
      <p:pic>
        <p:nvPicPr>
          <p:cNvPr id="7" name="Picture 6" descr="e0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1" y="1078992"/>
            <a:ext cx="4312957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Appendix · E1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30 identity columns + R for rejection; held-out queries pooled across six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30</a:t>
            </a:r>
          </a:p>
        </p:txBody>
      </p:sp>
      <p:pic>
        <p:nvPicPr>
          <p:cNvPr id="7" name="Picture 6" descr="e1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1" y="1078992"/>
            <a:ext cx="4312957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Appendix · E2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30 identity columns + R for rejection; held-out queries pooled across six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31</a:t>
            </a:r>
          </a:p>
        </p:txBody>
      </p:sp>
      <p:pic>
        <p:nvPicPr>
          <p:cNvPr id="7" name="Picture 6" descr="e2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1" y="1078992"/>
            <a:ext cx="4312957" cy="36118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3307</Words>
  <Application>Microsoft Office PowerPoint</Application>
  <PresentationFormat>On-screen Show (16:9)</PresentationFormat>
  <Paragraphs>632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Arimo</vt:lpstr>
      <vt:lpstr>Calibri</vt:lpstr>
      <vt:lpstr>Play</vt:lpstr>
      <vt:lpstr>Arial</vt:lpstr>
      <vt:lpstr>Courier New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Occlusion-Robust Face Identification — Current Project</dc:title>
  <cp:lastModifiedBy>DIP</cp:lastModifiedBy>
  <cp:revision>7</cp:revision>
  <dcterms:modified xsi:type="dcterms:W3CDTF">2026-09-08T07:11:37Z</dcterms:modified>
  <dc:subject>Person-disjoint six-fold evaluation of partial ArcFace fine-tuning</dc:subject>
  <dc:description>Updated from the supplied v4 deck; no demo or deployment slides.</dc:description>
</cp:coreProperties>
</file>