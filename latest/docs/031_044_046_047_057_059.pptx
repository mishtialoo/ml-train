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</p:sldIdLst>
  <p:sldSz cx="9144000" cy="5143500"/>
  <p:notesSz cx="5143500" cy="9144000"/>
  <p:embeddedFontLst>
    <p:embeddedFont>
      <p:font typeface="Arimo"/>
    </p:embeddedFont>
    <p:embeddedFont>
      <p:font typeface="Raleway"/>
      <p:regular r:id="rId35"/>
      <p:bold r:id="rId36"/>
      <p:italic r:id="rId37"/>
      <p:boldItalic r:id="rId38"/>
    </p:embeddedFont>
    <p:embeddedFont>
      <p:font typeface="Roboto"/>
      <p:regular r:id="rId39"/>
      <p:bold r:id="rId40"/>
      <p:italic r:id="rId41"/>
      <p:boldItalic r:id="rId42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font" Target="fonts/Font_1_Raleway_Regular.fntdata"/><Relationship Id="rId36" Type="http://schemas.openxmlformats.org/officeDocument/2006/relationships/font" Target="fonts/Font_2_Raleway_Bold.fntdata"/><Relationship Id="rId37" Type="http://schemas.openxmlformats.org/officeDocument/2006/relationships/font" Target="fonts/Font_3_Raleway_Italic.fntdata"/><Relationship Id="rId38" Type="http://schemas.openxmlformats.org/officeDocument/2006/relationships/font" Target="fonts/Font_4_Raleway_BoldItalic.fntdata"/><Relationship Id="rId39" Type="http://schemas.openxmlformats.org/officeDocument/2006/relationships/font" Target="fonts/Font_5_Roboto_Regular.fntdata"/><Relationship Id="rId40" Type="http://schemas.openxmlformats.org/officeDocument/2006/relationships/font" Target="fonts/Font_6_Roboto_Bold.fntdata"/><Relationship Id="rId41" Type="http://schemas.openxmlformats.org/officeDocument/2006/relationships/font" Target="fonts/Font_7_Roboto_Italic.fntdata"/><Relationship Id="rId42" Type="http://schemas.openxmlformats.org/officeDocument/2006/relationships/font" Target="fonts/Font_8_Roboto_BoldItalic.fntdata"/><Relationship Id="rId4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45B965B-B763-4265-93D5-70945B05537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7D6F1A-C83C-49EE-973F-0D4ED73E849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DBD7D6-D721-4F10-A25F-9A8D084B83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8ADE018-3473-429F-A68C-629CDA71C6F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E3C898D-AA2A-49F9-9D68-FBF66290D9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2B8D13A-2EDD-4A07-9CF0-F1536EED00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82103EC-2422-4CDB-ABB9-1C046FD251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E76AF5-8BDD-461C-B852-247E85FD4F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572A516-68CB-4B4F-BC36-F616A171FE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2BA616-880A-488D-9A0E-544092980F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69C4C39-2E7A-49EE-A2A6-83D9D04327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C8C1A2E-CD6D-447E-A9D1-E2DD772B6A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0226177-FEF2-48B3-BB84-1B01482B7E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09957EC-2873-4155-8235-1DD98637D3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698C66F-839A-45A8-B59B-D0995ABDA1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226901-50C1-4FB2-A6D8-1E67F0029C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EEF2C06-1286-46C0-B69D-4F9B9B519A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669F214-D2F9-4BDD-8AF8-B9ED07F7BE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766744A-3DF9-4822-AC0E-CD8EE571EE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70A0CBE-D61E-4028-8BEC-7A591D1A72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3CAA6D1-F0A8-440A-B0E8-ECB38DF6C2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FBF72C1-0020-4CA8-8EDA-7A12146E8C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23AA842-D634-4AF8-AFFF-CD505F9FFF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F379C4-19B8-413F-A101-60EBC75FAF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71CC31F-DD62-4212-AA8A-15EF205469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8AE18B0-84BB-4ABB-9287-E16A5CA8B2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54DF777-F210-4AC3-A429-038B326F07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FD7280B-F7FB-455F-93F8-EF6D4234C2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2A33BF1-492E-4699-A8BC-CF07DF897DA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538EA5C-B6F8-4807-ABC1-70FF43AD1A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D745314-754E-44EA-855E-4F4A9C76B3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57200" indent="-22860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Current project sources: final_technical_report.md and final.pdf. E0 frozen; E1 last residual block; E2 last block plus embedding head. Saved pooled results are authoritative. See References &amp; Reproduction for citations. Dataset comparison is task-specific; it is not a claim of universal superiority.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FFBD5ED-BCFE-4D4E-AD07-6714F3525A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;p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ECEC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Google Shape;12;p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FFFFF">
              <a:alpha val="9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Google Shape;13;p2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9080" y="4844520"/>
            <a:ext cx="107136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drive.google.com/drive/u/1/folders/1XN55OGpozy5Rhbs5QRFMatlCMTAo8sP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hyperlink" Target="https://doi.org/10.1016/j.dib.2016.09.002" TargetMode="External"/><Relationship Id="rId2" Type="http://schemas.openxmlformats.org/officeDocument/2006/relationships/hyperlink" Target="https://doi.org/10.1109/ICoICT55009.2022.9914874" TargetMode="External"/><Relationship Id="rId3" Type="http://schemas.openxmlformats.org/officeDocument/2006/relationships/hyperlink" Target="https://doi.org/10.1109/SITIS57111.2022.00042" TargetMode="External"/><Relationship Id="rId4" Type="http://schemas.openxmlformats.org/officeDocument/2006/relationships/hyperlink" Target="https://openaccess.thecvf.com/content_CVPR_2019/html/Deng_ArcFace_Additive_Angular_Margin_Loss_for_Deep_Face_Recognition_CVPR_2019_paper.html" TargetMode="External"/><Relationship Id="rId5" Type="http://schemas.openxmlformats.org/officeDocument/2006/relationships/hyperlink" Target="https://openaccess.thecvf.com/content_CVPR_2020/html/Deng_RetinaFace_Single-Shot_Multi-Level_Face_Localisation_in_the_Wild_CVPR_2020_paper.html" TargetMode="External"/><Relationship Id="rId6" Type="http://schemas.openxmlformats.org/officeDocument/2006/relationships/hyperlink" Target="https://drive.google.com/drive/u/1/folders/1XN55OGpozy5Rhbs5QRFMatlCMTAo8sPu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20;p4"/>
          <p:cNvSpPr/>
          <p:nvPr/>
        </p:nvSpPr>
        <p:spPr>
          <a:xfrm>
            <a:off x="0" y="0"/>
            <a:ext cx="3428640" cy="5143320"/>
          </a:xfrm>
          <a:prstGeom prst="rect">
            <a:avLst/>
          </a:prstGeom>
          <a:solidFill>
            <a:srgbClr val="E1E1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/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Google Shape;21;p4" descr="preencoded.png"/>
          <p:cNvPicPr/>
          <p:nvPr/>
        </p:nvPicPr>
        <p:blipFill>
          <a:blip r:embed="rId1"/>
          <a:stretch/>
        </p:blipFill>
        <p:spPr>
          <a:xfrm>
            <a:off x="70920" y="380160"/>
            <a:ext cx="3286800" cy="438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Google Shape;22;p4"/>
          <p:cNvSpPr/>
          <p:nvPr/>
        </p:nvSpPr>
        <p:spPr>
          <a:xfrm>
            <a:off x="3925080" y="502920"/>
            <a:ext cx="4722480" cy="12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4000"/>
              </a:lnSpc>
              <a:tabLst>
                <a:tab pos="0" algn="l"/>
              </a:tabLst>
            </a:pPr>
            <a:r>
              <a:rPr lang="en-US" sz="25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Occlusion-Robust Face Identification with Partially Fine-Tuned ArcFace</a:t>
            </a:r>
            <a:endParaRPr lang="en-US" sz="2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Google Shape;23;p4"/>
          <p:cNvSpPr/>
          <p:nvPr/>
        </p:nvSpPr>
        <p:spPr>
          <a:xfrm>
            <a:off x="3925080" y="1847160"/>
            <a:ext cx="47224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Machine Learning Laboratory — CSE 4112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Department of Computer Science &amp; Engineering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Khulna University of Engineering &amp; Technology (KUET)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3C3939"/>
                </a:solidFill>
                <a:effectLst/>
                <a:uFillTx/>
                <a:latin typeface="Roboto"/>
                <a:ea typeface="Roboto"/>
              </a:rPr>
              <a:t>20 September 2026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Google Shape;24;p4"/>
          <p:cNvSpPr/>
          <p:nvPr/>
        </p:nvSpPr>
        <p:spPr>
          <a:xfrm>
            <a:off x="7952040" y="4762440"/>
            <a:ext cx="1191600" cy="3805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highlight>
                <a:srgbClr val="FFFFFF"/>
              </a:highlight>
              <a:uFillTx/>
              <a:latin typeface="Arial"/>
            </a:endParaRPr>
          </a:p>
        </p:txBody>
      </p:sp>
      <p:sp>
        <p:nvSpPr>
          <p:cNvPr id="18" name="TextBox 24"/>
          <p:cNvSpPr/>
          <p:nvPr/>
        </p:nvSpPr>
        <p:spPr>
          <a:xfrm>
            <a:off x="3922920" y="2907720"/>
            <a:ext cx="4717800" cy="28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Team members (rolls)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Box 25"/>
          <p:cNvSpPr/>
          <p:nvPr/>
        </p:nvSpPr>
        <p:spPr>
          <a:xfrm>
            <a:off x="3940920" y="332856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2107031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Box 26"/>
          <p:cNvSpPr/>
          <p:nvPr/>
        </p:nvSpPr>
        <p:spPr>
          <a:xfrm>
            <a:off x="3940920" y="355716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2107044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Box 27"/>
          <p:cNvSpPr/>
          <p:nvPr/>
        </p:nvSpPr>
        <p:spPr>
          <a:xfrm>
            <a:off x="3940920" y="378576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2107046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Box 28"/>
          <p:cNvSpPr/>
          <p:nvPr/>
        </p:nvSpPr>
        <p:spPr>
          <a:xfrm>
            <a:off x="3940920" y="401436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2107047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Box 29"/>
          <p:cNvSpPr/>
          <p:nvPr/>
        </p:nvSpPr>
        <p:spPr>
          <a:xfrm>
            <a:off x="3940920" y="424296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2107057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Box 30"/>
          <p:cNvSpPr/>
          <p:nvPr/>
        </p:nvSpPr>
        <p:spPr>
          <a:xfrm>
            <a:off x="3940920" y="4471560"/>
            <a:ext cx="46630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2107059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Research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Does occlusion robustness transfer to identities never seen during fine-tuning?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28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01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Rounded Rectangle 6"/>
          <p:cNvSpPr/>
          <p:nvPr/>
        </p:nvSpPr>
        <p:spPr>
          <a:xfrm>
            <a:off x="493920" y="1261800"/>
            <a:ext cx="3931560" cy="266040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7"/>
          <p:cNvSpPr/>
          <p:nvPr/>
        </p:nvSpPr>
        <p:spPr>
          <a:xfrm>
            <a:off x="640080" y="1380600"/>
            <a:ext cx="3638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The task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8"/>
          <p:cNvSpPr/>
          <p:nvPr/>
        </p:nvSpPr>
        <p:spPr>
          <a:xfrm>
            <a:off x="640080" y="1865520"/>
            <a:ext cx="36388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Identify an enrolled person from an occluded face.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Compare three adaptation scopes using the same gallery and decision threshold.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 correct label below the threshold is still a rejection.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ounded Rectangle 9"/>
          <p:cNvSpPr/>
          <p:nvPr/>
        </p:nvSpPr>
        <p:spPr>
          <a:xfrm>
            <a:off x="4617720" y="1261800"/>
            <a:ext cx="4032000" cy="266040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10"/>
          <p:cNvSpPr/>
          <p:nvPr/>
        </p:nvSpPr>
        <p:spPr>
          <a:xfrm>
            <a:off x="4763880" y="1380600"/>
            <a:ext cx="3739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The experiment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1"/>
          <p:cNvSpPr/>
          <p:nvPr/>
        </p:nvSpPr>
        <p:spPr>
          <a:xfrm>
            <a:off x="4763880" y="1865520"/>
            <a:ext cx="37396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E0 · Frozen pretrained ArcFace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E1 · Fine-tune the final residual block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E2 · Fine-tune the block + embedding head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20 train / 5 validation / 5 test identities per fold.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ectangle 12"/>
          <p:cNvSpPr/>
          <p:nvPr/>
        </p:nvSpPr>
        <p:spPr>
          <a:xfrm>
            <a:off x="493920" y="4260960"/>
            <a:ext cx="8156160" cy="39276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" name="TextBox 13"/>
          <p:cNvSpPr/>
          <p:nvPr/>
        </p:nvSpPr>
        <p:spPr>
          <a:xfrm>
            <a:off x="640080" y="4334400"/>
            <a:ext cx="7863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Person-disjoint fine-tuning evaluation; all 30 identities remain enrolled in the gallery.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Dataset &amp; Occlusion Conditions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In-person capture, signed consent, pseudonymous identities p01–p30.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41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02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Rounded Rectangle 6"/>
          <p:cNvSpPr/>
          <p:nvPr/>
        </p:nvSpPr>
        <p:spPr>
          <a:xfrm>
            <a:off x="493920" y="1207080"/>
            <a:ext cx="1919880" cy="12250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" name="TextBox 7"/>
          <p:cNvSpPr/>
          <p:nvPr/>
        </p:nvSpPr>
        <p:spPr>
          <a:xfrm>
            <a:off x="567000" y="1353240"/>
            <a:ext cx="17737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2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30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Box 8"/>
          <p:cNvSpPr/>
          <p:nvPr/>
        </p:nvSpPr>
        <p:spPr>
          <a:xfrm>
            <a:off x="567000" y="183780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4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Identities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Box 9"/>
          <p:cNvSpPr/>
          <p:nvPr/>
        </p:nvSpPr>
        <p:spPr>
          <a:xfrm>
            <a:off x="539640" y="216720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6 collectors × 5 people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Rounded Rectangle 10"/>
          <p:cNvSpPr/>
          <p:nvPr/>
        </p:nvSpPr>
        <p:spPr>
          <a:xfrm>
            <a:off x="2560320" y="1207080"/>
            <a:ext cx="1919880" cy="12250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" name="TextBox 11"/>
          <p:cNvSpPr/>
          <p:nvPr/>
        </p:nvSpPr>
        <p:spPr>
          <a:xfrm>
            <a:off x="2633400" y="1353240"/>
            <a:ext cx="17737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2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6,000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12"/>
          <p:cNvSpPr/>
          <p:nvPr/>
        </p:nvSpPr>
        <p:spPr>
          <a:xfrm>
            <a:off x="2633400" y="183780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4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Raw images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Box 13"/>
          <p:cNvSpPr/>
          <p:nvPr/>
        </p:nvSpPr>
        <p:spPr>
          <a:xfrm>
            <a:off x="2606040" y="216720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200 per person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ounded Rectangle 14"/>
          <p:cNvSpPr/>
          <p:nvPr/>
        </p:nvSpPr>
        <p:spPr>
          <a:xfrm>
            <a:off x="4626720" y="1207080"/>
            <a:ext cx="1919880" cy="12250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15"/>
          <p:cNvSpPr/>
          <p:nvPr/>
        </p:nvSpPr>
        <p:spPr>
          <a:xfrm>
            <a:off x="4700160" y="1353240"/>
            <a:ext cx="17737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2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5,988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16"/>
          <p:cNvSpPr/>
          <p:nvPr/>
        </p:nvSpPr>
        <p:spPr>
          <a:xfrm>
            <a:off x="4700160" y="183780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4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Aligned crops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17"/>
          <p:cNvSpPr/>
          <p:nvPr/>
        </p:nvSpPr>
        <p:spPr>
          <a:xfrm>
            <a:off x="4672440" y="216720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99.8% detection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Rounded Rectangle 18"/>
          <p:cNvSpPr/>
          <p:nvPr/>
        </p:nvSpPr>
        <p:spPr>
          <a:xfrm>
            <a:off x="6693480" y="1207080"/>
            <a:ext cx="1919880" cy="12250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19"/>
          <p:cNvSpPr/>
          <p:nvPr/>
        </p:nvSpPr>
        <p:spPr>
          <a:xfrm>
            <a:off x="6766560" y="1353240"/>
            <a:ext cx="177372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2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8 × 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Box 20"/>
          <p:cNvSpPr/>
          <p:nvPr/>
        </p:nvSpPr>
        <p:spPr>
          <a:xfrm>
            <a:off x="6766560" y="1837800"/>
            <a:ext cx="1773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4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Conditions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21"/>
          <p:cNvSpPr/>
          <p:nvPr/>
        </p:nvSpPr>
        <p:spPr>
          <a:xfrm>
            <a:off x="6739200" y="2167200"/>
            <a:ext cx="1828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occlusion × lighting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Rounded Rectangle 22"/>
          <p:cNvSpPr/>
          <p:nvPr/>
        </p:nvSpPr>
        <p:spPr>
          <a:xfrm>
            <a:off x="493920" y="2642760"/>
            <a:ext cx="3931560" cy="14626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3"/>
          <p:cNvSpPr/>
          <p:nvPr/>
        </p:nvSpPr>
        <p:spPr>
          <a:xfrm>
            <a:off x="640080" y="2761560"/>
            <a:ext cx="3638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Capture protocol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4"/>
          <p:cNvSpPr/>
          <p:nvPr/>
        </p:nvSpPr>
        <p:spPr>
          <a:xfrm>
            <a:off x="640080" y="3246120"/>
            <a:ext cx="363888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Phone-camera collection in regular and low light. Single-sitting capture; indoor conditions.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Rounded Rectangle 25"/>
          <p:cNvSpPr/>
          <p:nvPr/>
        </p:nvSpPr>
        <p:spPr>
          <a:xfrm>
            <a:off x="4617720" y="2642760"/>
            <a:ext cx="4032000" cy="14626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6"/>
          <p:cNvSpPr/>
          <p:nvPr/>
        </p:nvSpPr>
        <p:spPr>
          <a:xfrm>
            <a:off x="4763880" y="2761560"/>
            <a:ext cx="3739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Evaluation pool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27"/>
          <p:cNvSpPr/>
          <p:nvPr/>
        </p:nvSpPr>
        <p:spPr>
          <a:xfrm>
            <a:off x="4763880" y="3246120"/>
            <a:ext cx="3739680" cy="81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5,818 queries after 170 gallery / near-burst exclusions. Fixed gallery: 30 identities.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8"/>
          <p:cNvSpPr/>
          <p:nvPr/>
        </p:nvSpPr>
        <p:spPr>
          <a:xfrm>
            <a:off x="548640" y="4352400"/>
            <a:ext cx="8092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Arimo"/>
                <a:ea typeface="Arial"/>
                <a:hlinkClick r:id="rId1"/>
              </a:rPr>
              <a:t>Dataset folder · consent and access restrictions still apply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Eight Occlusion Conditions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Representative participant images reused from the previous presentation.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69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6" descr="image.jpg"/>
          <p:cNvPicPr/>
          <p:nvPr/>
        </p:nvPicPr>
        <p:blipFill>
          <a:blip r:embed="rId1"/>
          <a:stretch/>
        </p:blipFill>
        <p:spPr>
          <a:xfrm>
            <a:off x="493920" y="1097280"/>
            <a:ext cx="1910880" cy="138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7" descr="image.jpg"/>
          <p:cNvPicPr/>
          <p:nvPr/>
        </p:nvPicPr>
        <p:blipFill>
          <a:blip r:embed="rId2"/>
          <a:stretch/>
        </p:blipFill>
        <p:spPr>
          <a:xfrm>
            <a:off x="2575800" y="1097280"/>
            <a:ext cx="1910880" cy="138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8" descr="image.jpg"/>
          <p:cNvPicPr/>
          <p:nvPr/>
        </p:nvPicPr>
        <p:blipFill>
          <a:blip r:embed="rId3"/>
          <a:stretch/>
        </p:blipFill>
        <p:spPr>
          <a:xfrm>
            <a:off x="4658040" y="1097280"/>
            <a:ext cx="1910880" cy="138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Picture 9" descr="image.jpg"/>
          <p:cNvPicPr/>
          <p:nvPr/>
        </p:nvPicPr>
        <p:blipFill>
          <a:blip r:embed="rId4"/>
          <a:stretch/>
        </p:blipFill>
        <p:spPr>
          <a:xfrm>
            <a:off x="6739920" y="1097280"/>
            <a:ext cx="1910880" cy="138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Picture 10" descr="image.jpg"/>
          <p:cNvPicPr/>
          <p:nvPr/>
        </p:nvPicPr>
        <p:blipFill>
          <a:blip r:embed="rId5"/>
          <a:stretch/>
        </p:blipFill>
        <p:spPr>
          <a:xfrm>
            <a:off x="493920" y="2935080"/>
            <a:ext cx="1910880" cy="138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Picture 11" descr="image.jpg"/>
          <p:cNvPicPr/>
          <p:nvPr/>
        </p:nvPicPr>
        <p:blipFill>
          <a:blip r:embed="rId6"/>
          <a:stretch/>
        </p:blipFill>
        <p:spPr>
          <a:xfrm>
            <a:off x="2575800" y="2935080"/>
            <a:ext cx="1910880" cy="138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Picture 12" descr="image.jpg"/>
          <p:cNvPicPr/>
          <p:nvPr/>
        </p:nvPicPr>
        <p:blipFill>
          <a:blip r:embed="rId7"/>
          <a:stretch/>
        </p:blipFill>
        <p:spPr>
          <a:xfrm>
            <a:off x="4658040" y="2935080"/>
            <a:ext cx="1910880" cy="1380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" name="Picture 13" descr="image.jpg"/>
          <p:cNvPicPr/>
          <p:nvPr/>
        </p:nvPicPr>
        <p:blipFill>
          <a:blip r:embed="rId8"/>
          <a:stretch/>
        </p:blipFill>
        <p:spPr>
          <a:xfrm>
            <a:off x="6739920" y="2935080"/>
            <a:ext cx="1910880" cy="138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14"/>
          <p:cNvSpPr/>
          <p:nvPr/>
        </p:nvSpPr>
        <p:spPr>
          <a:xfrm>
            <a:off x="493920" y="247788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/>
            <a:endParaRPr lang="en-US" sz="1100" b="1" u="none" strike="noStrike">
              <a:solidFill>
                <a:srgbClr val="1B1B27"/>
              </a:solidFill>
              <a:effectLst/>
              <a:uFillTx/>
              <a:latin typeface="Arimo"/>
            </a:endParaRPr>
          </a:p>
        </p:txBody>
      </p:sp>
      <p:sp>
        <p:nvSpPr>
          <p:cNvPr id="80" name="TextBox 15"/>
          <p:cNvSpPr/>
          <p:nvPr/>
        </p:nvSpPr>
        <p:spPr>
          <a:xfrm>
            <a:off x="493920" y="247788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None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6"/>
          <p:cNvSpPr/>
          <p:nvPr/>
        </p:nvSpPr>
        <p:spPr>
          <a:xfrm>
            <a:off x="2575800" y="247788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/>
            <a:endParaRPr lang="en-US" sz="1100" b="1" u="none" strike="noStrike">
              <a:solidFill>
                <a:srgbClr val="1B1B27"/>
              </a:solidFill>
              <a:effectLst/>
              <a:uFillTx/>
              <a:latin typeface="Arimo"/>
            </a:endParaRPr>
          </a:p>
        </p:txBody>
      </p:sp>
      <p:sp>
        <p:nvSpPr>
          <p:cNvPr id="82" name="TextBox 17"/>
          <p:cNvSpPr/>
          <p:nvPr/>
        </p:nvSpPr>
        <p:spPr>
          <a:xfrm>
            <a:off x="2575800" y="247788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Cap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8"/>
          <p:cNvSpPr/>
          <p:nvPr/>
        </p:nvSpPr>
        <p:spPr>
          <a:xfrm>
            <a:off x="4658040" y="247788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/>
            <a:endParaRPr lang="en-US" sz="1100" b="1" u="none" strike="noStrike">
              <a:solidFill>
                <a:srgbClr val="1B1B27"/>
              </a:solidFill>
              <a:effectLst/>
              <a:uFillTx/>
              <a:latin typeface="Arimo"/>
            </a:endParaRPr>
          </a:p>
        </p:txBody>
      </p:sp>
      <p:sp>
        <p:nvSpPr>
          <p:cNvPr id="84" name="TextBox 19"/>
          <p:cNvSpPr/>
          <p:nvPr/>
        </p:nvSpPr>
        <p:spPr>
          <a:xfrm>
            <a:off x="4658040" y="247788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Clear glasses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0"/>
          <p:cNvSpPr/>
          <p:nvPr/>
        </p:nvSpPr>
        <p:spPr>
          <a:xfrm>
            <a:off x="6739920" y="247788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/>
            <a:endParaRPr lang="en-US" sz="1100" b="1" u="none" strike="noStrike">
              <a:solidFill>
                <a:srgbClr val="1B1B27"/>
              </a:solidFill>
              <a:effectLst/>
              <a:uFillTx/>
              <a:latin typeface="Arimo"/>
            </a:endParaRPr>
          </a:p>
        </p:txBody>
      </p:sp>
      <p:sp>
        <p:nvSpPr>
          <p:cNvPr id="86" name="TextBox 21"/>
          <p:cNvSpPr/>
          <p:nvPr/>
        </p:nvSpPr>
        <p:spPr>
          <a:xfrm>
            <a:off x="6739920" y="247788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Sunglasses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2"/>
          <p:cNvSpPr/>
          <p:nvPr/>
        </p:nvSpPr>
        <p:spPr>
          <a:xfrm>
            <a:off x="493920" y="431604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/>
            <a:endParaRPr lang="en-US" sz="1100" b="1" u="none" strike="noStrike">
              <a:solidFill>
                <a:srgbClr val="1B1B27"/>
              </a:solidFill>
              <a:effectLst/>
              <a:uFillTx/>
              <a:latin typeface="Arimo"/>
            </a:endParaRPr>
          </a:p>
        </p:txBody>
      </p:sp>
      <p:sp>
        <p:nvSpPr>
          <p:cNvPr id="88" name="TextBox 23"/>
          <p:cNvSpPr/>
          <p:nvPr/>
        </p:nvSpPr>
        <p:spPr>
          <a:xfrm>
            <a:off x="493920" y="431604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Scarf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4"/>
          <p:cNvSpPr/>
          <p:nvPr/>
        </p:nvSpPr>
        <p:spPr>
          <a:xfrm>
            <a:off x="2575800" y="431604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/>
            <a:endParaRPr lang="en-US" sz="1100" b="1" u="none" strike="noStrike">
              <a:solidFill>
                <a:srgbClr val="1B1B27"/>
              </a:solidFill>
              <a:effectLst/>
              <a:uFillTx/>
              <a:latin typeface="Arimo"/>
            </a:endParaRPr>
          </a:p>
        </p:txBody>
      </p:sp>
      <p:sp>
        <p:nvSpPr>
          <p:cNvPr id="90" name="TextBox 25"/>
          <p:cNvSpPr/>
          <p:nvPr/>
        </p:nvSpPr>
        <p:spPr>
          <a:xfrm>
            <a:off x="2575800" y="431604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Mask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6"/>
          <p:cNvSpPr/>
          <p:nvPr/>
        </p:nvSpPr>
        <p:spPr>
          <a:xfrm>
            <a:off x="4658040" y="431604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/>
            <a:endParaRPr lang="en-US" sz="1100" b="1" u="none" strike="noStrike">
              <a:solidFill>
                <a:srgbClr val="1B1B27"/>
              </a:solidFill>
              <a:effectLst/>
              <a:uFillTx/>
              <a:latin typeface="Arimo"/>
            </a:endParaRPr>
          </a:p>
        </p:txBody>
      </p:sp>
      <p:sp>
        <p:nvSpPr>
          <p:cNvPr id="92" name="TextBox 27"/>
          <p:cNvSpPr/>
          <p:nvPr/>
        </p:nvSpPr>
        <p:spPr>
          <a:xfrm>
            <a:off x="4658040" y="431604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Mask + clear glasses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8"/>
          <p:cNvSpPr/>
          <p:nvPr/>
        </p:nvSpPr>
        <p:spPr>
          <a:xfrm>
            <a:off x="6739920" y="431604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/>
            <a:endParaRPr lang="en-US" sz="1100" b="1" u="none" strike="noStrike">
              <a:solidFill>
                <a:srgbClr val="1B1B27"/>
              </a:solidFill>
              <a:effectLst/>
              <a:uFillTx/>
              <a:latin typeface="Arimo"/>
            </a:endParaRPr>
          </a:p>
        </p:txBody>
      </p:sp>
      <p:sp>
        <p:nvSpPr>
          <p:cNvPr id="94" name="TextBox 29"/>
          <p:cNvSpPr/>
          <p:nvPr/>
        </p:nvSpPr>
        <p:spPr>
          <a:xfrm>
            <a:off x="6739920" y="4316040"/>
            <a:ext cx="1910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Mask + sunglasses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Why This Dataset?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Pgu-Face is the base dataset paper—not a directly comparable recognition benchmark.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98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6"/>
          <p:cNvSpPr/>
          <p:nvPr/>
        </p:nvSpPr>
        <p:spPr>
          <a:xfrm>
            <a:off x="493920" y="1234440"/>
            <a:ext cx="1874160" cy="4752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567000" y="1325880"/>
            <a:ext cx="1728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Property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8"/>
          <p:cNvSpPr/>
          <p:nvPr/>
        </p:nvSpPr>
        <p:spPr>
          <a:xfrm>
            <a:off x="2368440" y="1234440"/>
            <a:ext cx="2788560" cy="4752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9"/>
          <p:cNvSpPr/>
          <p:nvPr/>
        </p:nvSpPr>
        <p:spPr>
          <a:xfrm>
            <a:off x="2441520" y="1325880"/>
            <a:ext cx="264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Pgu-Face (2016)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10"/>
          <p:cNvSpPr/>
          <p:nvPr/>
        </p:nvSpPr>
        <p:spPr>
          <a:xfrm>
            <a:off x="5157360" y="1234440"/>
            <a:ext cx="3492720" cy="4752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5230440" y="1325880"/>
            <a:ext cx="3346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Our dataset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12"/>
          <p:cNvSpPr/>
          <p:nvPr/>
        </p:nvSpPr>
        <p:spPr>
          <a:xfrm>
            <a:off x="493920" y="1710000"/>
            <a:ext cx="1874160" cy="4752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3"/>
          <p:cNvSpPr/>
          <p:nvPr/>
        </p:nvSpPr>
        <p:spPr>
          <a:xfrm>
            <a:off x="567000" y="1801440"/>
            <a:ext cx="1728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Participants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4"/>
          <p:cNvSpPr/>
          <p:nvPr/>
        </p:nvSpPr>
        <p:spPr>
          <a:xfrm>
            <a:off x="2368440" y="1710000"/>
            <a:ext cx="2788560" cy="4752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2441520" y="1801440"/>
            <a:ext cx="264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224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6"/>
          <p:cNvSpPr/>
          <p:nvPr/>
        </p:nvSpPr>
        <p:spPr>
          <a:xfrm>
            <a:off x="5157360" y="1710000"/>
            <a:ext cx="3492720" cy="4752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5230440" y="1801440"/>
            <a:ext cx="3346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30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18"/>
          <p:cNvSpPr/>
          <p:nvPr/>
        </p:nvSpPr>
        <p:spPr>
          <a:xfrm>
            <a:off x="493920" y="2185560"/>
            <a:ext cx="1874160" cy="4752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19"/>
          <p:cNvSpPr/>
          <p:nvPr/>
        </p:nvSpPr>
        <p:spPr>
          <a:xfrm>
            <a:off x="567000" y="2277000"/>
            <a:ext cx="1728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Images / person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20"/>
          <p:cNvSpPr/>
          <p:nvPr/>
        </p:nvSpPr>
        <p:spPr>
          <a:xfrm>
            <a:off x="2368440" y="2185560"/>
            <a:ext cx="2788560" cy="4752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1"/>
          <p:cNvSpPr/>
          <p:nvPr/>
        </p:nvSpPr>
        <p:spPr>
          <a:xfrm>
            <a:off x="2441520" y="2277000"/>
            <a:ext cx="264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 (896 total)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22"/>
          <p:cNvSpPr/>
          <p:nvPr/>
        </p:nvSpPr>
        <p:spPr>
          <a:xfrm>
            <a:off x="5157360" y="2185560"/>
            <a:ext cx="3492720" cy="4752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3"/>
          <p:cNvSpPr/>
          <p:nvPr/>
        </p:nvSpPr>
        <p:spPr>
          <a:xfrm>
            <a:off x="5230440" y="2277000"/>
            <a:ext cx="3346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200 raw (6,000 total)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24"/>
          <p:cNvSpPr/>
          <p:nvPr/>
        </p:nvSpPr>
        <p:spPr>
          <a:xfrm>
            <a:off x="493920" y="2660760"/>
            <a:ext cx="1874160" cy="4752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25"/>
          <p:cNvSpPr/>
          <p:nvPr/>
        </p:nvSpPr>
        <p:spPr>
          <a:xfrm>
            <a:off x="567000" y="2752200"/>
            <a:ext cx="1728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Covering variation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26"/>
          <p:cNvSpPr/>
          <p:nvPr/>
        </p:nvSpPr>
        <p:spPr>
          <a:xfrm>
            <a:off x="2368440" y="2660760"/>
            <a:ext cx="2788560" cy="4752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7"/>
          <p:cNvSpPr/>
          <p:nvPr/>
        </p:nvSpPr>
        <p:spPr>
          <a:xfrm>
            <a:off x="2441520" y="2752200"/>
            <a:ext cx="264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Facial hair + sunglasses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28"/>
          <p:cNvSpPr/>
          <p:nvPr/>
        </p:nvSpPr>
        <p:spPr>
          <a:xfrm>
            <a:off x="5157360" y="2660760"/>
            <a:ext cx="3492720" cy="4752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9"/>
          <p:cNvSpPr/>
          <p:nvPr/>
        </p:nvSpPr>
        <p:spPr>
          <a:xfrm>
            <a:off x="5230440" y="2752200"/>
            <a:ext cx="3346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8 types, including compound masks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30"/>
          <p:cNvSpPr/>
          <p:nvPr/>
        </p:nvSpPr>
        <p:spPr>
          <a:xfrm>
            <a:off x="493920" y="3136320"/>
            <a:ext cx="1874160" cy="4752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31"/>
          <p:cNvSpPr/>
          <p:nvPr/>
        </p:nvSpPr>
        <p:spPr>
          <a:xfrm>
            <a:off x="567000" y="3227760"/>
            <a:ext cx="1728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Capture conditions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2"/>
          <p:cNvSpPr/>
          <p:nvPr/>
        </p:nvSpPr>
        <p:spPr>
          <a:xfrm>
            <a:off x="2368440" y="3136320"/>
            <a:ext cx="2788560" cy="4752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3"/>
          <p:cNvSpPr/>
          <p:nvPr/>
        </p:nvSpPr>
        <p:spPr>
          <a:xfrm>
            <a:off x="2441520" y="3227760"/>
            <a:ext cx="264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Up to 2 sessions, ≥6 days apart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34"/>
          <p:cNvSpPr/>
          <p:nvPr/>
        </p:nvSpPr>
        <p:spPr>
          <a:xfrm>
            <a:off x="5157360" y="3136320"/>
            <a:ext cx="3492720" cy="4752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35"/>
          <p:cNvSpPr/>
          <p:nvPr/>
        </p:nvSpPr>
        <p:spPr>
          <a:xfrm>
            <a:off x="5230440" y="3227760"/>
            <a:ext cx="3346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Regular + low light; one sitting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36"/>
          <p:cNvSpPr/>
          <p:nvPr/>
        </p:nvSpPr>
        <p:spPr>
          <a:xfrm>
            <a:off x="493920" y="3611880"/>
            <a:ext cx="1874160" cy="4752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37"/>
          <p:cNvSpPr/>
          <p:nvPr/>
        </p:nvSpPr>
        <p:spPr>
          <a:xfrm>
            <a:off x="567000" y="3703320"/>
            <a:ext cx="1728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Evaluation artifacts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38"/>
          <p:cNvSpPr/>
          <p:nvPr/>
        </p:nvSpPr>
        <p:spPr>
          <a:xfrm>
            <a:off x="2368440" y="3611880"/>
            <a:ext cx="2788560" cy="4752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9"/>
          <p:cNvSpPr/>
          <p:nvPr/>
        </p:nvSpPr>
        <p:spPr>
          <a:xfrm>
            <a:off x="2441520" y="3703320"/>
            <a:ext cx="2642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Partially covered-face collection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40"/>
          <p:cNvSpPr/>
          <p:nvPr/>
        </p:nvSpPr>
        <p:spPr>
          <a:xfrm>
            <a:off x="5157360" y="3611880"/>
            <a:ext cx="3492720" cy="4752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1"/>
          <p:cNvSpPr/>
          <p:nvPr/>
        </p:nvSpPr>
        <p:spPr>
          <a:xfrm>
            <a:off x="5230440" y="3703320"/>
            <a:ext cx="3346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112 × 112 crops, labels, six-fold split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42"/>
          <p:cNvSpPr/>
          <p:nvPr/>
        </p:nvSpPr>
        <p:spPr>
          <a:xfrm>
            <a:off x="493920" y="4251960"/>
            <a:ext cx="8156160" cy="39276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43"/>
          <p:cNvSpPr/>
          <p:nvPr/>
        </p:nvSpPr>
        <p:spPr>
          <a:xfrm>
            <a:off x="640080" y="4325040"/>
            <a:ext cx="7863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More within-person variation and coverings; fewer identities and no across-session evaluation.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Different—and Better for This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Broader occlusion stress testing, rather than a claim of universally better data.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141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05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6"/>
          <p:cNvSpPr/>
          <p:nvPr/>
        </p:nvSpPr>
        <p:spPr>
          <a:xfrm>
            <a:off x="493920" y="1261800"/>
            <a:ext cx="3931560" cy="277020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640080" y="1380600"/>
            <a:ext cx="3638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What the new data enables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640080" y="1865520"/>
            <a:ext cx="3638880" cy="21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~6.7× as many raw images overall.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50× as many captures per identity.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Mask + glasses combinations probe severe, compound occlusion.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Two light levels and condition labels support targeted error analysis.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9"/>
          <p:cNvSpPr/>
          <p:nvPr/>
        </p:nvSpPr>
        <p:spPr>
          <a:xfrm>
            <a:off x="4617720" y="1261800"/>
            <a:ext cx="4032000" cy="277020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10"/>
          <p:cNvSpPr/>
          <p:nvPr/>
        </p:nvSpPr>
        <p:spPr>
          <a:xfrm>
            <a:off x="4763880" y="1380600"/>
            <a:ext cx="3739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What Pgu-Face still offers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1"/>
          <p:cNvSpPr/>
          <p:nvPr/>
        </p:nvSpPr>
        <p:spPr>
          <a:xfrm>
            <a:off x="4763880" y="1865520"/>
            <a:ext cx="3739680" cy="21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224 identities versus our 30: greater identity diversity.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Separated capture sessions probe time-related change.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Different data and protocols mean published accuracies cannot be ranked directly.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12"/>
          <p:cNvSpPr/>
          <p:nvPr/>
        </p:nvSpPr>
        <p:spPr>
          <a:xfrm>
            <a:off x="493920" y="4260960"/>
            <a:ext cx="8156160" cy="39276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3"/>
          <p:cNvSpPr/>
          <p:nvPr/>
        </p:nvSpPr>
        <p:spPr>
          <a:xfrm>
            <a:off x="640080" y="4334400"/>
            <a:ext cx="7863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The advantage is alignment with our occlusion-transfer study—not broader population coverage.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Curation, Quality &amp; Provenance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Retain the documented dataset; disclose limitations rather than inventing cleanup counts.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154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6"/>
          <p:cNvSpPr/>
          <p:nvPr/>
        </p:nvSpPr>
        <p:spPr>
          <a:xfrm>
            <a:off x="493920" y="1261800"/>
            <a:ext cx="3931560" cy="27244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640080" y="1380600"/>
            <a:ext cx="3638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Processing checks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640080" y="1865520"/>
            <a:ext cx="3638880" cy="20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12 raw images failed detection.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5,988 crops: 3,050 regular / 2,938 low light.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429 duplicate MD5 occurrences retained, all within the same identity.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Person-disjoint folds keep a person’s copies together.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9"/>
          <p:cNvSpPr/>
          <p:nvPr/>
        </p:nvSpPr>
        <p:spPr>
          <a:xfrm>
            <a:off x="4617720" y="1261800"/>
            <a:ext cx="4032000" cy="27244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4763880" y="1380600"/>
            <a:ext cx="3739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Coverage &amp; consent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1"/>
          <p:cNvSpPr/>
          <p:nvPr/>
        </p:nvSpPr>
        <p:spPr>
          <a:xfrm>
            <a:off x="4763880" y="1865520"/>
            <a:ext cx="3739680" cy="207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Scarf coverage: 24 of 30 people; some other condition gaps.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 small, unflagged digitally added covering subset was reported previously.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Academic, non-commercial, withdrawable consent; faces are still identifiable.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ectangle 12"/>
          <p:cNvSpPr/>
          <p:nvPr/>
        </p:nvSpPr>
        <p:spPr>
          <a:xfrm>
            <a:off x="493920" y="4260960"/>
            <a:ext cx="8156160" cy="39276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640080" y="4334400"/>
            <a:ext cx="7863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No claim of perfectly balanced coverage, fully natural coverings, or an unrestricted public license.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Detection Failures: Actual Examples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Five documented rejected raw images: examples 1, 2, 5, 6 and 7 from the report.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66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167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Picture 6" descr="retinaface_rejected.png"/>
          <p:cNvPicPr/>
          <p:nvPr/>
        </p:nvPicPr>
        <p:blipFill>
          <a:blip r:embed="rId1"/>
          <a:stretch/>
        </p:blipFill>
        <p:spPr>
          <a:xfrm>
            <a:off x="731520" y="1280160"/>
            <a:ext cx="7680600" cy="2559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Rectangle 7"/>
          <p:cNvSpPr/>
          <p:nvPr/>
        </p:nvSpPr>
        <p:spPr>
          <a:xfrm>
            <a:off x="493920" y="4260960"/>
            <a:ext cx="8156160" cy="39276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8"/>
          <p:cNvSpPr/>
          <p:nvPr/>
        </p:nvSpPr>
        <p:spPr>
          <a:xfrm>
            <a:off x="640080" y="4334400"/>
            <a:ext cx="7863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RetinaFace detects 5,988 of 6,000 raw images. These failures never enter the recognition evaluation.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Preprocessing Pipeline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Frozen RetinaFace detection and landmark alignment produce the recognizer’s inputs.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4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175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Diagram node: Raw photo"/>
          <p:cNvSpPr/>
          <p:nvPr/>
        </p:nvSpPr>
        <p:spPr>
          <a:xfrm>
            <a:off x="493920" y="1691640"/>
            <a:ext cx="1874160" cy="123408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7"/>
          <p:cNvSpPr/>
          <p:nvPr/>
        </p:nvSpPr>
        <p:spPr>
          <a:xfrm>
            <a:off x="548640" y="178308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Raw photo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8"/>
          <p:cNvSpPr/>
          <p:nvPr/>
        </p:nvSpPr>
        <p:spPr>
          <a:xfrm>
            <a:off x="548640" y="2167200"/>
            <a:ext cx="176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Read orientation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RGB image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0" name="Connector 9"/>
          <p:cNvCxnSpPr/>
          <p:nvPr/>
        </p:nvCxnSpPr>
        <p:spPr>
          <a:xfrm>
            <a:off x="2368080" y="2313360"/>
            <a:ext cx="21060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181" name="Isosceles Triangle 10"/>
          <p:cNvSpPr/>
          <p:nvPr/>
        </p:nvSpPr>
        <p:spPr>
          <a:xfrm rot="5400000">
            <a:off x="2537640" y="227232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2" name="Diagram node: RetinaFace"/>
          <p:cNvSpPr/>
          <p:nvPr/>
        </p:nvSpPr>
        <p:spPr>
          <a:xfrm>
            <a:off x="2587680" y="1691640"/>
            <a:ext cx="1874160" cy="1234080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12"/>
          <p:cNvSpPr/>
          <p:nvPr/>
        </p:nvSpPr>
        <p:spPr>
          <a:xfrm>
            <a:off x="2642760" y="178308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RetinaFace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13"/>
          <p:cNvSpPr/>
          <p:nvPr/>
        </p:nvSpPr>
        <p:spPr>
          <a:xfrm>
            <a:off x="2642760" y="2167200"/>
            <a:ext cx="176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Face box + score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5 landmarks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5" name="Connector 14"/>
          <p:cNvCxnSpPr/>
          <p:nvPr/>
        </p:nvCxnSpPr>
        <p:spPr>
          <a:xfrm>
            <a:off x="4462200" y="2313360"/>
            <a:ext cx="21060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186" name="Isosceles Triangle 15"/>
          <p:cNvSpPr/>
          <p:nvPr/>
        </p:nvSpPr>
        <p:spPr>
          <a:xfrm rot="5400000">
            <a:off x="4631760" y="227232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7" name="Diagram node: Alignment"/>
          <p:cNvSpPr/>
          <p:nvPr/>
        </p:nvSpPr>
        <p:spPr>
          <a:xfrm>
            <a:off x="4681800" y="1691640"/>
            <a:ext cx="1874160" cy="1234080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7"/>
          <p:cNvSpPr/>
          <p:nvPr/>
        </p:nvSpPr>
        <p:spPr>
          <a:xfrm>
            <a:off x="4736520" y="178308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Alignment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8"/>
          <p:cNvSpPr/>
          <p:nvPr/>
        </p:nvSpPr>
        <p:spPr>
          <a:xfrm>
            <a:off x="4736520" y="2167200"/>
            <a:ext cx="176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Similarity transform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112 × 112 RGB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0" name="Connector 19"/>
          <p:cNvCxnSpPr/>
          <p:nvPr/>
        </p:nvCxnSpPr>
        <p:spPr>
          <a:xfrm>
            <a:off x="6555960" y="2313360"/>
            <a:ext cx="2109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191" name="Isosceles Triangle 20"/>
          <p:cNvSpPr/>
          <p:nvPr/>
        </p:nvSpPr>
        <p:spPr>
          <a:xfrm rot="5400000">
            <a:off x="6725520" y="227232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2" name="Diagram node: Manifest"/>
          <p:cNvSpPr/>
          <p:nvPr/>
        </p:nvSpPr>
        <p:spPr>
          <a:xfrm>
            <a:off x="6775560" y="1691640"/>
            <a:ext cx="1874160" cy="123408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2"/>
          <p:cNvSpPr/>
          <p:nvPr/>
        </p:nvSpPr>
        <p:spPr>
          <a:xfrm>
            <a:off x="6830640" y="178308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Manifest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23"/>
          <p:cNvSpPr/>
          <p:nvPr/>
        </p:nvSpPr>
        <p:spPr>
          <a:xfrm>
            <a:off x="6830640" y="2167200"/>
            <a:ext cx="1764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Identity, covering, light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Crop + quality fields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24"/>
          <p:cNvSpPr/>
          <p:nvPr/>
        </p:nvSpPr>
        <p:spPr>
          <a:xfrm>
            <a:off x="493920" y="3337560"/>
            <a:ext cx="8156160" cy="83160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25"/>
          <p:cNvSpPr/>
          <p:nvPr/>
        </p:nvSpPr>
        <p:spPr>
          <a:xfrm>
            <a:off x="640080" y="3410640"/>
            <a:ext cx="7863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Recognition normalization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26"/>
          <p:cNvSpPr/>
          <p:nvPr/>
        </p:nvSpPr>
        <p:spPr>
          <a:xfrm>
            <a:off x="640080" y="3730680"/>
            <a:ext cx="786348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(pixel − 127.5) / 127.5; channel-first tensor N × 3 × 112 × 112.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Person-Disjoint Six-Fold Evaluation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Seed 42 · 20 train identities, 5 validation identities, 5 held-out test identities per fold.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0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201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Picture 6" descr="fold_assignment.png"/>
          <p:cNvPicPr/>
          <p:nvPr/>
        </p:nvPicPr>
        <p:blipFill>
          <a:blip r:embed="rId1"/>
          <a:stretch/>
        </p:blipFill>
        <p:spPr>
          <a:xfrm>
            <a:off x="1152360" y="1161360"/>
            <a:ext cx="6838920" cy="324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Box 7"/>
          <p:cNvSpPr/>
          <p:nvPr/>
        </p:nvSpPr>
        <p:spPr>
          <a:xfrm>
            <a:off x="594360" y="4471560"/>
            <a:ext cx="7954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Every identity is tested once. Validation uses the next five-person block cyclically.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One Fixed Gallery, Fair Comparisons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Enrollment is not fine-tuning: held-out test identities have a gallery reference only.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7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208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Rounded Rectangle 6"/>
          <p:cNvSpPr/>
          <p:nvPr/>
        </p:nvSpPr>
        <p:spPr>
          <a:xfrm>
            <a:off x="493920" y="1261800"/>
            <a:ext cx="3931560" cy="269712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7"/>
          <p:cNvSpPr/>
          <p:nvPr/>
        </p:nvSpPr>
        <p:spPr>
          <a:xfrm>
            <a:off x="640080" y="1380600"/>
            <a:ext cx="3638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Build once with E0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8"/>
          <p:cNvSpPr/>
          <p:nvPr/>
        </p:nvSpPr>
        <p:spPr>
          <a:xfrm>
            <a:off x="640080" y="1865520"/>
            <a:ext cx="3638880" cy="20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Choose the highest-detection-score “none” crop per identity.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Compute and L2-normalize its pretrained 512-D embedding.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Lock these 30 reference vectors across E0, E1, and E2.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9"/>
          <p:cNvSpPr/>
          <p:nvPr/>
        </p:nvSpPr>
        <p:spPr>
          <a:xfrm>
            <a:off x="4617720" y="1261800"/>
            <a:ext cx="4032000" cy="269712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0"/>
          <p:cNvSpPr/>
          <p:nvPr/>
        </p:nvSpPr>
        <p:spPr>
          <a:xfrm>
            <a:off x="4763880" y="1380600"/>
            <a:ext cx="3739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Prevent shortcut evaluation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11"/>
          <p:cNvSpPr/>
          <p:nvPr/>
        </p:nvSpPr>
        <p:spPr>
          <a:xfrm>
            <a:off x="4763880" y="1865520"/>
            <a:ext cx="3739680" cy="204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Exclude gallery photos and near-burst queries (170 images total).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Fine-tuning uses only the 20 training identities’ fixed vectors.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4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Validation and testing match against all 30 gallery identities.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12"/>
          <p:cNvSpPr/>
          <p:nvPr/>
        </p:nvSpPr>
        <p:spPr>
          <a:xfrm>
            <a:off x="493920" y="4260960"/>
            <a:ext cx="8156160" cy="39276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13"/>
          <p:cNvSpPr/>
          <p:nvPr/>
        </p:nvSpPr>
        <p:spPr>
          <a:xfrm>
            <a:off x="640080" y="4334400"/>
            <a:ext cx="7863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5,818 pooled test queries. No held-out person contributes fine-tuning gradients.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Two Models, Two Distinct Roles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Detector stays frozen. Only selected ArcFace recognition layers are adapted.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221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Diagram node: 1 · RetinaFace"/>
          <p:cNvSpPr/>
          <p:nvPr/>
        </p:nvSpPr>
        <p:spPr>
          <a:xfrm>
            <a:off x="640080" y="1554480"/>
            <a:ext cx="3382920" cy="164556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7"/>
          <p:cNvSpPr/>
          <p:nvPr/>
        </p:nvSpPr>
        <p:spPr>
          <a:xfrm>
            <a:off x="694800" y="1645920"/>
            <a:ext cx="3273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1 · RetinaFace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8"/>
          <p:cNvSpPr/>
          <p:nvPr/>
        </p:nvSpPr>
        <p:spPr>
          <a:xfrm>
            <a:off x="694800" y="2030040"/>
            <a:ext cx="32731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Raw RGB → box, score, 5 landmarks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4,225,835 parameters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Detection and alignment only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26" name="Connector 9"/>
          <p:cNvCxnSpPr/>
          <p:nvPr/>
        </p:nvCxnSpPr>
        <p:spPr>
          <a:xfrm>
            <a:off x="4023360" y="2377440"/>
            <a:ext cx="86904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27" name="Isosceles Triangle 10"/>
          <p:cNvSpPr/>
          <p:nvPr/>
        </p:nvSpPr>
        <p:spPr>
          <a:xfrm rot="5400000">
            <a:off x="4851000" y="233640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8" name="Diagram node: 2 · ArcFace / iResNet-50"/>
          <p:cNvSpPr/>
          <p:nvPr/>
        </p:nvSpPr>
        <p:spPr>
          <a:xfrm>
            <a:off x="4892040" y="1554480"/>
            <a:ext cx="3611520" cy="164556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2"/>
          <p:cNvSpPr/>
          <p:nvPr/>
        </p:nvSpPr>
        <p:spPr>
          <a:xfrm>
            <a:off x="4946760" y="1645920"/>
            <a:ext cx="3501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6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2 · ArcFace / iResNet-50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3"/>
          <p:cNvSpPr/>
          <p:nvPr/>
        </p:nvSpPr>
        <p:spPr>
          <a:xfrm>
            <a:off x="4946760" y="2030040"/>
            <a:ext cx="35017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Aligned RGB → 512-D embedding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43,590,976 parameters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Fixed-gallery cosine identification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14"/>
          <p:cNvSpPr/>
          <p:nvPr/>
        </p:nvSpPr>
        <p:spPr>
          <a:xfrm>
            <a:off x="493920" y="3977640"/>
            <a:ext cx="8156160" cy="39276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640080" y="4050720"/>
            <a:ext cx="7863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The following diagrams reflect the exported model graphs used in the report.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RetinaFace: Actual Architecture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Frozen det_10g.onnx · typical detector input 1 × 3 × 640 × 640 RGB.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5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236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Diagram node: Input RGB"/>
          <p:cNvSpPr/>
          <p:nvPr/>
        </p:nvSpPr>
        <p:spPr>
          <a:xfrm>
            <a:off x="493920" y="1993320"/>
            <a:ext cx="1096920" cy="123408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7"/>
          <p:cNvSpPr/>
          <p:nvPr/>
        </p:nvSpPr>
        <p:spPr>
          <a:xfrm>
            <a:off x="548640" y="2084760"/>
            <a:ext cx="987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Input RGB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8"/>
          <p:cNvSpPr/>
          <p:nvPr/>
        </p:nvSpPr>
        <p:spPr>
          <a:xfrm>
            <a:off x="548640" y="2468880"/>
            <a:ext cx="987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640 × 640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Dynamic H, 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Diagram node: Backbone"/>
          <p:cNvSpPr/>
          <p:nvPr/>
        </p:nvSpPr>
        <p:spPr>
          <a:xfrm>
            <a:off x="1819800" y="1993320"/>
            <a:ext cx="1234080" cy="12340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0"/>
          <p:cNvSpPr/>
          <p:nvPr/>
        </p:nvSpPr>
        <p:spPr>
          <a:xfrm>
            <a:off x="1874520" y="2084760"/>
            <a:ext cx="112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Backbone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11"/>
          <p:cNvSpPr/>
          <p:nvPr/>
        </p:nvSpPr>
        <p:spPr>
          <a:xfrm>
            <a:off x="1874520" y="2468880"/>
            <a:ext cx="1124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Convolutional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features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4" name="Connector 12"/>
          <p:cNvCxnSpPr/>
          <p:nvPr/>
        </p:nvCxnSpPr>
        <p:spPr>
          <a:xfrm>
            <a:off x="1590840" y="2606040"/>
            <a:ext cx="2289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45" name="Isosceles Triangle 13"/>
          <p:cNvSpPr/>
          <p:nvPr/>
        </p:nvSpPr>
        <p:spPr>
          <a:xfrm rot="5400000">
            <a:off x="1778760" y="256500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6" name="Diagram node: 3-level FPN"/>
          <p:cNvSpPr/>
          <p:nvPr/>
        </p:nvSpPr>
        <p:spPr>
          <a:xfrm>
            <a:off x="3282840" y="1993320"/>
            <a:ext cx="1188360" cy="123408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5"/>
          <p:cNvSpPr/>
          <p:nvPr/>
        </p:nvSpPr>
        <p:spPr>
          <a:xfrm>
            <a:off x="3337560" y="2084760"/>
            <a:ext cx="1078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3-level FPN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6"/>
          <p:cNvSpPr/>
          <p:nvPr/>
        </p:nvSpPr>
        <p:spPr>
          <a:xfrm>
            <a:off x="3337560" y="2468880"/>
            <a:ext cx="1078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Multi-scale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fusion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9" name="Connector 17"/>
          <p:cNvCxnSpPr/>
          <p:nvPr/>
        </p:nvCxnSpPr>
        <p:spPr>
          <a:xfrm>
            <a:off x="3053880" y="2606040"/>
            <a:ext cx="2289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50" name="Isosceles Triangle 18"/>
          <p:cNvSpPr/>
          <p:nvPr/>
        </p:nvSpPr>
        <p:spPr>
          <a:xfrm rot="5400000">
            <a:off x="3241800" y="256500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251" name="Connector 19"/>
          <p:cNvCxnSpPr/>
          <p:nvPr/>
        </p:nvCxnSpPr>
        <p:spPr>
          <a:xfrm>
            <a:off x="4471200" y="2606040"/>
            <a:ext cx="119160" cy="36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cxnSp>
        <p:nvCxnSpPr>
          <p:cNvPr id="252" name="Connector 20"/>
          <p:cNvCxnSpPr/>
          <p:nvPr/>
        </p:nvCxnSpPr>
        <p:spPr>
          <a:xfrm>
            <a:off x="4590000" y="1719000"/>
            <a:ext cx="360" cy="197532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sp>
        <p:nvSpPr>
          <p:cNvPr id="253" name="Diagram node: P3 · stride 8"/>
          <p:cNvSpPr/>
          <p:nvPr/>
        </p:nvSpPr>
        <p:spPr>
          <a:xfrm>
            <a:off x="4700160" y="1280160"/>
            <a:ext cx="1737000" cy="8773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2"/>
          <p:cNvSpPr/>
          <p:nvPr/>
        </p:nvSpPr>
        <p:spPr>
          <a:xfrm>
            <a:off x="4754880" y="1344240"/>
            <a:ext cx="1627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P3 · stride 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23"/>
          <p:cNvSpPr/>
          <p:nvPr/>
        </p:nvSpPr>
        <p:spPr>
          <a:xfrm>
            <a:off x="4754880" y="1618560"/>
            <a:ext cx="16272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80 × 80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6" name="Connector 24"/>
          <p:cNvCxnSpPr/>
          <p:nvPr/>
        </p:nvCxnSpPr>
        <p:spPr>
          <a:xfrm>
            <a:off x="4590000" y="1719000"/>
            <a:ext cx="1101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57" name="Isosceles Triangle 25"/>
          <p:cNvSpPr/>
          <p:nvPr/>
        </p:nvSpPr>
        <p:spPr>
          <a:xfrm rot="5400000">
            <a:off x="4659120" y="167796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258" name="Connector 26"/>
          <p:cNvCxnSpPr/>
          <p:nvPr/>
        </p:nvCxnSpPr>
        <p:spPr>
          <a:xfrm>
            <a:off x="6437160" y="1719000"/>
            <a:ext cx="25632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59" name="Isosceles Triangle 27"/>
          <p:cNvSpPr/>
          <p:nvPr/>
        </p:nvSpPr>
        <p:spPr>
          <a:xfrm rot="5400000">
            <a:off x="6652440" y="167796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0" name="Diagram node: P3 · stride 8 outputs"/>
          <p:cNvSpPr/>
          <p:nvPr/>
        </p:nvSpPr>
        <p:spPr>
          <a:xfrm>
            <a:off x="6693480" y="1280160"/>
            <a:ext cx="1956600" cy="87732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9"/>
          <p:cNvSpPr/>
          <p:nvPr/>
        </p:nvSpPr>
        <p:spPr>
          <a:xfrm>
            <a:off x="6748200" y="1362600"/>
            <a:ext cx="1846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Face scores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Bounding boxes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Five facial landmarks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Diagram node: P4 · stride 16"/>
          <p:cNvSpPr/>
          <p:nvPr/>
        </p:nvSpPr>
        <p:spPr>
          <a:xfrm>
            <a:off x="4700160" y="2267640"/>
            <a:ext cx="1737000" cy="8773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31"/>
          <p:cNvSpPr/>
          <p:nvPr/>
        </p:nvSpPr>
        <p:spPr>
          <a:xfrm>
            <a:off x="4754880" y="2331720"/>
            <a:ext cx="1627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P4 · stride 16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32"/>
          <p:cNvSpPr/>
          <p:nvPr/>
        </p:nvSpPr>
        <p:spPr>
          <a:xfrm>
            <a:off x="4754880" y="2606040"/>
            <a:ext cx="16272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40 × 40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5" name="Connector 33"/>
          <p:cNvCxnSpPr/>
          <p:nvPr/>
        </p:nvCxnSpPr>
        <p:spPr>
          <a:xfrm>
            <a:off x="4590000" y="2706480"/>
            <a:ext cx="1101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66" name="Isosceles Triangle 34"/>
          <p:cNvSpPr/>
          <p:nvPr/>
        </p:nvSpPr>
        <p:spPr>
          <a:xfrm rot="5400000">
            <a:off x="4659120" y="266544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Connector 35"/>
          <p:cNvCxnSpPr/>
          <p:nvPr/>
        </p:nvCxnSpPr>
        <p:spPr>
          <a:xfrm>
            <a:off x="6437160" y="2706480"/>
            <a:ext cx="25632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68" name="Isosceles Triangle 36"/>
          <p:cNvSpPr/>
          <p:nvPr/>
        </p:nvSpPr>
        <p:spPr>
          <a:xfrm rot="5400000">
            <a:off x="6652440" y="266544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69" name="Diagram node: P4 · stride 16 outputs"/>
          <p:cNvSpPr/>
          <p:nvPr/>
        </p:nvSpPr>
        <p:spPr>
          <a:xfrm>
            <a:off x="6693480" y="2267640"/>
            <a:ext cx="1956600" cy="87732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38"/>
          <p:cNvSpPr/>
          <p:nvPr/>
        </p:nvSpPr>
        <p:spPr>
          <a:xfrm>
            <a:off x="6748200" y="2350080"/>
            <a:ext cx="1846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Face scores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Bounding boxes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Five facial landmarks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Diagram node: P5 · stride 32"/>
          <p:cNvSpPr/>
          <p:nvPr/>
        </p:nvSpPr>
        <p:spPr>
          <a:xfrm>
            <a:off x="4700160" y="3255120"/>
            <a:ext cx="1737000" cy="8773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40"/>
          <p:cNvSpPr/>
          <p:nvPr/>
        </p:nvSpPr>
        <p:spPr>
          <a:xfrm>
            <a:off x="4754880" y="3319200"/>
            <a:ext cx="16272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P5 · stride 32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41"/>
          <p:cNvSpPr/>
          <p:nvPr/>
        </p:nvSpPr>
        <p:spPr>
          <a:xfrm>
            <a:off x="4754880" y="3593520"/>
            <a:ext cx="162720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20 × 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4" name="Connector 42"/>
          <p:cNvCxnSpPr/>
          <p:nvPr/>
        </p:nvCxnSpPr>
        <p:spPr>
          <a:xfrm>
            <a:off x="4590000" y="3693960"/>
            <a:ext cx="1101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75" name="Isosceles Triangle 43"/>
          <p:cNvSpPr/>
          <p:nvPr/>
        </p:nvSpPr>
        <p:spPr>
          <a:xfrm rot="5400000">
            <a:off x="4659120" y="365292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Connector 44"/>
          <p:cNvCxnSpPr/>
          <p:nvPr/>
        </p:nvCxnSpPr>
        <p:spPr>
          <a:xfrm>
            <a:off x="6437160" y="3693960"/>
            <a:ext cx="25632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77" name="Isosceles Triangle 45"/>
          <p:cNvSpPr/>
          <p:nvPr/>
        </p:nvSpPr>
        <p:spPr>
          <a:xfrm rot="5400000">
            <a:off x="6652440" y="365292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8" name="Diagram node: P5 · stride 32 outputs"/>
          <p:cNvSpPr/>
          <p:nvPr/>
        </p:nvSpPr>
        <p:spPr>
          <a:xfrm>
            <a:off x="6693480" y="3255120"/>
            <a:ext cx="1956600" cy="87732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47"/>
          <p:cNvSpPr/>
          <p:nvPr/>
        </p:nvSpPr>
        <p:spPr>
          <a:xfrm>
            <a:off x="6748200" y="3337560"/>
            <a:ext cx="1846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Face scores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Bounding boxes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Five facial landmarks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48"/>
          <p:cNvSpPr/>
          <p:nvPr/>
        </p:nvSpPr>
        <p:spPr>
          <a:xfrm>
            <a:off x="6675120" y="1024200"/>
            <a:ext cx="1992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OUTPUTS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49"/>
          <p:cNvSpPr/>
          <p:nvPr/>
        </p:nvSpPr>
        <p:spPr>
          <a:xfrm>
            <a:off x="548640" y="3630240"/>
            <a:ext cx="3977280" cy="55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Nine output tensors per image: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scores, boxes and landmarks at each level.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50"/>
          <p:cNvSpPr/>
          <p:nvPr/>
        </p:nvSpPr>
        <p:spPr>
          <a:xfrm>
            <a:off x="493920" y="4316040"/>
            <a:ext cx="8156160" cy="39276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51"/>
          <p:cNvSpPr/>
          <p:nvPr/>
        </p:nvSpPr>
        <p:spPr>
          <a:xfrm>
            <a:off x="640080" y="4389120"/>
            <a:ext cx="7863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Outputs → box decoding / filtering → 5-landmark alignment → 112 × 112 RGB crop.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ArcFace: Actual iResNet-50 Architecture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w600k_r50.onnx · 24 residual blocks; block internals intentionally omitted.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6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287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Diagram node: Input RGB"/>
          <p:cNvSpPr/>
          <p:nvPr/>
        </p:nvSpPr>
        <p:spPr>
          <a:xfrm>
            <a:off x="493920" y="1325880"/>
            <a:ext cx="1874160" cy="109692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7"/>
          <p:cNvSpPr/>
          <p:nvPr/>
        </p:nvSpPr>
        <p:spPr>
          <a:xfrm>
            <a:off x="548640" y="141732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Input RGB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8"/>
          <p:cNvSpPr/>
          <p:nvPr/>
        </p:nvSpPr>
        <p:spPr>
          <a:xfrm>
            <a:off x="548640" y="1801440"/>
            <a:ext cx="176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N × 3 × 112 × 112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2" name="Connector 9"/>
          <p:cNvCxnSpPr/>
          <p:nvPr/>
        </p:nvCxnSpPr>
        <p:spPr>
          <a:xfrm>
            <a:off x="2368080" y="1874160"/>
            <a:ext cx="2199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93" name="Isosceles Triangle 10"/>
          <p:cNvSpPr/>
          <p:nvPr/>
        </p:nvSpPr>
        <p:spPr>
          <a:xfrm rot="5400000">
            <a:off x="2547000" y="183348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4" name="Diagram node: Stem"/>
          <p:cNvSpPr/>
          <p:nvPr/>
        </p:nvSpPr>
        <p:spPr>
          <a:xfrm>
            <a:off x="2587680" y="1325880"/>
            <a:ext cx="1874160" cy="10969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2"/>
          <p:cNvSpPr/>
          <p:nvPr/>
        </p:nvSpPr>
        <p:spPr>
          <a:xfrm>
            <a:off x="2642760" y="141732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Box 13"/>
          <p:cNvSpPr/>
          <p:nvPr/>
        </p:nvSpPr>
        <p:spPr>
          <a:xfrm>
            <a:off x="2642760" y="1801440"/>
            <a:ext cx="176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Convolution + PReLU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7" name="Connector 14"/>
          <p:cNvCxnSpPr/>
          <p:nvPr/>
        </p:nvCxnSpPr>
        <p:spPr>
          <a:xfrm>
            <a:off x="4462200" y="1874160"/>
            <a:ext cx="21960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298" name="Isosceles Triangle 15"/>
          <p:cNvSpPr/>
          <p:nvPr/>
        </p:nvSpPr>
        <p:spPr>
          <a:xfrm rot="5400000">
            <a:off x="4640760" y="183348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299" name="Diagram node: Stage 1"/>
          <p:cNvSpPr/>
          <p:nvPr/>
        </p:nvSpPr>
        <p:spPr>
          <a:xfrm>
            <a:off x="4681800" y="1325880"/>
            <a:ext cx="1874160" cy="10969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17"/>
          <p:cNvSpPr/>
          <p:nvPr/>
        </p:nvSpPr>
        <p:spPr>
          <a:xfrm>
            <a:off x="4736520" y="141732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Stage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18"/>
          <p:cNvSpPr/>
          <p:nvPr/>
        </p:nvSpPr>
        <p:spPr>
          <a:xfrm>
            <a:off x="4736520" y="1801440"/>
            <a:ext cx="176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3 residual blocks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2" name="Connector 19"/>
          <p:cNvCxnSpPr/>
          <p:nvPr/>
        </p:nvCxnSpPr>
        <p:spPr>
          <a:xfrm>
            <a:off x="6555960" y="1874160"/>
            <a:ext cx="2199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303" name="Isosceles Triangle 20"/>
          <p:cNvSpPr/>
          <p:nvPr/>
        </p:nvSpPr>
        <p:spPr>
          <a:xfrm rot="5400000">
            <a:off x="6734880" y="183348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4" name="Diagram node: Stage 2"/>
          <p:cNvSpPr/>
          <p:nvPr/>
        </p:nvSpPr>
        <p:spPr>
          <a:xfrm>
            <a:off x="6775560" y="1325880"/>
            <a:ext cx="1874160" cy="10969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22"/>
          <p:cNvSpPr/>
          <p:nvPr/>
        </p:nvSpPr>
        <p:spPr>
          <a:xfrm>
            <a:off x="6830640" y="141732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Stage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Box 23"/>
          <p:cNvSpPr/>
          <p:nvPr/>
        </p:nvSpPr>
        <p:spPr>
          <a:xfrm>
            <a:off x="6830640" y="1801440"/>
            <a:ext cx="176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 residual blocks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Diagram node: Stage 3"/>
          <p:cNvSpPr/>
          <p:nvPr/>
        </p:nvSpPr>
        <p:spPr>
          <a:xfrm>
            <a:off x="493920" y="2999160"/>
            <a:ext cx="1874160" cy="10969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25"/>
          <p:cNvSpPr/>
          <p:nvPr/>
        </p:nvSpPr>
        <p:spPr>
          <a:xfrm>
            <a:off x="548640" y="309060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Stage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26"/>
          <p:cNvSpPr/>
          <p:nvPr/>
        </p:nvSpPr>
        <p:spPr>
          <a:xfrm>
            <a:off x="548640" y="3474720"/>
            <a:ext cx="176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14 residual blocks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0" name="Connector 27"/>
          <p:cNvCxnSpPr/>
          <p:nvPr/>
        </p:nvCxnSpPr>
        <p:spPr>
          <a:xfrm>
            <a:off x="2368080" y="3547800"/>
            <a:ext cx="2199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311" name="Isosceles Triangle 28"/>
          <p:cNvSpPr/>
          <p:nvPr/>
        </p:nvSpPr>
        <p:spPr>
          <a:xfrm rot="5400000">
            <a:off x="2547000" y="350676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2" name="Diagram node: Stage 4"/>
          <p:cNvSpPr/>
          <p:nvPr/>
        </p:nvSpPr>
        <p:spPr>
          <a:xfrm>
            <a:off x="2587680" y="2999160"/>
            <a:ext cx="1874160" cy="109692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30"/>
          <p:cNvSpPr/>
          <p:nvPr/>
        </p:nvSpPr>
        <p:spPr>
          <a:xfrm>
            <a:off x="2642760" y="309060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Stage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31"/>
          <p:cNvSpPr/>
          <p:nvPr/>
        </p:nvSpPr>
        <p:spPr>
          <a:xfrm>
            <a:off x="2642760" y="3474720"/>
            <a:ext cx="176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3 residual blocks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Last block: layer4.2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5" name="Connector 32"/>
          <p:cNvCxnSpPr/>
          <p:nvPr/>
        </p:nvCxnSpPr>
        <p:spPr>
          <a:xfrm>
            <a:off x="4462200" y="3547800"/>
            <a:ext cx="21960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316" name="Isosceles Triangle 33"/>
          <p:cNvSpPr/>
          <p:nvPr/>
        </p:nvSpPr>
        <p:spPr>
          <a:xfrm rot="5400000">
            <a:off x="4640760" y="350676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7" name="Diagram node: Embedding head"/>
          <p:cNvSpPr/>
          <p:nvPr/>
        </p:nvSpPr>
        <p:spPr>
          <a:xfrm>
            <a:off x="4681800" y="2999160"/>
            <a:ext cx="1874160" cy="109692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35"/>
          <p:cNvSpPr/>
          <p:nvPr/>
        </p:nvSpPr>
        <p:spPr>
          <a:xfrm>
            <a:off x="4736520" y="309060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Embedding head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36"/>
          <p:cNvSpPr/>
          <p:nvPr/>
        </p:nvSpPr>
        <p:spPr>
          <a:xfrm>
            <a:off x="4736520" y="3474720"/>
            <a:ext cx="176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BN → flatten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FC → final BN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0" name="Connector 37"/>
          <p:cNvCxnSpPr/>
          <p:nvPr/>
        </p:nvCxnSpPr>
        <p:spPr>
          <a:xfrm>
            <a:off x="6555960" y="3547800"/>
            <a:ext cx="2199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321" name="Isosceles Triangle 38"/>
          <p:cNvSpPr/>
          <p:nvPr/>
        </p:nvSpPr>
        <p:spPr>
          <a:xfrm rot="5400000">
            <a:off x="6734880" y="350676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2" name="Diagram node: Output embedding"/>
          <p:cNvSpPr/>
          <p:nvPr/>
        </p:nvSpPr>
        <p:spPr>
          <a:xfrm>
            <a:off x="6775560" y="2999160"/>
            <a:ext cx="1874160" cy="1096920"/>
          </a:xfrm>
          <a:prstGeom prst="roundRect">
            <a:avLst>
              <a:gd name="adj" fmla="val 7000"/>
            </a:avLst>
          </a:prstGeom>
          <a:solidFill>
            <a:srgbClr val="A4FFA1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40"/>
          <p:cNvSpPr/>
          <p:nvPr/>
        </p:nvSpPr>
        <p:spPr>
          <a:xfrm>
            <a:off x="6830640" y="309060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Output embedding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41"/>
          <p:cNvSpPr/>
          <p:nvPr/>
        </p:nvSpPr>
        <p:spPr>
          <a:xfrm>
            <a:off x="6830640" y="3474720"/>
            <a:ext cx="176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N × 512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External L2 normalization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5" name="Connector 42"/>
          <p:cNvCxnSpPr/>
          <p:nvPr/>
        </p:nvCxnSpPr>
        <p:spPr>
          <a:xfrm>
            <a:off x="7717320" y="2423160"/>
            <a:ext cx="360" cy="30204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cxnSp>
        <p:nvCxnSpPr>
          <p:cNvPr id="326" name="Connector 43"/>
          <p:cNvCxnSpPr/>
          <p:nvPr/>
        </p:nvCxnSpPr>
        <p:spPr>
          <a:xfrm flipH="1">
            <a:off x="1435320" y="2724840"/>
            <a:ext cx="6282360" cy="36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cxnSp>
        <p:nvCxnSpPr>
          <p:cNvPr id="327" name="Connector 44"/>
          <p:cNvCxnSpPr/>
          <p:nvPr/>
        </p:nvCxnSpPr>
        <p:spPr>
          <a:xfrm>
            <a:off x="1435320" y="2724840"/>
            <a:ext cx="360" cy="27468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cxnSp>
        <p:nvCxnSpPr>
          <p:cNvPr id="328" name="Connector 45"/>
          <p:cNvCxnSpPr/>
          <p:nvPr/>
        </p:nvCxnSpPr>
        <p:spPr>
          <a:xfrm>
            <a:off x="1435320" y="2843640"/>
            <a:ext cx="360" cy="15588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329" name="Isosceles Triangle 46"/>
          <p:cNvSpPr/>
          <p:nvPr/>
        </p:nvSpPr>
        <p:spPr>
          <a:xfrm rot="10800000">
            <a:off x="1394640" y="295848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47"/>
          <p:cNvSpPr/>
          <p:nvPr/>
        </p:nvSpPr>
        <p:spPr>
          <a:xfrm>
            <a:off x="493920" y="4260960"/>
            <a:ext cx="8156160" cy="39276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48"/>
          <p:cNvSpPr/>
          <p:nvPr/>
        </p:nvSpPr>
        <p:spPr>
          <a:xfrm>
            <a:off x="640080" y="4334400"/>
            <a:ext cx="7863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E1: final block of stage 4 (layer4.2). E2: that block + embedding head. Earlier layers stay frozen.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E0 / E1 / E2: What Changes?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The reference vectors and evaluation rule are identical; the trainable scope changes.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4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335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ectangle 6"/>
          <p:cNvSpPr/>
          <p:nvPr/>
        </p:nvSpPr>
        <p:spPr>
          <a:xfrm>
            <a:off x="493920" y="1234440"/>
            <a:ext cx="1919880" cy="6030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7"/>
          <p:cNvSpPr/>
          <p:nvPr/>
        </p:nvSpPr>
        <p:spPr>
          <a:xfrm>
            <a:off x="567000" y="1325880"/>
            <a:ext cx="1773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Experiment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ectangle 8"/>
          <p:cNvSpPr/>
          <p:nvPr/>
        </p:nvSpPr>
        <p:spPr>
          <a:xfrm>
            <a:off x="2414160" y="1234440"/>
            <a:ext cx="3995640" cy="6030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9"/>
          <p:cNvSpPr/>
          <p:nvPr/>
        </p:nvSpPr>
        <p:spPr>
          <a:xfrm>
            <a:off x="2487240" y="1325880"/>
            <a:ext cx="3849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Trainable layers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10"/>
          <p:cNvSpPr/>
          <p:nvPr/>
        </p:nvSpPr>
        <p:spPr>
          <a:xfrm>
            <a:off x="6409800" y="1234440"/>
            <a:ext cx="2239920" cy="6030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11"/>
          <p:cNvSpPr/>
          <p:nvPr/>
        </p:nvSpPr>
        <p:spPr>
          <a:xfrm>
            <a:off x="6483240" y="1325880"/>
            <a:ext cx="2093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Trainable parameters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12"/>
          <p:cNvSpPr/>
          <p:nvPr/>
        </p:nvSpPr>
        <p:spPr>
          <a:xfrm>
            <a:off x="493920" y="1837800"/>
            <a:ext cx="1919880" cy="603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3"/>
          <p:cNvSpPr/>
          <p:nvPr/>
        </p:nvSpPr>
        <p:spPr>
          <a:xfrm>
            <a:off x="567000" y="1929240"/>
            <a:ext cx="1773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E0 · pretrained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Rectangle 14"/>
          <p:cNvSpPr/>
          <p:nvPr/>
        </p:nvSpPr>
        <p:spPr>
          <a:xfrm>
            <a:off x="2414160" y="1837800"/>
            <a:ext cx="3995640" cy="603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15"/>
          <p:cNvSpPr/>
          <p:nvPr/>
        </p:nvSpPr>
        <p:spPr>
          <a:xfrm>
            <a:off x="2487240" y="1929240"/>
            <a:ext cx="3849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None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16"/>
          <p:cNvSpPr/>
          <p:nvPr/>
        </p:nvSpPr>
        <p:spPr>
          <a:xfrm>
            <a:off x="6409800" y="1837800"/>
            <a:ext cx="2239920" cy="603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17"/>
          <p:cNvSpPr/>
          <p:nvPr/>
        </p:nvSpPr>
        <p:spPr>
          <a:xfrm>
            <a:off x="6483240" y="1929240"/>
            <a:ext cx="2093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Rectangle 18"/>
          <p:cNvSpPr/>
          <p:nvPr/>
        </p:nvSpPr>
        <p:spPr>
          <a:xfrm>
            <a:off x="493920" y="2441520"/>
            <a:ext cx="1919880" cy="6030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9"/>
          <p:cNvSpPr/>
          <p:nvPr/>
        </p:nvSpPr>
        <p:spPr>
          <a:xfrm>
            <a:off x="567000" y="2532960"/>
            <a:ext cx="1773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E1 · block only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Rectangle 20"/>
          <p:cNvSpPr/>
          <p:nvPr/>
        </p:nvSpPr>
        <p:spPr>
          <a:xfrm>
            <a:off x="2414160" y="2441520"/>
            <a:ext cx="3995640" cy="6030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21"/>
          <p:cNvSpPr/>
          <p:nvPr/>
        </p:nvSpPr>
        <p:spPr>
          <a:xfrm>
            <a:off x="2487240" y="2532960"/>
            <a:ext cx="3849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Final stage-4 residual block (layer4.2)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22"/>
          <p:cNvSpPr/>
          <p:nvPr/>
        </p:nvSpPr>
        <p:spPr>
          <a:xfrm>
            <a:off x="6409800" y="2441520"/>
            <a:ext cx="2239920" cy="6030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23"/>
          <p:cNvSpPr/>
          <p:nvPr/>
        </p:nvSpPr>
        <p:spPr>
          <a:xfrm>
            <a:off x="6483240" y="2532960"/>
            <a:ext cx="2093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4,720,640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ectangle 24"/>
          <p:cNvSpPr/>
          <p:nvPr/>
        </p:nvSpPr>
        <p:spPr>
          <a:xfrm>
            <a:off x="493920" y="3044880"/>
            <a:ext cx="1919880" cy="603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25"/>
          <p:cNvSpPr/>
          <p:nvPr/>
        </p:nvSpPr>
        <p:spPr>
          <a:xfrm>
            <a:off x="567000" y="3136320"/>
            <a:ext cx="17737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E2 · block + head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26"/>
          <p:cNvSpPr/>
          <p:nvPr/>
        </p:nvSpPr>
        <p:spPr>
          <a:xfrm>
            <a:off x="2414160" y="3044880"/>
            <a:ext cx="3995640" cy="603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27"/>
          <p:cNvSpPr/>
          <p:nvPr/>
        </p:nvSpPr>
        <p:spPr>
          <a:xfrm>
            <a:off x="2487240" y="3136320"/>
            <a:ext cx="384912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Same block + BN / FC / final BN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ectangle 28"/>
          <p:cNvSpPr/>
          <p:nvPr/>
        </p:nvSpPr>
        <p:spPr>
          <a:xfrm>
            <a:off x="6409800" y="3044880"/>
            <a:ext cx="2239920" cy="603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Box 29"/>
          <p:cNvSpPr/>
          <p:nvPr/>
        </p:nvSpPr>
        <p:spPr>
          <a:xfrm>
            <a:off x="6483240" y="3136320"/>
            <a:ext cx="20937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17,568,256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ounded Rectangle 30"/>
          <p:cNvSpPr/>
          <p:nvPr/>
        </p:nvSpPr>
        <p:spPr>
          <a:xfrm>
            <a:off x="493920" y="3794760"/>
            <a:ext cx="8156160" cy="80424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31"/>
          <p:cNvSpPr/>
          <p:nvPr/>
        </p:nvSpPr>
        <p:spPr>
          <a:xfrm>
            <a:off x="640080" y="3867840"/>
            <a:ext cx="7863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Important distinction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32"/>
          <p:cNvSpPr/>
          <p:nvPr/>
        </p:nvSpPr>
        <p:spPr>
          <a:xfrm>
            <a:off x="640080" y="418788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The 20-vector training classifier is a fixed buffer—not a learned classification head.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Training Pipeline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20 training identities per fold; gradients affect only the selected E1 or E2 layers.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6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367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Diagram node: Aligned crops"/>
          <p:cNvSpPr/>
          <p:nvPr/>
        </p:nvSpPr>
        <p:spPr>
          <a:xfrm>
            <a:off x="493920" y="1444680"/>
            <a:ext cx="1874160" cy="1298160"/>
          </a:xfrm>
          <a:prstGeom prst="roundRect">
            <a:avLst>
              <a:gd name="adj" fmla="val 7000"/>
            </a:avLst>
          </a:prstGeom>
          <a:solidFill>
            <a:srgbClr val="97ECF8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7"/>
          <p:cNvSpPr/>
          <p:nvPr/>
        </p:nvSpPr>
        <p:spPr>
          <a:xfrm>
            <a:off x="548640" y="153612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Aligned crops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8"/>
          <p:cNvSpPr/>
          <p:nvPr/>
        </p:nvSpPr>
        <p:spPr>
          <a:xfrm>
            <a:off x="548640" y="1920240"/>
            <a:ext cx="176436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Training identities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Augment + normalize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2" name="Connector 9"/>
          <p:cNvCxnSpPr/>
          <p:nvPr/>
        </p:nvCxnSpPr>
        <p:spPr>
          <a:xfrm>
            <a:off x="2368080" y="2093760"/>
            <a:ext cx="2199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373" name="Isosceles Triangle 10"/>
          <p:cNvSpPr/>
          <p:nvPr/>
        </p:nvSpPr>
        <p:spPr>
          <a:xfrm rot="5400000">
            <a:off x="2547000" y="205272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4" name="Diagram node: ArcFace"/>
          <p:cNvSpPr/>
          <p:nvPr/>
        </p:nvSpPr>
        <p:spPr>
          <a:xfrm>
            <a:off x="2587680" y="1444680"/>
            <a:ext cx="1874160" cy="1298160"/>
          </a:xfrm>
          <a:prstGeom prst="roundRect">
            <a:avLst>
              <a:gd name="adj" fmla="val 7000"/>
            </a:avLst>
          </a:prstGeom>
          <a:solidFill>
            <a:srgbClr val="F4C5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12"/>
          <p:cNvSpPr/>
          <p:nvPr/>
        </p:nvSpPr>
        <p:spPr>
          <a:xfrm>
            <a:off x="2642760" y="153612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ArcFace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Box 13"/>
          <p:cNvSpPr/>
          <p:nvPr/>
        </p:nvSpPr>
        <p:spPr>
          <a:xfrm>
            <a:off x="2642760" y="1920240"/>
            <a:ext cx="176436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Selected layers trainable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512-D L2 embeddings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7" name="Connector 14"/>
          <p:cNvCxnSpPr/>
          <p:nvPr/>
        </p:nvCxnSpPr>
        <p:spPr>
          <a:xfrm>
            <a:off x="4462200" y="2093760"/>
            <a:ext cx="21960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378" name="Isosceles Triangle 15"/>
          <p:cNvSpPr/>
          <p:nvPr/>
        </p:nvSpPr>
        <p:spPr>
          <a:xfrm rot="5400000">
            <a:off x="4640760" y="205272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79" name="Diagram node: Cosine logits"/>
          <p:cNvSpPr/>
          <p:nvPr/>
        </p:nvSpPr>
        <p:spPr>
          <a:xfrm>
            <a:off x="4681800" y="1444680"/>
            <a:ext cx="1874160" cy="1298160"/>
          </a:xfrm>
          <a:prstGeom prst="roundRect">
            <a:avLst>
              <a:gd name="adj" fmla="val 7000"/>
            </a:avLst>
          </a:prstGeom>
          <a:solidFill>
            <a:srgbClr val="FFD0AC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17"/>
          <p:cNvSpPr/>
          <p:nvPr/>
        </p:nvSpPr>
        <p:spPr>
          <a:xfrm>
            <a:off x="4736520" y="153612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Cosine logits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18"/>
          <p:cNvSpPr/>
          <p:nvPr/>
        </p:nvSpPr>
        <p:spPr>
          <a:xfrm>
            <a:off x="4736520" y="1920240"/>
            <a:ext cx="176436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20 locked E0 references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Angular margin + scale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2" name="Connector 19"/>
          <p:cNvCxnSpPr/>
          <p:nvPr/>
        </p:nvCxnSpPr>
        <p:spPr>
          <a:xfrm>
            <a:off x="6555960" y="2093760"/>
            <a:ext cx="219960" cy="360"/>
          </a:xfrm>
          <a:prstGeom prst="straightConnector1">
            <a:avLst/>
          </a:prstGeom>
          <a:ln w="19050">
            <a:solidFill>
              <a:srgbClr val="203C80"/>
            </a:solidFill>
            <a:round/>
          </a:ln>
        </p:spPr>
      </p:cxnSp>
      <p:sp>
        <p:nvSpPr>
          <p:cNvPr id="383" name="Isosceles Triangle 20"/>
          <p:cNvSpPr/>
          <p:nvPr/>
        </p:nvSpPr>
        <p:spPr>
          <a:xfrm rot="5400000">
            <a:off x="6734880" y="2052720"/>
            <a:ext cx="82080" cy="82080"/>
          </a:xfrm>
          <a:prstGeom prst="triangle">
            <a:avLst>
              <a:gd name="adj" fmla="val 50000"/>
            </a:avLst>
          </a:prstGeom>
          <a:solidFill>
            <a:srgbClr val="203C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600" rIns="90000" bIns="-36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4" name="Diagram node: Loss + update"/>
          <p:cNvSpPr/>
          <p:nvPr/>
        </p:nvSpPr>
        <p:spPr>
          <a:xfrm>
            <a:off x="6775560" y="1444680"/>
            <a:ext cx="1874160" cy="1298160"/>
          </a:xfrm>
          <a:prstGeom prst="roundRect">
            <a:avLst>
              <a:gd name="adj" fmla="val 7000"/>
            </a:avLst>
          </a:prstGeom>
          <a:solidFill>
            <a:srgbClr val="ACA7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22"/>
          <p:cNvSpPr/>
          <p:nvPr/>
        </p:nvSpPr>
        <p:spPr>
          <a:xfrm>
            <a:off x="6830640" y="1536120"/>
            <a:ext cx="1764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Loss + update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23"/>
          <p:cNvSpPr/>
          <p:nvPr/>
        </p:nvSpPr>
        <p:spPr>
          <a:xfrm>
            <a:off x="6830640" y="1920240"/>
            <a:ext cx="176436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Smoothed cross-entropy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AdamW on selected layers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Rounded Rectangle 24"/>
          <p:cNvSpPr/>
          <p:nvPr/>
        </p:nvSpPr>
        <p:spPr>
          <a:xfrm>
            <a:off x="493920" y="3200400"/>
            <a:ext cx="3931560" cy="107856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25"/>
          <p:cNvSpPr/>
          <p:nvPr/>
        </p:nvSpPr>
        <p:spPr>
          <a:xfrm>
            <a:off x="640080" y="3273480"/>
            <a:ext cx="3638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Validation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26"/>
          <p:cNvSpPr/>
          <p:nvPr/>
        </p:nvSpPr>
        <p:spPr>
          <a:xfrm>
            <a:off x="640080" y="3593520"/>
            <a:ext cx="3638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All 30 gallery vectors; select by validation accuracy, then confidence gap.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ounded Rectangle 27"/>
          <p:cNvSpPr/>
          <p:nvPr/>
        </p:nvSpPr>
        <p:spPr>
          <a:xfrm>
            <a:off x="4617720" y="3200400"/>
            <a:ext cx="4032000" cy="107856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Box 28"/>
          <p:cNvSpPr/>
          <p:nvPr/>
        </p:nvSpPr>
        <p:spPr>
          <a:xfrm>
            <a:off x="4763880" y="3273480"/>
            <a:ext cx="3739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Baseline is eligible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29"/>
          <p:cNvSpPr/>
          <p:nvPr/>
        </p:nvSpPr>
        <p:spPr>
          <a:xfrm>
            <a:off x="4763880" y="3593520"/>
            <a:ext cx="3739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Epoch 0 is a candidate. E2 keeps E0 on folds 3, 4 and 5.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Training Recipe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Same optimization schedule and data protocol for both fine-tuned configurations.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5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396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6"/>
          <p:cNvSpPr/>
          <p:nvPr/>
        </p:nvSpPr>
        <p:spPr>
          <a:xfrm>
            <a:off x="493920" y="1234440"/>
            <a:ext cx="2102760" cy="43848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7"/>
          <p:cNvSpPr/>
          <p:nvPr/>
        </p:nvSpPr>
        <p:spPr>
          <a:xfrm>
            <a:off x="567000" y="1325880"/>
            <a:ext cx="1956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Setting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Rectangle 8"/>
          <p:cNvSpPr/>
          <p:nvPr/>
        </p:nvSpPr>
        <p:spPr>
          <a:xfrm>
            <a:off x="2597040" y="1234440"/>
            <a:ext cx="6053040" cy="43848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9"/>
          <p:cNvSpPr/>
          <p:nvPr/>
        </p:nvSpPr>
        <p:spPr>
          <a:xfrm>
            <a:off x="2670120" y="1325880"/>
            <a:ext cx="5906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Configuration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Rectangle 10"/>
          <p:cNvSpPr/>
          <p:nvPr/>
        </p:nvSpPr>
        <p:spPr>
          <a:xfrm>
            <a:off x="493920" y="1673280"/>
            <a:ext cx="2102760" cy="43848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11"/>
          <p:cNvSpPr/>
          <p:nvPr/>
        </p:nvSpPr>
        <p:spPr>
          <a:xfrm>
            <a:off x="567000" y="1764720"/>
            <a:ext cx="1956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Optimizer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12"/>
          <p:cNvSpPr/>
          <p:nvPr/>
        </p:nvSpPr>
        <p:spPr>
          <a:xfrm>
            <a:off x="2597040" y="1673280"/>
            <a:ext cx="6053040" cy="43848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3"/>
          <p:cNvSpPr/>
          <p:nvPr/>
        </p:nvSpPr>
        <p:spPr>
          <a:xfrm>
            <a:off x="2670120" y="1764720"/>
            <a:ext cx="5906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AdamW · learning rate 3 × 10⁻⁵ · weight decay 10⁻⁴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 14"/>
          <p:cNvSpPr/>
          <p:nvPr/>
        </p:nvSpPr>
        <p:spPr>
          <a:xfrm>
            <a:off x="493920" y="2112120"/>
            <a:ext cx="2102760" cy="43848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15"/>
          <p:cNvSpPr/>
          <p:nvPr/>
        </p:nvSpPr>
        <p:spPr>
          <a:xfrm>
            <a:off x="567000" y="2203560"/>
            <a:ext cx="1956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Schedule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Rectangle 16"/>
          <p:cNvSpPr/>
          <p:nvPr/>
        </p:nvSpPr>
        <p:spPr>
          <a:xfrm>
            <a:off x="2597040" y="2112120"/>
            <a:ext cx="6053040" cy="43848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17"/>
          <p:cNvSpPr/>
          <p:nvPr/>
        </p:nvSpPr>
        <p:spPr>
          <a:xfrm>
            <a:off x="2670120" y="2203560"/>
            <a:ext cx="59065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maximum 20 epochs; patience 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18"/>
          <p:cNvSpPr/>
          <p:nvPr/>
        </p:nvSpPr>
        <p:spPr>
          <a:xfrm>
            <a:off x="493920" y="2551320"/>
            <a:ext cx="2102760" cy="43848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19"/>
          <p:cNvSpPr/>
          <p:nvPr/>
        </p:nvSpPr>
        <p:spPr>
          <a:xfrm>
            <a:off x="567000" y="2642760"/>
            <a:ext cx="1956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Batch / seed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Rectangle 20"/>
          <p:cNvSpPr/>
          <p:nvPr/>
        </p:nvSpPr>
        <p:spPr>
          <a:xfrm>
            <a:off x="2597040" y="2551320"/>
            <a:ext cx="6053040" cy="43848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21"/>
          <p:cNvSpPr/>
          <p:nvPr/>
        </p:nvSpPr>
        <p:spPr>
          <a:xfrm>
            <a:off x="2670120" y="2642760"/>
            <a:ext cx="5906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Train 32 · evaluation 64 · random seed 42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Rectangle 22"/>
          <p:cNvSpPr/>
          <p:nvPr/>
        </p:nvSpPr>
        <p:spPr>
          <a:xfrm>
            <a:off x="493920" y="2990160"/>
            <a:ext cx="2102760" cy="43848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23"/>
          <p:cNvSpPr/>
          <p:nvPr/>
        </p:nvSpPr>
        <p:spPr>
          <a:xfrm>
            <a:off x="567000" y="3081600"/>
            <a:ext cx="1956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Classification loss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Rectangle 24"/>
          <p:cNvSpPr/>
          <p:nvPr/>
        </p:nvSpPr>
        <p:spPr>
          <a:xfrm>
            <a:off x="2597040" y="2990160"/>
            <a:ext cx="6053040" cy="43848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25"/>
          <p:cNvSpPr/>
          <p:nvPr/>
        </p:nvSpPr>
        <p:spPr>
          <a:xfrm>
            <a:off x="2670120" y="3081600"/>
            <a:ext cx="59065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Scale 32; label smoothing 0.1; fixed benchmark classifier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Rectangle 34"/>
          <p:cNvSpPr/>
          <p:nvPr/>
        </p:nvSpPr>
        <p:spPr>
          <a:xfrm>
            <a:off x="487440" y="3918600"/>
            <a:ext cx="8156160" cy="25560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35"/>
          <p:cNvSpPr/>
          <p:nvPr/>
        </p:nvSpPr>
        <p:spPr>
          <a:xfrm>
            <a:off x="633600" y="3991680"/>
            <a:ext cx="78634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Augmentations: flip, down-up blur, Gaussian blur, noise, JPEG compression, brightness / contrast.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Inference &amp; Decision Rule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Identical identification pipeline and acceptance threshold for all three configurations.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2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423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Neutral inference panel: 1"/>
          <p:cNvSpPr/>
          <p:nvPr/>
        </p:nvSpPr>
        <p:spPr>
          <a:xfrm>
            <a:off x="329040" y="1197720"/>
            <a:ext cx="2761200" cy="1416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7"/>
          <p:cNvSpPr/>
          <p:nvPr/>
        </p:nvSpPr>
        <p:spPr>
          <a:xfrm>
            <a:off x="429840" y="1261800"/>
            <a:ext cx="39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300" b="0" u="none" strike="noStrike">
                <a:solidFill>
                  <a:srgbClr val="D32F2F"/>
                </a:solidFill>
                <a:effectLst/>
                <a:uFillTx/>
                <a:latin typeface="Arimo"/>
                <a:ea typeface="Arial"/>
              </a:rPr>
              <a:t>01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Box 8"/>
          <p:cNvSpPr/>
          <p:nvPr/>
        </p:nvSpPr>
        <p:spPr>
          <a:xfrm>
            <a:off x="896040" y="13168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Face Detection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8" name="Connector 9"/>
          <p:cNvCxnSpPr/>
          <p:nvPr/>
        </p:nvCxnSpPr>
        <p:spPr>
          <a:xfrm>
            <a:off x="420480" y="1627560"/>
            <a:ext cx="2569680" cy="36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sp>
        <p:nvSpPr>
          <p:cNvPr id="429" name="TextBox 10"/>
          <p:cNvSpPr/>
          <p:nvPr/>
        </p:nvSpPr>
        <p:spPr>
          <a:xfrm>
            <a:off x="1454040" y="1728360"/>
            <a:ext cx="150840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RetinaFace returns a face box and five landmarks.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0" name="Picture 11" descr="image.png"/>
          <p:cNvPicPr/>
          <p:nvPr/>
        </p:nvPicPr>
        <p:blipFill>
          <a:blip r:embed="rId1"/>
          <a:srcRect l="3899" t="29802" r="83708" b="54403"/>
          <a:stretch/>
        </p:blipFill>
        <p:spPr>
          <a:xfrm>
            <a:off x="438840" y="1764720"/>
            <a:ext cx="90504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1" name="TextBox 12"/>
          <p:cNvSpPr/>
          <p:nvPr/>
        </p:nvSpPr>
        <p:spPr>
          <a:xfrm>
            <a:off x="3072240" y="1874520"/>
            <a:ext cx="182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Neutral inference panel: 2"/>
          <p:cNvSpPr/>
          <p:nvPr/>
        </p:nvSpPr>
        <p:spPr>
          <a:xfrm>
            <a:off x="3182040" y="1197720"/>
            <a:ext cx="2761200" cy="1416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14"/>
          <p:cNvSpPr/>
          <p:nvPr/>
        </p:nvSpPr>
        <p:spPr>
          <a:xfrm>
            <a:off x="3282840" y="1261800"/>
            <a:ext cx="39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300" b="0" u="none" strike="noStrike">
                <a:solidFill>
                  <a:srgbClr val="D32F2F"/>
                </a:solidFill>
                <a:effectLst/>
                <a:uFillTx/>
                <a:latin typeface="Arimo"/>
                <a:ea typeface="Arial"/>
              </a:rPr>
              <a:t>02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Box 15"/>
          <p:cNvSpPr/>
          <p:nvPr/>
        </p:nvSpPr>
        <p:spPr>
          <a:xfrm>
            <a:off x="3749040" y="13168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Alignment &amp; Crop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5" name="Connector 16"/>
          <p:cNvCxnSpPr/>
          <p:nvPr/>
        </p:nvCxnSpPr>
        <p:spPr>
          <a:xfrm>
            <a:off x="3273480" y="1627560"/>
            <a:ext cx="2569680" cy="36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sp>
        <p:nvSpPr>
          <p:cNvPr id="436" name="TextBox 17"/>
          <p:cNvSpPr/>
          <p:nvPr/>
        </p:nvSpPr>
        <p:spPr>
          <a:xfrm>
            <a:off x="4306680" y="1728360"/>
            <a:ext cx="150840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Five landmarks align the face to a 112 × 112 RGB crop.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7" name="Picture 18" descr="image.png"/>
          <p:cNvPicPr/>
          <p:nvPr/>
        </p:nvPicPr>
        <p:blipFill>
          <a:blip r:embed="rId2"/>
          <a:srcRect l="77206" t="31303" r="16600" b="57506"/>
          <a:stretch/>
        </p:blipFill>
        <p:spPr>
          <a:xfrm>
            <a:off x="3291840" y="1764720"/>
            <a:ext cx="703800" cy="70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TextBox 19"/>
          <p:cNvSpPr/>
          <p:nvPr/>
        </p:nvSpPr>
        <p:spPr>
          <a:xfrm>
            <a:off x="3291840" y="2450520"/>
            <a:ext cx="7311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112 × 112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20"/>
          <p:cNvSpPr/>
          <p:nvPr/>
        </p:nvSpPr>
        <p:spPr>
          <a:xfrm>
            <a:off x="5925240" y="1874520"/>
            <a:ext cx="182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Neutral inference panel: 3"/>
          <p:cNvSpPr/>
          <p:nvPr/>
        </p:nvSpPr>
        <p:spPr>
          <a:xfrm>
            <a:off x="6035040" y="1197720"/>
            <a:ext cx="2761200" cy="1416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22"/>
          <p:cNvSpPr/>
          <p:nvPr/>
        </p:nvSpPr>
        <p:spPr>
          <a:xfrm>
            <a:off x="6135480" y="1261800"/>
            <a:ext cx="39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300" b="0" u="none" strike="noStrike">
                <a:solidFill>
                  <a:srgbClr val="D32F2F"/>
                </a:solidFill>
                <a:effectLst/>
                <a:uFillTx/>
                <a:latin typeface="Arimo"/>
                <a:ea typeface="Arial"/>
              </a:rPr>
              <a:t>03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23"/>
          <p:cNvSpPr/>
          <p:nvPr/>
        </p:nvSpPr>
        <p:spPr>
          <a:xfrm>
            <a:off x="6602040" y="131688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Feature Extraction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3" name="Connector 24"/>
          <p:cNvCxnSpPr/>
          <p:nvPr/>
        </p:nvCxnSpPr>
        <p:spPr>
          <a:xfrm>
            <a:off x="6126480" y="1627560"/>
            <a:ext cx="2569680" cy="36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sp>
        <p:nvSpPr>
          <p:cNvPr id="444" name="TextBox 25"/>
          <p:cNvSpPr/>
          <p:nvPr/>
        </p:nvSpPr>
        <p:spPr>
          <a:xfrm>
            <a:off x="7159680" y="1728360"/>
            <a:ext cx="150840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E0 or fold-specific E1 / E2 ArcFace produces 512 features.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Diagram node: ArcFace"/>
          <p:cNvSpPr/>
          <p:nvPr/>
        </p:nvSpPr>
        <p:spPr>
          <a:xfrm>
            <a:off x="6126480" y="1783080"/>
            <a:ext cx="950760" cy="64872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Box 27"/>
          <p:cNvSpPr/>
          <p:nvPr/>
        </p:nvSpPr>
        <p:spPr>
          <a:xfrm>
            <a:off x="6181200" y="1874520"/>
            <a:ext cx="840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0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ArcFace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Box 28"/>
          <p:cNvSpPr/>
          <p:nvPr/>
        </p:nvSpPr>
        <p:spPr>
          <a:xfrm>
            <a:off x="6181200" y="2258640"/>
            <a:ext cx="8409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→ 512-D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Neutral inference panel: 4"/>
          <p:cNvSpPr/>
          <p:nvPr/>
        </p:nvSpPr>
        <p:spPr>
          <a:xfrm>
            <a:off x="329040" y="2743200"/>
            <a:ext cx="2761200" cy="1416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Box 30"/>
          <p:cNvSpPr/>
          <p:nvPr/>
        </p:nvSpPr>
        <p:spPr>
          <a:xfrm>
            <a:off x="429840" y="2807280"/>
            <a:ext cx="39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300" b="0" u="none" strike="noStrike">
                <a:solidFill>
                  <a:srgbClr val="D32F2F"/>
                </a:solidFill>
                <a:effectLst/>
                <a:uFillTx/>
                <a:latin typeface="Arimo"/>
                <a:ea typeface="Arial"/>
              </a:rPr>
              <a:t>04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31"/>
          <p:cNvSpPr/>
          <p:nvPr/>
        </p:nvSpPr>
        <p:spPr>
          <a:xfrm>
            <a:off x="896040" y="28620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L2 Normalization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1" name="Connector 32"/>
          <p:cNvCxnSpPr/>
          <p:nvPr/>
        </p:nvCxnSpPr>
        <p:spPr>
          <a:xfrm>
            <a:off x="420480" y="3172680"/>
            <a:ext cx="2569680" cy="36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sp>
        <p:nvSpPr>
          <p:cNvPr id="452" name="TextBox 33"/>
          <p:cNvSpPr/>
          <p:nvPr/>
        </p:nvSpPr>
        <p:spPr>
          <a:xfrm>
            <a:off x="1454040" y="3273480"/>
            <a:ext cx="150840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Normalize the embedding to unit length. No rolling buffer.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34"/>
          <p:cNvSpPr/>
          <p:nvPr/>
        </p:nvSpPr>
        <p:spPr>
          <a:xfrm>
            <a:off x="420480" y="3447360"/>
            <a:ext cx="9597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z / ‖z‖₂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35"/>
          <p:cNvSpPr/>
          <p:nvPr/>
        </p:nvSpPr>
        <p:spPr>
          <a:xfrm>
            <a:off x="3072240" y="3420000"/>
            <a:ext cx="182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Neutral inference panel: 5"/>
          <p:cNvSpPr/>
          <p:nvPr/>
        </p:nvSpPr>
        <p:spPr>
          <a:xfrm>
            <a:off x="3182040" y="2743200"/>
            <a:ext cx="2761200" cy="1416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37"/>
          <p:cNvSpPr/>
          <p:nvPr/>
        </p:nvSpPr>
        <p:spPr>
          <a:xfrm>
            <a:off x="3282840" y="2807280"/>
            <a:ext cx="39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300" b="0" u="none" strike="noStrike">
                <a:solidFill>
                  <a:srgbClr val="D32F2F"/>
                </a:solidFill>
                <a:effectLst/>
                <a:uFillTx/>
                <a:latin typeface="Arimo"/>
                <a:ea typeface="Arial"/>
              </a:rPr>
              <a:t>05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38"/>
          <p:cNvSpPr/>
          <p:nvPr/>
        </p:nvSpPr>
        <p:spPr>
          <a:xfrm>
            <a:off x="3749040" y="28620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Gallery Matching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8" name="Connector 39"/>
          <p:cNvCxnSpPr/>
          <p:nvPr/>
        </p:nvCxnSpPr>
        <p:spPr>
          <a:xfrm>
            <a:off x="3273480" y="3172680"/>
            <a:ext cx="2569680" cy="36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sp>
        <p:nvSpPr>
          <p:cNvPr id="459" name="TextBox 40"/>
          <p:cNvSpPr/>
          <p:nvPr/>
        </p:nvSpPr>
        <p:spPr>
          <a:xfrm>
            <a:off x="4306680" y="3273480"/>
            <a:ext cx="150840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Compare with all 30 locked pretrained gallery vectors.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41"/>
          <p:cNvSpPr/>
          <p:nvPr/>
        </p:nvSpPr>
        <p:spPr>
          <a:xfrm>
            <a:off x="3264480" y="3383280"/>
            <a:ext cx="987120" cy="6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512-D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×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1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30 vectors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Box 42"/>
          <p:cNvSpPr/>
          <p:nvPr/>
        </p:nvSpPr>
        <p:spPr>
          <a:xfrm>
            <a:off x="5925240" y="3420000"/>
            <a:ext cx="182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›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Neutral inference panel: 6"/>
          <p:cNvSpPr/>
          <p:nvPr/>
        </p:nvSpPr>
        <p:spPr>
          <a:xfrm>
            <a:off x="6035040" y="2743200"/>
            <a:ext cx="2761200" cy="1416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Box 44"/>
          <p:cNvSpPr/>
          <p:nvPr/>
        </p:nvSpPr>
        <p:spPr>
          <a:xfrm>
            <a:off x="6135480" y="2807280"/>
            <a:ext cx="39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300" b="0" u="none" strike="noStrike">
                <a:solidFill>
                  <a:srgbClr val="D32F2F"/>
                </a:solidFill>
                <a:effectLst/>
                <a:uFillTx/>
                <a:latin typeface="Arimo"/>
                <a:ea typeface="Arial"/>
              </a:rPr>
              <a:t>06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Box 45"/>
          <p:cNvSpPr/>
          <p:nvPr/>
        </p:nvSpPr>
        <p:spPr>
          <a:xfrm>
            <a:off x="6602040" y="2862000"/>
            <a:ext cx="210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Decision Rule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65" name="Connector 46"/>
          <p:cNvCxnSpPr/>
          <p:nvPr/>
        </p:nvCxnSpPr>
        <p:spPr>
          <a:xfrm>
            <a:off x="6126480" y="3172680"/>
            <a:ext cx="2569680" cy="360"/>
          </a:xfrm>
          <a:prstGeom prst="straightConnector1">
            <a:avLst/>
          </a:prstGeom>
          <a:ln w="15240">
            <a:solidFill>
              <a:srgbClr val="203C80"/>
            </a:solidFill>
            <a:round/>
          </a:ln>
        </p:spPr>
      </p:cxnSp>
      <p:sp>
        <p:nvSpPr>
          <p:cNvPr id="466" name="TextBox 47"/>
          <p:cNvSpPr/>
          <p:nvPr/>
        </p:nvSpPr>
        <p:spPr>
          <a:xfrm>
            <a:off x="7159680" y="3273480"/>
            <a:ext cx="1508400" cy="79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Choose the top identity if cosine ≥ 0.30; else UNKNOWN.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Diagram node: IDENTITY"/>
          <p:cNvSpPr/>
          <p:nvPr/>
        </p:nvSpPr>
        <p:spPr>
          <a:xfrm>
            <a:off x="6126480" y="3337560"/>
            <a:ext cx="950760" cy="25560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Box 49"/>
          <p:cNvSpPr/>
          <p:nvPr/>
        </p:nvSpPr>
        <p:spPr>
          <a:xfrm>
            <a:off x="6135480" y="33742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9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IDENTITY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Diagram node: UNKNOWN"/>
          <p:cNvSpPr/>
          <p:nvPr/>
        </p:nvSpPr>
        <p:spPr>
          <a:xfrm>
            <a:off x="6126480" y="3684960"/>
            <a:ext cx="950760" cy="255600"/>
          </a:xfrm>
          <a:prstGeom prst="roundRect">
            <a:avLst>
              <a:gd name="adj" fmla="val 7000"/>
            </a:avLst>
          </a:prstGeom>
          <a:solidFill>
            <a:srgbClr val="E0E0E0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51"/>
          <p:cNvSpPr/>
          <p:nvPr/>
        </p:nvSpPr>
        <p:spPr>
          <a:xfrm>
            <a:off x="6135480" y="3721680"/>
            <a:ext cx="932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9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UNKNOWN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Rectangle 52"/>
          <p:cNvSpPr/>
          <p:nvPr/>
        </p:nvSpPr>
        <p:spPr>
          <a:xfrm>
            <a:off x="493920" y="4361760"/>
            <a:ext cx="8156160" cy="31068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Box 53"/>
          <p:cNvSpPr/>
          <p:nvPr/>
        </p:nvSpPr>
        <p:spPr>
          <a:xfrm>
            <a:off x="640080" y="4434840"/>
            <a:ext cx="786348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Correct = right identity AND cosine ≥ 0.30. All queries are enrolled people; UNKNOWN means rejection.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Main Results: Pooled Held-Out Queries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5,818 queries across all six test folds; the report’s saved aggregate results.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5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476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Rectangle 6"/>
          <p:cNvSpPr/>
          <p:nvPr/>
        </p:nvSpPr>
        <p:spPr>
          <a:xfrm>
            <a:off x="493920" y="1234440"/>
            <a:ext cx="1005480" cy="5940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7"/>
          <p:cNvSpPr/>
          <p:nvPr/>
        </p:nvSpPr>
        <p:spPr>
          <a:xfrm>
            <a:off x="567000" y="1325880"/>
            <a:ext cx="8593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Model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Rectangle 8"/>
          <p:cNvSpPr/>
          <p:nvPr/>
        </p:nvSpPr>
        <p:spPr>
          <a:xfrm>
            <a:off x="1499760" y="1234440"/>
            <a:ext cx="1508400" cy="5940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Box 9"/>
          <p:cNvSpPr/>
          <p:nvPr/>
        </p:nvSpPr>
        <p:spPr>
          <a:xfrm>
            <a:off x="1572840" y="1325880"/>
            <a:ext cx="13622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Accuracy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Rectangle 10"/>
          <p:cNvSpPr/>
          <p:nvPr/>
        </p:nvSpPr>
        <p:spPr>
          <a:xfrm>
            <a:off x="3008520" y="1234440"/>
            <a:ext cx="2057040" cy="5940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Box 11"/>
          <p:cNvSpPr/>
          <p:nvPr/>
        </p:nvSpPr>
        <p:spPr>
          <a:xfrm>
            <a:off x="3081600" y="1325880"/>
            <a:ext cx="19108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Macro precision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Rectangle 12"/>
          <p:cNvSpPr/>
          <p:nvPr/>
        </p:nvSpPr>
        <p:spPr>
          <a:xfrm>
            <a:off x="5065920" y="1234440"/>
            <a:ext cx="1846800" cy="5940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Box 13"/>
          <p:cNvSpPr/>
          <p:nvPr/>
        </p:nvSpPr>
        <p:spPr>
          <a:xfrm>
            <a:off x="5139000" y="132588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Macro recall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Rectangle 14"/>
          <p:cNvSpPr/>
          <p:nvPr/>
        </p:nvSpPr>
        <p:spPr>
          <a:xfrm>
            <a:off x="6912720" y="1234440"/>
            <a:ext cx="1737000" cy="59400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Box 15"/>
          <p:cNvSpPr/>
          <p:nvPr/>
        </p:nvSpPr>
        <p:spPr>
          <a:xfrm>
            <a:off x="6986160" y="1325880"/>
            <a:ext cx="15908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Macro F1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Rectangle 16"/>
          <p:cNvSpPr/>
          <p:nvPr/>
        </p:nvSpPr>
        <p:spPr>
          <a:xfrm>
            <a:off x="493920" y="1828800"/>
            <a:ext cx="1005480" cy="594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Box 17"/>
          <p:cNvSpPr/>
          <p:nvPr/>
        </p:nvSpPr>
        <p:spPr>
          <a:xfrm>
            <a:off x="567000" y="1920240"/>
            <a:ext cx="8593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Rectangle 18"/>
          <p:cNvSpPr/>
          <p:nvPr/>
        </p:nvSpPr>
        <p:spPr>
          <a:xfrm>
            <a:off x="1499760" y="1828800"/>
            <a:ext cx="1508400" cy="594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Box 19"/>
          <p:cNvSpPr/>
          <p:nvPr/>
        </p:nvSpPr>
        <p:spPr>
          <a:xfrm>
            <a:off x="1572840" y="1920240"/>
            <a:ext cx="13622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84.98%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Rectangle 20"/>
          <p:cNvSpPr/>
          <p:nvPr/>
        </p:nvSpPr>
        <p:spPr>
          <a:xfrm>
            <a:off x="3008520" y="1828800"/>
            <a:ext cx="2057040" cy="594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Box 21"/>
          <p:cNvSpPr/>
          <p:nvPr/>
        </p:nvSpPr>
        <p:spPr>
          <a:xfrm>
            <a:off x="3081600" y="1920240"/>
            <a:ext cx="19108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100.00%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Rectangle 22"/>
          <p:cNvSpPr/>
          <p:nvPr/>
        </p:nvSpPr>
        <p:spPr>
          <a:xfrm>
            <a:off x="5065920" y="1828800"/>
            <a:ext cx="1846800" cy="594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23"/>
          <p:cNvSpPr/>
          <p:nvPr/>
        </p:nvSpPr>
        <p:spPr>
          <a:xfrm>
            <a:off x="5139000" y="192024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85.12%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Rectangle 24"/>
          <p:cNvSpPr/>
          <p:nvPr/>
        </p:nvSpPr>
        <p:spPr>
          <a:xfrm>
            <a:off x="6912720" y="1828800"/>
            <a:ext cx="1737000" cy="594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Box 25"/>
          <p:cNvSpPr/>
          <p:nvPr/>
        </p:nvSpPr>
        <p:spPr>
          <a:xfrm>
            <a:off x="6986160" y="1920240"/>
            <a:ext cx="15908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91.67%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Rectangle 26"/>
          <p:cNvSpPr/>
          <p:nvPr/>
        </p:nvSpPr>
        <p:spPr>
          <a:xfrm>
            <a:off x="493920" y="2423160"/>
            <a:ext cx="1005480" cy="5940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Box 27"/>
          <p:cNvSpPr/>
          <p:nvPr/>
        </p:nvSpPr>
        <p:spPr>
          <a:xfrm>
            <a:off x="567000" y="2514600"/>
            <a:ext cx="8593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28"/>
          <p:cNvSpPr/>
          <p:nvPr/>
        </p:nvSpPr>
        <p:spPr>
          <a:xfrm>
            <a:off x="1499760" y="2423160"/>
            <a:ext cx="1508400" cy="5940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Box 29"/>
          <p:cNvSpPr/>
          <p:nvPr/>
        </p:nvSpPr>
        <p:spPr>
          <a:xfrm>
            <a:off x="1572840" y="2514600"/>
            <a:ext cx="13622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86.18%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Rectangle 30"/>
          <p:cNvSpPr/>
          <p:nvPr/>
        </p:nvSpPr>
        <p:spPr>
          <a:xfrm>
            <a:off x="3008520" y="2423160"/>
            <a:ext cx="2057040" cy="5940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Box 31"/>
          <p:cNvSpPr/>
          <p:nvPr/>
        </p:nvSpPr>
        <p:spPr>
          <a:xfrm>
            <a:off x="3081600" y="2514600"/>
            <a:ext cx="19108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99.72%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Rectangle 32"/>
          <p:cNvSpPr/>
          <p:nvPr/>
        </p:nvSpPr>
        <p:spPr>
          <a:xfrm>
            <a:off x="5065920" y="2423160"/>
            <a:ext cx="1846800" cy="5940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33"/>
          <p:cNvSpPr/>
          <p:nvPr/>
        </p:nvSpPr>
        <p:spPr>
          <a:xfrm>
            <a:off x="5139000" y="251460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86.33%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Rectangle 34"/>
          <p:cNvSpPr/>
          <p:nvPr/>
        </p:nvSpPr>
        <p:spPr>
          <a:xfrm>
            <a:off x="6912720" y="2423160"/>
            <a:ext cx="1737000" cy="59400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Box 35"/>
          <p:cNvSpPr/>
          <p:nvPr/>
        </p:nvSpPr>
        <p:spPr>
          <a:xfrm>
            <a:off x="6986160" y="2514600"/>
            <a:ext cx="15908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92.15%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Rectangle 36"/>
          <p:cNvSpPr/>
          <p:nvPr/>
        </p:nvSpPr>
        <p:spPr>
          <a:xfrm>
            <a:off x="493920" y="3017520"/>
            <a:ext cx="1005480" cy="594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37"/>
          <p:cNvSpPr/>
          <p:nvPr/>
        </p:nvSpPr>
        <p:spPr>
          <a:xfrm>
            <a:off x="567000" y="3108960"/>
            <a:ext cx="85932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Rectangle 38"/>
          <p:cNvSpPr/>
          <p:nvPr/>
        </p:nvSpPr>
        <p:spPr>
          <a:xfrm>
            <a:off x="1499760" y="3017520"/>
            <a:ext cx="1508400" cy="594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39"/>
          <p:cNvSpPr/>
          <p:nvPr/>
        </p:nvSpPr>
        <p:spPr>
          <a:xfrm>
            <a:off x="1572840" y="3108960"/>
            <a:ext cx="13622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84.72%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Rectangle 40"/>
          <p:cNvSpPr/>
          <p:nvPr/>
        </p:nvSpPr>
        <p:spPr>
          <a:xfrm>
            <a:off x="3008520" y="3017520"/>
            <a:ext cx="2057040" cy="594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Box 41"/>
          <p:cNvSpPr/>
          <p:nvPr/>
        </p:nvSpPr>
        <p:spPr>
          <a:xfrm>
            <a:off x="3081600" y="3108960"/>
            <a:ext cx="19108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96.43%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Rectangle 42"/>
          <p:cNvSpPr/>
          <p:nvPr/>
        </p:nvSpPr>
        <p:spPr>
          <a:xfrm>
            <a:off x="5065920" y="3017520"/>
            <a:ext cx="1846800" cy="594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Box 43"/>
          <p:cNvSpPr/>
          <p:nvPr/>
        </p:nvSpPr>
        <p:spPr>
          <a:xfrm>
            <a:off x="5139000" y="3108960"/>
            <a:ext cx="170028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84.87%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Rectangle 44"/>
          <p:cNvSpPr/>
          <p:nvPr/>
        </p:nvSpPr>
        <p:spPr>
          <a:xfrm>
            <a:off x="6912720" y="3017520"/>
            <a:ext cx="1737000" cy="59400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Box 45"/>
          <p:cNvSpPr/>
          <p:nvPr/>
        </p:nvSpPr>
        <p:spPr>
          <a:xfrm>
            <a:off x="6986160" y="3108960"/>
            <a:ext cx="1590840" cy="4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89.85%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Rounded Rectangle 46"/>
          <p:cNvSpPr/>
          <p:nvPr/>
        </p:nvSpPr>
        <p:spPr>
          <a:xfrm>
            <a:off x="493920" y="3767400"/>
            <a:ext cx="8156160" cy="80424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47"/>
          <p:cNvSpPr/>
          <p:nvPr/>
        </p:nvSpPr>
        <p:spPr>
          <a:xfrm>
            <a:off x="640080" y="3840480"/>
            <a:ext cx="7863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Best configuration: E1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48"/>
          <p:cNvSpPr/>
          <p:nvPr/>
        </p:nvSpPr>
        <p:spPr>
          <a:xfrm>
            <a:off x="640080" y="416052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+1.20 percentage points over E0, with 4.72M trainable parameters. E2 is 0.26 points below E0.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Consistency Across Six Test Folds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E1 improves over E0 on every fold; E2 improves on only two test folds.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3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524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6" name="Picture 6" descr="fold_results.png"/>
          <p:cNvPicPr/>
          <p:nvPr/>
        </p:nvPicPr>
        <p:blipFill>
          <a:blip r:embed="rId1"/>
          <a:stretch/>
        </p:blipFill>
        <p:spPr>
          <a:xfrm>
            <a:off x="493920" y="1194480"/>
            <a:ext cx="8156160" cy="335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Where E1 Helps Most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The largest benefit is severe compound occlusion—not uniform improvement in every condition.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29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530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2" name="Picture 6" descr="conditions.png"/>
          <p:cNvPicPr/>
          <p:nvPr/>
        </p:nvPicPr>
        <p:blipFill>
          <a:blip r:embed="rId1"/>
          <a:stretch/>
        </p:blipFill>
        <p:spPr>
          <a:xfrm>
            <a:off x="702000" y="1124640"/>
            <a:ext cx="7740000" cy="3181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Rectangle 7"/>
          <p:cNvSpPr/>
          <p:nvPr/>
        </p:nvSpPr>
        <p:spPr>
          <a:xfrm>
            <a:off x="493920" y="4361760"/>
            <a:ext cx="8156160" cy="30132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Box 8"/>
          <p:cNvSpPr/>
          <p:nvPr/>
        </p:nvSpPr>
        <p:spPr>
          <a:xfrm>
            <a:off x="640080" y="4434840"/>
            <a:ext cx="78634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Mask + sunglasses: 35.6% → 47.2% (+11.6 points). Scarf, mask, and clean-face results do not all improve.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Accuracy Alone Hides the Trade-Off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Lower rejection can come with more accepted wrong identities.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37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538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Rectangle 6"/>
          <p:cNvSpPr/>
          <p:nvPr/>
        </p:nvSpPr>
        <p:spPr>
          <a:xfrm>
            <a:off x="493920" y="1234440"/>
            <a:ext cx="3657240" cy="52092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Box 7"/>
          <p:cNvSpPr/>
          <p:nvPr/>
        </p:nvSpPr>
        <p:spPr>
          <a:xfrm>
            <a:off x="567000" y="1325880"/>
            <a:ext cx="3511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Outcome (count)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Rectangle 8"/>
          <p:cNvSpPr/>
          <p:nvPr/>
        </p:nvSpPr>
        <p:spPr>
          <a:xfrm>
            <a:off x="4151520" y="1234440"/>
            <a:ext cx="1499400" cy="52092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Box 9"/>
          <p:cNvSpPr/>
          <p:nvPr/>
        </p:nvSpPr>
        <p:spPr>
          <a:xfrm>
            <a:off x="4224600" y="132588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E0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Rectangle 10"/>
          <p:cNvSpPr/>
          <p:nvPr/>
        </p:nvSpPr>
        <p:spPr>
          <a:xfrm>
            <a:off x="5650920" y="1234440"/>
            <a:ext cx="1499400" cy="52092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Box 11"/>
          <p:cNvSpPr/>
          <p:nvPr/>
        </p:nvSpPr>
        <p:spPr>
          <a:xfrm>
            <a:off x="5724000" y="132588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E1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Rectangle 12"/>
          <p:cNvSpPr/>
          <p:nvPr/>
        </p:nvSpPr>
        <p:spPr>
          <a:xfrm>
            <a:off x="7150680" y="1234440"/>
            <a:ext cx="1499400" cy="52092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Box 13"/>
          <p:cNvSpPr/>
          <p:nvPr/>
        </p:nvSpPr>
        <p:spPr>
          <a:xfrm>
            <a:off x="7223760" y="132588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E2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Rectangle 14"/>
          <p:cNvSpPr/>
          <p:nvPr/>
        </p:nvSpPr>
        <p:spPr>
          <a:xfrm>
            <a:off x="493920" y="1755720"/>
            <a:ext cx="3657240" cy="5209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15"/>
          <p:cNvSpPr/>
          <p:nvPr/>
        </p:nvSpPr>
        <p:spPr>
          <a:xfrm>
            <a:off x="567000" y="1847160"/>
            <a:ext cx="35110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&gt;0.3, correct identification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Rectangle 16"/>
          <p:cNvSpPr/>
          <p:nvPr/>
        </p:nvSpPr>
        <p:spPr>
          <a:xfrm>
            <a:off x="4151520" y="1755720"/>
            <a:ext cx="1499400" cy="5209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17"/>
          <p:cNvSpPr/>
          <p:nvPr/>
        </p:nvSpPr>
        <p:spPr>
          <a:xfrm>
            <a:off x="4224600" y="184716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4,944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Rectangle 18"/>
          <p:cNvSpPr/>
          <p:nvPr/>
        </p:nvSpPr>
        <p:spPr>
          <a:xfrm>
            <a:off x="5650920" y="1755720"/>
            <a:ext cx="1499400" cy="520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Box 19"/>
          <p:cNvSpPr/>
          <p:nvPr/>
        </p:nvSpPr>
        <p:spPr>
          <a:xfrm>
            <a:off x="5724000" y="184716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5,014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Rectangle 20"/>
          <p:cNvSpPr/>
          <p:nvPr/>
        </p:nvSpPr>
        <p:spPr>
          <a:xfrm>
            <a:off x="7150680" y="1755720"/>
            <a:ext cx="1499400" cy="5209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Box 21"/>
          <p:cNvSpPr/>
          <p:nvPr/>
        </p:nvSpPr>
        <p:spPr>
          <a:xfrm>
            <a:off x="7223760" y="184716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4,929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Rectangle 22"/>
          <p:cNvSpPr/>
          <p:nvPr/>
        </p:nvSpPr>
        <p:spPr>
          <a:xfrm>
            <a:off x="493920" y="2277000"/>
            <a:ext cx="3657240" cy="5209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Box 23"/>
          <p:cNvSpPr/>
          <p:nvPr/>
        </p:nvSpPr>
        <p:spPr>
          <a:xfrm>
            <a:off x="567000" y="2368440"/>
            <a:ext cx="35110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&lt;0.3, correct identification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Rectangle 24"/>
          <p:cNvSpPr/>
          <p:nvPr/>
        </p:nvSpPr>
        <p:spPr>
          <a:xfrm>
            <a:off x="4151520" y="2277000"/>
            <a:ext cx="1499400" cy="5209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25"/>
          <p:cNvSpPr/>
          <p:nvPr/>
        </p:nvSpPr>
        <p:spPr>
          <a:xfrm>
            <a:off x="4224600" y="236844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727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Rectangle 26"/>
          <p:cNvSpPr/>
          <p:nvPr/>
        </p:nvSpPr>
        <p:spPr>
          <a:xfrm>
            <a:off x="5650920" y="2277000"/>
            <a:ext cx="1499400" cy="520920"/>
          </a:xfrm>
          <a:prstGeom prst="rect">
            <a:avLst/>
          </a:prstGeom>
          <a:solidFill>
            <a:schemeClr val="bg1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27"/>
          <p:cNvSpPr/>
          <p:nvPr/>
        </p:nvSpPr>
        <p:spPr>
          <a:xfrm>
            <a:off x="5724000" y="236844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493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Rectangle 28"/>
          <p:cNvSpPr/>
          <p:nvPr/>
        </p:nvSpPr>
        <p:spPr>
          <a:xfrm>
            <a:off x="7150680" y="2277000"/>
            <a:ext cx="1499400" cy="520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29"/>
          <p:cNvSpPr/>
          <p:nvPr/>
        </p:nvSpPr>
        <p:spPr>
          <a:xfrm>
            <a:off x="7223760" y="236844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421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Rectangle 30"/>
          <p:cNvSpPr/>
          <p:nvPr/>
        </p:nvSpPr>
        <p:spPr>
          <a:xfrm>
            <a:off x="493920" y="2797920"/>
            <a:ext cx="3657240" cy="5209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Box 31"/>
          <p:cNvSpPr/>
          <p:nvPr/>
        </p:nvSpPr>
        <p:spPr>
          <a:xfrm>
            <a:off x="567000" y="2889360"/>
            <a:ext cx="35110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&lt;0.3, wrong identification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Rectangle 32"/>
          <p:cNvSpPr/>
          <p:nvPr/>
        </p:nvSpPr>
        <p:spPr>
          <a:xfrm>
            <a:off x="4151520" y="2797920"/>
            <a:ext cx="1499400" cy="5209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33"/>
          <p:cNvSpPr/>
          <p:nvPr/>
        </p:nvSpPr>
        <p:spPr>
          <a:xfrm>
            <a:off x="4224600" y="288936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147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Rectangle 34"/>
          <p:cNvSpPr/>
          <p:nvPr/>
        </p:nvSpPr>
        <p:spPr>
          <a:xfrm>
            <a:off x="5650920" y="2797920"/>
            <a:ext cx="1499400" cy="520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Box 35"/>
          <p:cNvSpPr/>
          <p:nvPr/>
        </p:nvSpPr>
        <p:spPr>
          <a:xfrm>
            <a:off x="5724000" y="288936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298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Rectangle 36"/>
          <p:cNvSpPr/>
          <p:nvPr/>
        </p:nvSpPr>
        <p:spPr>
          <a:xfrm>
            <a:off x="7150680" y="2797920"/>
            <a:ext cx="1499400" cy="5209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37"/>
          <p:cNvSpPr/>
          <p:nvPr/>
        </p:nvSpPr>
        <p:spPr>
          <a:xfrm>
            <a:off x="7223760" y="288936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275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Rectangle 38"/>
          <p:cNvSpPr/>
          <p:nvPr/>
        </p:nvSpPr>
        <p:spPr>
          <a:xfrm>
            <a:off x="493920" y="3319200"/>
            <a:ext cx="3657240" cy="5209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39"/>
          <p:cNvSpPr/>
          <p:nvPr/>
        </p:nvSpPr>
        <p:spPr>
          <a:xfrm>
            <a:off x="567000" y="3410640"/>
            <a:ext cx="351108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&gt;0.3, wrong identification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Rectangle 40"/>
          <p:cNvSpPr/>
          <p:nvPr/>
        </p:nvSpPr>
        <p:spPr>
          <a:xfrm>
            <a:off x="4151520" y="3319200"/>
            <a:ext cx="1499400" cy="5209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41"/>
          <p:cNvSpPr/>
          <p:nvPr/>
        </p:nvSpPr>
        <p:spPr>
          <a:xfrm>
            <a:off x="4224600" y="341064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42"/>
          <p:cNvSpPr/>
          <p:nvPr/>
        </p:nvSpPr>
        <p:spPr>
          <a:xfrm>
            <a:off x="5650920" y="3319200"/>
            <a:ext cx="1499400" cy="5209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Box 43"/>
          <p:cNvSpPr/>
          <p:nvPr/>
        </p:nvSpPr>
        <p:spPr>
          <a:xfrm>
            <a:off x="5724000" y="341064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13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Rectangle 44"/>
          <p:cNvSpPr/>
          <p:nvPr/>
        </p:nvSpPr>
        <p:spPr>
          <a:xfrm>
            <a:off x="7150680" y="3319200"/>
            <a:ext cx="1499400" cy="5209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Box 45"/>
          <p:cNvSpPr/>
          <p:nvPr/>
        </p:nvSpPr>
        <p:spPr>
          <a:xfrm>
            <a:off x="7223760" y="3410640"/>
            <a:ext cx="1352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193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Rounded Rectangle 46"/>
          <p:cNvSpPr/>
          <p:nvPr/>
        </p:nvSpPr>
        <p:spPr>
          <a:xfrm>
            <a:off x="493920" y="3803760"/>
            <a:ext cx="8156160" cy="82260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47"/>
          <p:cNvSpPr/>
          <p:nvPr/>
        </p:nvSpPr>
        <p:spPr>
          <a:xfrm>
            <a:off x="640080" y="3877200"/>
            <a:ext cx="7863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Interpretation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Box 48"/>
          <p:cNvSpPr/>
          <p:nvPr/>
        </p:nvSpPr>
        <p:spPr>
          <a:xfrm>
            <a:off x="640080" y="4197240"/>
            <a:ext cx="78634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E2 accepts 193 wrong identities (3.32%), versus 13 (0.22%) for E1.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E1: Training &amp; Validation Loss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One common loss: solid = training people, dashed = held-out validation people; one colour per fold.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85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586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Box 7"/>
          <p:cNvSpPr/>
          <p:nvPr/>
        </p:nvSpPr>
        <p:spPr>
          <a:xfrm>
            <a:off x="594360" y="443484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Same objective on both sides (clean crops, no margin, no smoothing, 30-benchmark gallery), so the gap between the lines is a real generalisation gap. Stars mark the selected epoch, chosen by validation accuracy.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9" name="Picture 8" descr="e1_loss_matched.png"/>
          <p:cNvPicPr/>
          <p:nvPr/>
        </p:nvPicPr>
        <p:blipFill>
          <a:blip r:embed="rId1"/>
          <a:stretch/>
        </p:blipFill>
        <p:spPr>
          <a:xfrm>
            <a:off x="514440" y="1124640"/>
            <a:ext cx="8114760" cy="324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E2: Training &amp; Validation Loss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One common loss: solid = training people, dashed = held-out validation people; one colour per fold.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2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593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Box 7"/>
          <p:cNvSpPr/>
          <p:nvPr/>
        </p:nvSpPr>
        <p:spPr>
          <a:xfrm>
            <a:off x="594360" y="4434840"/>
            <a:ext cx="7954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0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Same objective on both sides (clean crops, no margin, no smoothing, 30-benchmark gallery), so the gap between the lines is a real generalisation gap. Stars mark the selected epoch, chosen by validation accuracy.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6" name="Picture 8" descr="e2_loss_matched.png"/>
          <p:cNvPicPr/>
          <p:nvPr/>
        </p:nvPicPr>
        <p:blipFill>
          <a:blip r:embed="rId1"/>
          <a:stretch/>
        </p:blipFill>
        <p:spPr>
          <a:xfrm>
            <a:off x="514440" y="1124640"/>
            <a:ext cx="8114760" cy="324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Related Work &amp; Positioning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Complementary precedents; their reported accuracies use different datasets and protocols.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9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600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Rectangle 6"/>
          <p:cNvSpPr/>
          <p:nvPr/>
        </p:nvSpPr>
        <p:spPr>
          <a:xfrm>
            <a:off x="493920" y="1234440"/>
            <a:ext cx="1919880" cy="64872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Box 7"/>
          <p:cNvSpPr/>
          <p:nvPr/>
        </p:nvSpPr>
        <p:spPr>
          <a:xfrm>
            <a:off x="567000" y="1325880"/>
            <a:ext cx="17737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Work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Rectangle 8"/>
          <p:cNvSpPr/>
          <p:nvPr/>
        </p:nvSpPr>
        <p:spPr>
          <a:xfrm>
            <a:off x="2414160" y="1234440"/>
            <a:ext cx="3062880" cy="64872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9"/>
          <p:cNvSpPr/>
          <p:nvPr/>
        </p:nvSpPr>
        <p:spPr>
          <a:xfrm>
            <a:off x="2487240" y="1325880"/>
            <a:ext cx="29167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Contribution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Rectangle 10"/>
          <p:cNvSpPr/>
          <p:nvPr/>
        </p:nvSpPr>
        <p:spPr>
          <a:xfrm>
            <a:off x="5477400" y="1234440"/>
            <a:ext cx="3172680" cy="648720"/>
          </a:xfrm>
          <a:prstGeom prst="rect">
            <a:avLst/>
          </a:prstGeom>
          <a:solidFill>
            <a:srgbClr val="1B2A54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Box 11"/>
          <p:cNvSpPr/>
          <p:nvPr/>
        </p:nvSpPr>
        <p:spPr>
          <a:xfrm>
            <a:off x="5550480" y="1325880"/>
            <a:ext cx="30261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Arimo"/>
                <a:ea typeface="Arial"/>
              </a:rPr>
              <a:t>Relation to our project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Rectangle 12"/>
          <p:cNvSpPr/>
          <p:nvPr/>
        </p:nvSpPr>
        <p:spPr>
          <a:xfrm>
            <a:off x="493920" y="1883520"/>
            <a:ext cx="1919880" cy="6487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13"/>
          <p:cNvSpPr/>
          <p:nvPr/>
        </p:nvSpPr>
        <p:spPr>
          <a:xfrm>
            <a:off x="567000" y="1974960"/>
            <a:ext cx="17737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Salari &amp; Rostami, 2016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Rectangle 14"/>
          <p:cNvSpPr/>
          <p:nvPr/>
        </p:nvSpPr>
        <p:spPr>
          <a:xfrm>
            <a:off x="2414160" y="1883520"/>
            <a:ext cx="3062880" cy="6487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15"/>
          <p:cNvSpPr/>
          <p:nvPr/>
        </p:nvSpPr>
        <p:spPr>
          <a:xfrm>
            <a:off x="2487240" y="1974960"/>
            <a:ext cx="29167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Pgu-Face partially covered-face dataset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Rectangle 16"/>
          <p:cNvSpPr/>
          <p:nvPr/>
        </p:nvSpPr>
        <p:spPr>
          <a:xfrm>
            <a:off x="5477400" y="1883520"/>
            <a:ext cx="3172680" cy="6487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Box 17"/>
          <p:cNvSpPr/>
          <p:nvPr/>
        </p:nvSpPr>
        <p:spPr>
          <a:xfrm>
            <a:off x="5550480" y="1974960"/>
            <a:ext cx="30261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Collection precedent; broaden covering types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Rectangle 18"/>
          <p:cNvSpPr/>
          <p:nvPr/>
        </p:nvSpPr>
        <p:spPr>
          <a:xfrm>
            <a:off x="493920" y="2532960"/>
            <a:ext cx="1919880" cy="6487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Box 19"/>
          <p:cNvSpPr/>
          <p:nvPr/>
        </p:nvSpPr>
        <p:spPr>
          <a:xfrm>
            <a:off x="567000" y="2624400"/>
            <a:ext cx="17737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Chong et al., 2022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Rectangle 20"/>
          <p:cNvSpPr/>
          <p:nvPr/>
        </p:nvSpPr>
        <p:spPr>
          <a:xfrm>
            <a:off x="2414160" y="2532960"/>
            <a:ext cx="3062880" cy="6487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21"/>
          <p:cNvSpPr/>
          <p:nvPr/>
        </p:nvSpPr>
        <p:spPr>
          <a:xfrm>
            <a:off x="2487240" y="2624400"/>
            <a:ext cx="29167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CNN features + SVM for masked faces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Rectangle 22"/>
          <p:cNvSpPr/>
          <p:nvPr/>
        </p:nvSpPr>
        <p:spPr>
          <a:xfrm>
            <a:off x="5477400" y="2532960"/>
            <a:ext cx="3172680" cy="6487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Box 23"/>
          <p:cNvSpPr/>
          <p:nvPr/>
        </p:nvSpPr>
        <p:spPr>
          <a:xfrm>
            <a:off x="5550480" y="2624400"/>
            <a:ext cx="30261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Different recognition pipeline and benchmark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Rectangle 24"/>
          <p:cNvSpPr/>
          <p:nvPr/>
        </p:nvSpPr>
        <p:spPr>
          <a:xfrm>
            <a:off x="493920" y="3182040"/>
            <a:ext cx="1919880" cy="6487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Box 25"/>
          <p:cNvSpPr/>
          <p:nvPr/>
        </p:nvSpPr>
        <p:spPr>
          <a:xfrm>
            <a:off x="567000" y="3273480"/>
            <a:ext cx="17737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Montero et al., 2022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Rectangle 26"/>
          <p:cNvSpPr/>
          <p:nvPr/>
        </p:nvSpPr>
        <p:spPr>
          <a:xfrm>
            <a:off x="2414160" y="3182040"/>
            <a:ext cx="3062880" cy="6487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Box 27"/>
          <p:cNvSpPr/>
          <p:nvPr/>
        </p:nvSpPr>
        <p:spPr>
          <a:xfrm>
            <a:off x="2487240" y="3273480"/>
            <a:ext cx="29167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Multi-task ArcFace for masked faces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Rectangle 28"/>
          <p:cNvSpPr/>
          <p:nvPr/>
        </p:nvSpPr>
        <p:spPr>
          <a:xfrm>
            <a:off x="5477400" y="3182040"/>
            <a:ext cx="3172680" cy="648720"/>
          </a:xfrm>
          <a:prstGeom prst="rect">
            <a:avLst/>
          </a:prstGeom>
          <a:solidFill>
            <a:srgbClr val="EFF4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29"/>
          <p:cNvSpPr/>
          <p:nvPr/>
        </p:nvSpPr>
        <p:spPr>
          <a:xfrm>
            <a:off x="5550480" y="3273480"/>
            <a:ext cx="30261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Our study varies layer scope, not task losses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Rectangle 30"/>
          <p:cNvSpPr/>
          <p:nvPr/>
        </p:nvSpPr>
        <p:spPr>
          <a:xfrm>
            <a:off x="493920" y="3831480"/>
            <a:ext cx="1919880" cy="6487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Box 31"/>
          <p:cNvSpPr/>
          <p:nvPr/>
        </p:nvSpPr>
        <p:spPr>
          <a:xfrm>
            <a:off x="567000" y="3922920"/>
            <a:ext cx="17737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Deng et al., 2019 / 2020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Rectangle 32"/>
          <p:cNvSpPr/>
          <p:nvPr/>
        </p:nvSpPr>
        <p:spPr>
          <a:xfrm>
            <a:off x="2414160" y="3831480"/>
            <a:ext cx="3062880" cy="6487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Box 33"/>
          <p:cNvSpPr/>
          <p:nvPr/>
        </p:nvSpPr>
        <p:spPr>
          <a:xfrm>
            <a:off x="2487240" y="3922920"/>
            <a:ext cx="291672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ArcFace / RetinaFace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Rectangle 34"/>
          <p:cNvSpPr/>
          <p:nvPr/>
        </p:nvSpPr>
        <p:spPr>
          <a:xfrm>
            <a:off x="5477400" y="3831480"/>
            <a:ext cx="3172680" cy="648720"/>
          </a:xfrm>
          <a:prstGeom prst="rect">
            <a:avLst/>
          </a:prstGeom>
          <a:solidFill>
            <a:srgbClr val="FBFCFF"/>
          </a:solidFill>
          <a:ln w="762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Box 35"/>
          <p:cNvSpPr/>
          <p:nvPr/>
        </p:nvSpPr>
        <p:spPr>
          <a:xfrm>
            <a:off x="5550480" y="3922920"/>
            <a:ext cx="302616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Embedding and detection foundations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Rectangle 36"/>
          <p:cNvSpPr/>
          <p:nvPr/>
        </p:nvSpPr>
        <p:spPr>
          <a:xfrm>
            <a:off x="493920" y="4306680"/>
            <a:ext cx="8156160" cy="392760"/>
          </a:xfrm>
          <a:prstGeom prst="rect">
            <a:avLst/>
          </a:prstGeom>
          <a:solidFill>
            <a:srgbClr val="F5F5F5"/>
          </a:solidFill>
          <a:ln w="7620">
            <a:solidFill>
              <a:srgbClr val="F5F5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Box 37"/>
          <p:cNvSpPr/>
          <p:nvPr/>
        </p:nvSpPr>
        <p:spPr>
          <a:xfrm>
            <a:off x="640080" y="4380120"/>
            <a:ext cx="786348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Our contribution: a documented local collection and a fixed-gallery, person-disjoint adaptation study.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Limitations &amp; Responsible Use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The results describe this collection and protocol, not unrestricted real-world recognition.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6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637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Rounded Rectangle 6"/>
          <p:cNvSpPr/>
          <p:nvPr/>
        </p:nvSpPr>
        <p:spPr>
          <a:xfrm>
            <a:off x="493920" y="1261800"/>
            <a:ext cx="3931560" cy="30718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Box 7"/>
          <p:cNvSpPr/>
          <p:nvPr/>
        </p:nvSpPr>
        <p:spPr>
          <a:xfrm>
            <a:off x="640080" y="1380600"/>
            <a:ext cx="3638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Data limitations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Box 8"/>
          <p:cNvSpPr/>
          <p:nvPr/>
        </p:nvSpPr>
        <p:spPr>
          <a:xfrm>
            <a:off x="640080" y="1865520"/>
            <a:ext cx="363888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Only 30 people; indoor, single-sitting capture.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Scarf coverage and some conditions are incomplete.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Same-identity duplicates remain.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Previously added digital coverings are not flagged individually.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Faces remain personal data despite pseudonyms.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Rounded Rectangle 9"/>
          <p:cNvSpPr/>
          <p:nvPr/>
        </p:nvSpPr>
        <p:spPr>
          <a:xfrm>
            <a:off x="4617720" y="1261800"/>
            <a:ext cx="4032000" cy="307188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Box 10"/>
          <p:cNvSpPr/>
          <p:nvPr/>
        </p:nvSpPr>
        <p:spPr>
          <a:xfrm>
            <a:off x="4763880" y="1380600"/>
            <a:ext cx="37396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7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Evaluation limitations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11"/>
          <p:cNvSpPr/>
          <p:nvPr/>
        </p:nvSpPr>
        <p:spPr>
          <a:xfrm>
            <a:off x="4763880" y="1865520"/>
            <a:ext cx="3739680" cy="242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All test queries are enrolled identities; no unseen-stranger rejection benchmark.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Threshold 0.30 is fixed, not a deployment guarantee.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Gallery is locked to pretrained embeddings.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Consent is academic / non-commercial and withdrawable; access is not a public license.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Key Findings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A modest, targeted update gives the best measured transfer to held-out people.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7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648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ounded Rectangle 6"/>
          <p:cNvSpPr/>
          <p:nvPr/>
        </p:nvSpPr>
        <p:spPr>
          <a:xfrm>
            <a:off x="493920" y="1389960"/>
            <a:ext cx="2633040" cy="130716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Box 7"/>
          <p:cNvSpPr/>
          <p:nvPr/>
        </p:nvSpPr>
        <p:spPr>
          <a:xfrm>
            <a:off x="585360" y="161856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2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86.18%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Box 8"/>
          <p:cNvSpPr/>
          <p:nvPr/>
        </p:nvSpPr>
        <p:spPr>
          <a:xfrm>
            <a:off x="585360" y="222192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E1 pooled accuracy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Rounded Rectangle 9"/>
          <p:cNvSpPr/>
          <p:nvPr/>
        </p:nvSpPr>
        <p:spPr>
          <a:xfrm>
            <a:off x="3255120" y="1389960"/>
            <a:ext cx="2633040" cy="130716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Box 10"/>
          <p:cNvSpPr/>
          <p:nvPr/>
        </p:nvSpPr>
        <p:spPr>
          <a:xfrm>
            <a:off x="3346560" y="161856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2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+1.20 pp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Box 11"/>
          <p:cNvSpPr/>
          <p:nvPr/>
        </p:nvSpPr>
        <p:spPr>
          <a:xfrm>
            <a:off x="3346560" y="222192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E1 improvement over E0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Rounded Rectangle 12"/>
          <p:cNvSpPr/>
          <p:nvPr/>
        </p:nvSpPr>
        <p:spPr>
          <a:xfrm>
            <a:off x="6016680" y="1389960"/>
            <a:ext cx="2633040" cy="1307160"/>
          </a:xfrm>
          <a:prstGeom prst="roundRect">
            <a:avLst>
              <a:gd name="adj" fmla="val 7000"/>
            </a:avLst>
          </a:prstGeom>
          <a:solidFill>
            <a:srgbClr val="FBFCFF"/>
          </a:solidFill>
          <a:ln w="7620">
            <a:solidFill>
              <a:srgbClr val="D6DDE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13"/>
          <p:cNvSpPr/>
          <p:nvPr/>
        </p:nvSpPr>
        <p:spPr>
          <a:xfrm>
            <a:off x="6108120" y="1618560"/>
            <a:ext cx="2450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2800" b="1" u="none" strike="noStrike">
                <a:solidFill>
                  <a:srgbClr val="203C80"/>
                </a:solidFill>
                <a:effectLst/>
                <a:uFillTx/>
                <a:latin typeface="Arimo"/>
                <a:ea typeface="Arial"/>
              </a:rPr>
              <a:t>+11.6 pp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Box 14"/>
          <p:cNvSpPr/>
          <p:nvPr/>
        </p:nvSpPr>
        <p:spPr>
          <a:xfrm>
            <a:off x="6108120" y="2221920"/>
            <a:ext cx="24501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ctr">
              <a:lnSpc>
                <a:spcPct val="100000"/>
              </a:lnSpc>
              <a:spcAft>
                <a:spcPts val="499"/>
              </a:spcAft>
            </a:pPr>
            <a:r>
              <a:rPr lang="en-US" sz="1200" b="1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Mask + sunglasses gain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15"/>
          <p:cNvSpPr/>
          <p:nvPr/>
        </p:nvSpPr>
        <p:spPr>
          <a:xfrm>
            <a:off x="676800" y="3127320"/>
            <a:ext cx="777204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The new dataset targets richer occlusion variation, not greater identity diversity.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Train the final ArcFace block; keep the gallery and early representation stable.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500" b="0" u="none" strike="noStrike">
                <a:solidFill>
                  <a:srgbClr val="1B1B27"/>
                </a:solidFill>
                <a:effectLst/>
                <a:uFillTx/>
                <a:latin typeface="Arimo"/>
                <a:ea typeface="Arial"/>
              </a:rPr>
              <a:t>Next: independent sessions, more participants, and unseen-identity rejection tests.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References &amp; Reproduction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Report-aligned sources and artifacts; original deck retained as the visual template.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2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663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6"/>
          <p:cNvSpPr/>
          <p:nvPr/>
        </p:nvSpPr>
        <p:spPr>
          <a:xfrm>
            <a:off x="603360" y="12618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Arimo"/>
                <a:ea typeface="Arial"/>
                <a:hlinkClick r:id="rId1"/>
              </a:rPr>
              <a:t>Salari &amp; Rostami · Pgu-Face · Data in Brief 9 (2016), 288–291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Box 7"/>
          <p:cNvSpPr/>
          <p:nvPr/>
        </p:nvSpPr>
        <p:spPr>
          <a:xfrm>
            <a:off x="603360" y="169164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Arimo"/>
                <a:ea typeface="Arial"/>
                <a:hlinkClick r:id="rId2"/>
              </a:rPr>
              <a:t>Chong et al. · Masked Face Recognition Using SVM and CNN · ICoICT 2022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8"/>
          <p:cNvSpPr/>
          <p:nvPr/>
        </p:nvSpPr>
        <p:spPr>
          <a:xfrm>
            <a:off x="603360" y="212148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Arimo"/>
                <a:ea typeface="Arial"/>
                <a:hlinkClick r:id="rId3"/>
              </a:rPr>
              <a:t>Montero et al. · Boosting Masked Face Recognition with Multi-Task ArcFace · 2022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9"/>
          <p:cNvSpPr/>
          <p:nvPr/>
        </p:nvSpPr>
        <p:spPr>
          <a:xfrm>
            <a:off x="603360" y="255132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Arimo"/>
                <a:ea typeface="Arial"/>
                <a:hlinkClick r:id="rId4"/>
              </a:rPr>
              <a:t>Deng et al. · ArcFace · CVPR 2019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10"/>
          <p:cNvSpPr/>
          <p:nvPr/>
        </p:nvSpPr>
        <p:spPr>
          <a:xfrm>
            <a:off x="603360" y="298080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sng" strike="noStrike">
                <a:solidFill>
                  <a:srgbClr val="0563C1"/>
                </a:solidFill>
                <a:effectLst/>
                <a:uFillTx/>
                <a:latin typeface="Arimo"/>
                <a:ea typeface="Arial"/>
                <a:hlinkClick r:id="rId5"/>
              </a:rPr>
              <a:t>Deng et al. · RetinaFace · CVPR 2020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Box 11"/>
          <p:cNvSpPr/>
          <p:nvPr/>
        </p:nvSpPr>
        <p:spPr>
          <a:xfrm>
            <a:off x="603360" y="3602880"/>
            <a:ext cx="78634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20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Project artifacts: final_technical_report.md, final.pdf, metadata/e1e2_person_folds.json, runs/e1e2/. Results reproduced from saved aggregates and histories.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Box 12"/>
          <p:cNvSpPr/>
          <p:nvPr/>
        </p:nvSpPr>
        <p:spPr>
          <a:xfrm>
            <a:off x="603360" y="432504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300" b="1" u="sng" strike="noStrike">
                <a:solidFill>
                  <a:srgbClr val="0563C1"/>
                </a:solidFill>
                <a:effectLst/>
                <a:uFillTx/>
                <a:latin typeface="Arimo"/>
                <a:ea typeface="Arial"/>
                <a:hlinkClick r:id="rId6"/>
              </a:rPr>
              <a:t>Open our dataset folder (Google Drive)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Appendix · E0 Confusion Matrix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30 identity columns + R for rejection; held-out queries pooled across six folds.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4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675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7" name="Picture 6" descr="e0_confusion.png"/>
          <p:cNvPicPr/>
          <p:nvPr/>
        </p:nvPicPr>
        <p:blipFill>
          <a:blip r:embed="rId1"/>
          <a:stretch/>
        </p:blipFill>
        <p:spPr>
          <a:xfrm>
            <a:off x="2415600" y="1078920"/>
            <a:ext cx="4312440" cy="361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Appendix · E1 Confusion Matrix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30 identity columns + R for rejection; held-out queries pooled across six folds.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0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681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3" name="Picture 6" descr="e1_confusion.png"/>
          <p:cNvPicPr/>
          <p:nvPr/>
        </p:nvPicPr>
        <p:blipFill>
          <a:blip r:embed="rId1"/>
          <a:stretch/>
        </p:blipFill>
        <p:spPr>
          <a:xfrm>
            <a:off x="2415600" y="1078920"/>
            <a:ext cx="4312440" cy="361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TextBox 1"/>
          <p:cNvSpPr/>
          <p:nvPr/>
        </p:nvSpPr>
        <p:spPr>
          <a:xfrm>
            <a:off x="493920" y="274320"/>
            <a:ext cx="81561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2700" b="0" u="none" strike="noStrike">
                <a:solidFill>
                  <a:srgbClr val="1B1B27"/>
                </a:solidFill>
                <a:effectLst/>
                <a:uFillTx/>
                <a:latin typeface="Raleway"/>
                <a:ea typeface="Arial"/>
              </a:rPr>
              <a:t>Appendix · E2 Confusion Matrix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2"/>
          <p:cNvSpPr/>
          <p:nvPr/>
        </p:nvSpPr>
        <p:spPr>
          <a:xfrm>
            <a:off x="493920" y="768240"/>
            <a:ext cx="8156160" cy="33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1150" b="0" u="none" strike="noStrike">
                <a:solidFill>
                  <a:srgbClr val="566174"/>
                </a:solidFill>
                <a:effectLst/>
                <a:uFillTx/>
                <a:latin typeface="Arimo"/>
                <a:ea typeface="Arial"/>
              </a:rPr>
              <a:t>30 identity columns + R for rejection; held-out queries pooled across six folds.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6" name="Connector 3"/>
          <p:cNvCxnSpPr/>
          <p:nvPr/>
        </p:nvCxnSpPr>
        <p:spPr>
          <a:xfrm>
            <a:off x="274320" y="4836960"/>
            <a:ext cx="8577360" cy="360"/>
          </a:xfrm>
          <a:prstGeom prst="straightConnector1">
            <a:avLst/>
          </a:prstGeom>
          <a:ln w="7620">
            <a:solidFill>
              <a:srgbClr val="C9D6EE"/>
            </a:solidFill>
            <a:round/>
          </a:ln>
        </p:spPr>
      </p:cxnSp>
      <p:sp>
        <p:nvSpPr>
          <p:cNvPr id="687" name="TextBox 4"/>
          <p:cNvSpPr/>
          <p:nvPr/>
        </p:nvSpPr>
        <p:spPr>
          <a:xfrm>
            <a:off x="274320" y="4901040"/>
            <a:ext cx="182844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20 Sep 2026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Box 5"/>
          <p:cNvSpPr/>
          <p:nvPr/>
        </p:nvSpPr>
        <p:spPr>
          <a:xfrm>
            <a:off x="8549640" y="4901040"/>
            <a:ext cx="30132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tIns="0" rIns="18360" bIns="0" anchor="t">
            <a:spAutoFit/>
          </a:bodyPr>
          <a:p>
            <a:pPr algn="r">
              <a:lnSpc>
                <a:spcPct val="100000"/>
              </a:lnSpc>
              <a:spcAft>
                <a:spcPts val="499"/>
              </a:spcAft>
            </a:pPr>
            <a:r>
              <a:rPr lang="en-US" sz="900" b="0" u="none" strike="noStrike">
                <a:solidFill>
                  <a:srgbClr val="4A5782"/>
                </a:solidFill>
                <a:effectLst/>
                <a:uFillTx/>
                <a:latin typeface="Arimo"/>
                <a:ea typeface="Arial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9" name="Picture 6" descr="e2_confusion.png"/>
          <p:cNvPicPr/>
          <p:nvPr/>
        </p:nvPicPr>
        <p:blipFill>
          <a:blip r:embed="rId1"/>
          <a:stretch/>
        </p:blipFill>
        <p:spPr>
          <a:xfrm>
            <a:off x="2415600" y="1078920"/>
            <a:ext cx="4312440" cy="3611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</TotalTime>
  <Application>LibreOffice/26.8.0.3$Windows_X86_64 LibreOffice_project/bce0998afefdbc355585ca324285661a2170ba77</Application>
  <AppVersion>15.0000</AppVersion>
  <Words>4188</Words>
  <Paragraphs>483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>Updated from the supplied v4 deck; no demo or deployment slides.</dc:description>
  <dc:language>en-US</dc:language>
  <cp:lastModifiedBy/>
  <dcterms:modified xsi:type="dcterms:W3CDTF">2026-10-06T12:04:01Z</dcterms:modified>
  <cp:revision>12</cp:revision>
  <dc:subject>Person-disjoint six-fold evaluation of partial ArcFace fine-tuning</dc:subject>
  <dc:title>Occlusion-Robust Face Identification — Current Project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31</vt:i4>
  </property>
  <property fmtid="{D5CDD505-2E9C-101B-9397-08002B2CF9AE}" pid="3" name="PresentationFormat">
    <vt:lpwstr>On-screen Show (16:9)</vt:lpwstr>
  </property>
  <property fmtid="{D5CDD505-2E9C-101B-9397-08002B2CF9AE}" pid="4" name="Slides">
    <vt:i4>31</vt:i4>
  </property>
</Properties>
</file>