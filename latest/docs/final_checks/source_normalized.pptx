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26"/>
  </p:notesMasterIdLst>
  <p:sldIdLst>
    <p:sldId id="256" r:id="rId2"/>
    <p:sldId id="257" r:id="rId3"/>
    <p:sldId id="258" r:id="rId4"/>
    <p:sldId id="278" r:id="rId5"/>
    <p:sldId id="259" r:id="rId6"/>
    <p:sldId id="260" r:id="rId7"/>
    <p:sldId id="261" r:id="rId8"/>
    <p:sldId id="262" r:id="rId9"/>
    <p:sldId id="279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5143500" cy="9144000"/>
  <p:embeddedFontLst>
    <p:embeddedFont>
      <p:font typeface="Arimo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Play" panose="020B0604020202020204" charset="0"/>
      <p:regular r:id="rId35"/>
      <p:bold r:id="rId36"/>
    </p:embeddedFont>
    <p:embeddedFont>
      <p:font typeface="Raleway" pitchFamily="2" charset="0"/>
      <p:regular r:id="rId37"/>
      <p:bold r:id="rId38"/>
      <p:italic r:id="rId39"/>
      <p:boldItalic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38" Type="http://schemas.openxmlformats.org/officeDocument/2006/relationships/font" Target="fonts/font12.fntdata"/><Relationship Id="rId39" Type="http://schemas.openxmlformats.org/officeDocument/2006/relationships/font" Target="fonts/font13.fntdata"/><Relationship Id="rId40" Type="http://schemas.openxmlformats.org/officeDocument/2006/relationships/font" Target="fonts/font14.fntdata"/><Relationship Id="rId41" Type="http://schemas.openxmlformats.org/officeDocument/2006/relationships/font" Target="fonts/font15.fntdata"/><Relationship Id="rId42" Type="http://schemas.openxmlformats.org/officeDocument/2006/relationships/font" Target="fonts/font16.fntdata"/><Relationship Id="rId43" Type="http://schemas.openxmlformats.org/officeDocument/2006/relationships/font" Target="fonts/font17.fntdata"/><Relationship Id="rId44" Type="http://schemas.openxmlformats.org/officeDocument/2006/relationships/font" Target="fonts/font18.fntdata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Open with the use case: a closed site where everyone is enrolled, and you need to flag a specific person who is deliberately covering their face. Then the three bullets: mask takes the lower face, sunglasses take the eyes, together there is nothing left. Close on the research question.</a:t>
            </a:r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Four numbers and the split. Everything was captured in person with signed consent -- no stock photos, no scraped images.</a:t>
            </a:r>
          </a:p>
        </p:txBody>
      </p:sp>
      <p:sp>
        <p:nvSpPr>
          <p:cNvPr id="68" name="Google Shape;6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eight conditions the model actually receives. Point at the two red captions: those compound conditions are the only ones E1 could not handle.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Three curation steps. The honest point is the green bar: about 2% of images are brightness-derived from the same person's own photos, because some participants declined some conditions. Nothing was ever deleted.</a:t>
            </a:r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step that makes the system background-independent: a 112x112 crop aligned on landmarks contains almost no background, so the classifier cannot key on the room. Emphasise that the same align_crop() function is imported by the live demo.</a:t>
            </a:r>
            <a:endParaRPr/>
          </a:p>
        </p:txBody>
      </p:sp>
      <p:sp>
        <p:nvSpPr>
          <p:cNvPr id="163" name="Google Shape;16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This is arch.md diagram 2. One capture session means near-duplicate frames could straddle the split, so images are grouped first and whole groups are placed together. Two hard assertions must pass or the script aborts.</a:t>
            </a:r>
          </a:p>
        </p:txBody>
      </p:sp>
      <p:sp>
        <p:nvSpPr>
          <p:cNvPr id="251" name="Google Shape;2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Two pretrained models with strictly separate jobs. RetinaFace never sees identity; ArcFace never sees a name. Only the 30-way head knows who p07 is.</a:t>
            </a:r>
          </a:p>
        </p:txBody>
      </p:sp>
      <p:sp>
        <p:nvSpPr>
          <p:cNvPr id="292" name="Google Shape;29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arch.md diagram 3. The key structural point: E1 and E2 train on cached 512-D embeddings and never touch pixels again, so they are cheap. E3 needs raw pixels to backpropagate, so it branches off one step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arch.md diagram 4. Detection and alignment are shared by all three modes; only the embedding source and the classifier differ. Stress the last line: every mode is closed-set, so there is no UNKNOWN.</a:t>
            </a:r>
          </a:p>
        </p:txBody>
      </p:sp>
      <p:sp>
        <p:nvSpPr>
          <p:cNvPr id="333" name="Google Shape;33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a494b0f72_1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fa494b0f72_1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3fa494b0f72_1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a494b0f72_1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fa494b0f72_1_5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5" name="Google Shape;435;g3fa494b0f72_1_5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The headline is the shape of the chart, not the 94.29%. Every single occlusion is solved perfectly. The whole loss sits in one bar: 38 of E1's 57 errors are mask + sunglasses.</a:t>
            </a:r>
          </a:p>
        </p:txBody>
      </p:sp>
      <p:sp>
        <p:nvSpPr>
          <p:cNvPr id="556" name="Google Shape;55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The cleanest experiment in the project. Same architecture, same hyperparameters, same seed. Only the training data changed, so the gain is attributable to occlusion diversity and nothing else.</a:t>
            </a:r>
          </a:p>
        </p:txBody>
      </p:sp>
      <p:sp>
        <p:nvSpPr>
          <p:cNvPr id="589" name="Google Shape;58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E3 needed real engineering: insightface ships ArcFace as inference-only ONNX, so we converted the same graph and verified it numerically first. Be honest that the gain is one image out of 998.</a:t>
            </a:r>
          </a:p>
        </p:txBody>
      </p:sp>
      <p:sp>
        <p:nvSpPr>
          <p:cNvPr id="660" name="Google Shape;66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5" name="Google Shape;69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Read column by column. Between E1 and E2 exactly one row changes. Between E2 and E3 a different single row changes.</a:t>
            </a:r>
          </a:p>
        </p:txBody>
      </p:sp>
      <p:sp>
        <p:nvSpPr>
          <p:cNvPr id="696" name="Google Shape;69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0" name="Google Shape;74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Validation chose the checkpoint; test was scored once at the end. Be ready for the normalization question -- it is the most interesting debugging story here.</a:t>
            </a:r>
          </a:p>
        </p:txBody>
      </p:sp>
      <p:sp>
        <p:nvSpPr>
          <p:cNvPr id="741" name="Google Shape;74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6" name="Google Shape;7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Point at the pattern, not the cells. E1 scatters; E2 has one faint cell; E3 is a clean diagonal.</a:t>
            </a:r>
          </a:p>
        </p:txBody>
      </p:sp>
      <p:sp>
        <p:nvSpPr>
          <p:cNvPr id="787" name="Google Shape;78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1" name="Google Shape;81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The primary scientific table. The message is the bottom row.</a:t>
            </a:r>
          </a:p>
        </p:txBody>
      </p:sp>
      <p:sp>
        <p:nvSpPr>
          <p:cNvPr id="812" name="Google Shape;81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5" name="Google Shape;88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If the examiners remember one thing, make it this: on this dataset, data diversity beat backbone adaptation by roughly fifty-six to one.</a:t>
            </a:r>
          </a:p>
        </p:txBody>
      </p:sp>
      <p:sp>
        <p:nvSpPr>
          <p:cNvPr id="886" name="Google Shape;88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3" name="Google Shape;90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Two base papers, two roles. Pgu-Face proposes no recognition model, so no accuracy is attributed to it. Do not let anyone leave thinking our 100% beat Chong's 98.39% -- different datasets, protocols and metrics.</a:t>
            </a:r>
          </a:p>
        </p:txBody>
      </p:sp>
      <p:sp>
        <p:nvSpPr>
          <p:cNvPr id="904" name="Google Shape;90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5" name="Google Shape;96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The acceptance test was a live phone camera naming a masked person. HTTPS and gevent were both real debugging findings, not design flourishes.</a:t>
            </a:r>
          </a:p>
        </p:txBody>
      </p:sp>
      <p:sp>
        <p:nvSpPr>
          <p:cNvPr id="966" name="Google Shape;96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7" name="Google Shape;101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Present these without defensiveness. Single-session design and duplicate overlap are the two an examiner will press on, and both were measured, not discovered later.</a:t>
            </a:r>
          </a:p>
        </p:txBody>
      </p:sp>
      <p:sp>
        <p:nvSpPr>
          <p:cNvPr id="1018" name="Google Shape;101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6" name="Google Shape;103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Close on the ranking, not the number. The transferable result is that training-data diversity beat backbone adaptation.</a:t>
            </a:r>
          </a:p>
        </p:txBody>
      </p:sp>
      <p:sp>
        <p:nvSpPr>
          <p:cNvPr id="1037" name="Google Shape;103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42" y="380181"/>
            <a:ext cx="3287241" cy="438306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3925119" y="1198885"/>
            <a:ext cx="4722763" cy="1328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lang="en-US" sz="2750" b="1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Occlusion-Robust Face Identification Using a Pretrained ArcFace Model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3925119" y="2740447"/>
            <a:ext cx="4722763" cy="120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Machine Learning Laboratory — CSE 4112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Department of Computer Science &amp; Engineering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Khulna University of Engineering &amp; Technology (KUET)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08 September 2026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5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38" dirty="0">
                <a:solidFill>
                  <a:srgbClr val="4A5782"/>
                </a:solidFill>
              </a:rPr>
              <a:t>8</a:t>
            </a:r>
            <a:r>
              <a:rPr lang="en-US" sz="938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 Sep 2026</a:t>
            </a:r>
            <a:endParaRPr sz="938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01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Problem: Identity Under Occlusion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Recognising a known person when the face is deliberately or partly covered.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93776" y="1115568"/>
            <a:ext cx="4846320" cy="148132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76656" y="122529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Eight conditions × two lighting levels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6656" y="15544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76656" y="15544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None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805939" y="15544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805939" y="15544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Cap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935224" y="15544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935224" y="15544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Mask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064507" y="15544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064507" y="15544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Scarf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76656" y="20116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76656" y="20116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Clear glasses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805939" y="20116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805939" y="20116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Sunglasses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935224" y="20116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35224" y="20116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Mask + clear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064507" y="20116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064507" y="20116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Mask + sun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632704" y="1115568"/>
            <a:ext cx="3017520" cy="1481328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815584" y="1225296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Why compound is hardest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97296" y="1572602"/>
            <a:ext cx="2651760" cy="800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Mask hides nose, mouth, jaw</a:t>
            </a:r>
          </a:p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Sunglasses hide the eyes</a:t>
            </a:r>
          </a:p>
          <a:p>
            <a:pPr marL="215000" indent="-215000" algn="l">
              <a:lnSpc>
                <a:spcPct val="125000"/>
              </a:lnSpc>
              <a:buClr>
                <a:srgbClr val="3C3939"/>
              </a:buClr>
              <a:buSzPts val="105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Together → no identity cues left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93776" y="2724912"/>
            <a:ext cx="8156448" cy="868680"/>
          </a:xfrm>
          <a:prstGeom prst="roundRect">
            <a:avLst>
              <a:gd name="adj" fmla="val 4700"/>
            </a:avLst>
          </a:prstGeom>
          <a:solidFill>
            <a:srgbClr val="EAF2FF"/>
          </a:solidFill>
          <a:ln w="7375">
            <a:solidFill>
              <a:srgbClr val="203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94944" y="2724912"/>
            <a:ext cx="775411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Use case  —  spotting a wanted person in a confined system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A closed campus, office floor or checkpoint where everyone is already enrolled. A cap and a mask defeat an ordinary camera system — this one should still name them.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93776" y="3712463"/>
            <a:ext cx="8156448" cy="841248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94944" y="3712463"/>
            <a:ext cx="775411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Research question   </a:t>
            </a:r>
            <a:r>
              <a:rPr sz="1200" b="0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Under heavy occlusion, does a pretrained face model need more diverse training data, or a retrained backbone?</a:t>
            </a:r>
          </a:p>
          <a:p>
            <a:pPr algn="l"/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Closed-set: every test image is one of 30 enrolled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120" name="Google Shape;120;p6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6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>
              <a:solidFill>
                <a:srgbClr val="4A5782"/>
              </a:solidFill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02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Dataset &amp; Occlusion Conditions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Captured in person, with signed consent from every participant.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93776" y="1115568"/>
            <a:ext cx="1920240" cy="1133856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48640" y="1225296"/>
            <a:ext cx="18105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30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Identities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p01 – p30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560320" y="1115568"/>
            <a:ext cx="1920240" cy="1133856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615184" y="1225296"/>
            <a:ext cx="18105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6,000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Raw images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200 each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626864" y="1115568"/>
            <a:ext cx="1920240" cy="1133856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681727" y="1225296"/>
            <a:ext cx="18105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5,988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Processed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99.8% detected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693407" y="1115568"/>
            <a:ext cx="1920240" cy="1133856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748271" y="1225296"/>
            <a:ext cx="18105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8 × 2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Conditions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occlusion × light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93776" y="2414016"/>
            <a:ext cx="4846320" cy="148132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76656" y="2523744"/>
            <a:ext cx="4480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Capture protocol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76656" y="2871216"/>
            <a:ext cx="4480560" cy="913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Six team members, five participants each</a:t>
            </a:r>
          </a:p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Eight occlusions × regular and low light</a:t>
            </a:r>
          </a:p>
          <a:p>
            <a:pPr marL="215000" indent="-215000" algn="l">
              <a:lnSpc>
                <a:spcPct val="125000"/>
              </a:lnSpc>
              <a:buClr>
                <a:srgbClr val="3C3939"/>
              </a:buClr>
              <a:buSzPts val="1050"/>
              <a:buFont typeface="Roboto"/>
              <a:buChar char="•"/>
            </a:pPr>
            <a:r>
              <a:rPr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Balanced to exactly 200 images per person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632704" y="2414016"/>
            <a:ext cx="3017520" cy="1481328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815584" y="252374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Final split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815584" y="2852928"/>
            <a:ext cx="2651760" cy="256032"/>
          </a:xfrm>
          <a:prstGeom prst="roundRect">
            <a:avLst>
              <a:gd name="adj" fmla="val 8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5879592" y="2852928"/>
            <a:ext cx="103875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Split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046366" y="2852928"/>
            <a:ext cx="72054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Images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894929" y="2852928"/>
            <a:ext cx="50840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879592" y="3108960"/>
            <a:ext cx="103875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Train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046366" y="3108960"/>
            <a:ext cx="72054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3,546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894929" y="3108960"/>
            <a:ext cx="50840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879592" y="3346704"/>
            <a:ext cx="103875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Validation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046366" y="3346704"/>
            <a:ext cx="72054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1,444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894929" y="3346704"/>
            <a:ext cx="50840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79592" y="3584448"/>
            <a:ext cx="103875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046366" y="3584448"/>
            <a:ext cx="72054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894929" y="3584448"/>
            <a:ext cx="50840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93776" y="4041648"/>
            <a:ext cx="8156448" cy="548640"/>
          </a:xfrm>
          <a:prstGeom prst="roundRect">
            <a:avLst>
              <a:gd name="adj" fmla="val 47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93776" y="4041648"/>
            <a:ext cx="81564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Test set by condition:   none 138  ·  cap 129  ·  mask 161  ·  scarf 84  ·  clear 108  ·  sun 125  ·  mask+clear 120  ·  mask+sun 133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5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38" dirty="0">
                <a:solidFill>
                  <a:srgbClr val="4A5782"/>
                </a:solidFill>
              </a:rPr>
              <a:t>8</a:t>
            </a:r>
            <a:r>
              <a:rPr lang="en-US" sz="938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 Sep 2026</a:t>
            </a:r>
            <a:endParaRPr sz="938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03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Training Data — The Eight Conditions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One capture per condition. The two in red are the compound occlusions E1 could not handle.</a:t>
            </a:r>
          </a:p>
        </p:txBody>
      </p:sp>
      <p:pic>
        <p:nvPicPr>
          <p:cNvPr id="67" name="Picture 66" descr="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097280"/>
            <a:ext cx="1911095" cy="1380744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493776" y="2478024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93776" y="2478024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None</a:t>
            </a:r>
          </a:p>
        </p:txBody>
      </p:sp>
      <p:pic>
        <p:nvPicPr>
          <p:cNvPr id="70" name="Picture 69" descr="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864" y="1097280"/>
            <a:ext cx="1911095" cy="1380744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2575864" y="2478024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575864" y="2478024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Cap</a:t>
            </a:r>
          </a:p>
        </p:txBody>
      </p:sp>
      <p:pic>
        <p:nvPicPr>
          <p:cNvPr id="73" name="Picture 72" descr="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953" y="1097280"/>
            <a:ext cx="1911095" cy="1380744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4657953" y="2478024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57953" y="2478024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Clear glasses</a:t>
            </a:r>
          </a:p>
        </p:txBody>
      </p:sp>
      <p:pic>
        <p:nvPicPr>
          <p:cNvPr id="76" name="Picture 75" descr="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042" y="1097280"/>
            <a:ext cx="1911095" cy="1380744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6740042" y="2478024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740042" y="2478024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Sunglasses</a:t>
            </a:r>
          </a:p>
        </p:txBody>
      </p:sp>
      <p:pic>
        <p:nvPicPr>
          <p:cNvPr id="79" name="Picture 78" descr="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2935224"/>
            <a:ext cx="1911095" cy="1380744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493776" y="4315968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93776" y="4315968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Scarf</a:t>
            </a:r>
          </a:p>
        </p:txBody>
      </p:sp>
      <p:pic>
        <p:nvPicPr>
          <p:cNvPr id="82" name="Picture 81" descr="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5864" y="2935224"/>
            <a:ext cx="1911095" cy="1380744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2575864" y="4315968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575864" y="4315968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Mask</a:t>
            </a:r>
          </a:p>
        </p:txBody>
      </p:sp>
      <p:pic>
        <p:nvPicPr>
          <p:cNvPr id="85" name="Picture 84" descr="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7953" y="2935224"/>
            <a:ext cx="1911095" cy="1380744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4657953" y="4315968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657953" y="4315968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Mask + clear glasses</a:t>
            </a:r>
          </a:p>
        </p:txBody>
      </p:sp>
      <p:pic>
        <p:nvPicPr>
          <p:cNvPr id="88" name="Picture 87" descr="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0042" y="2935224"/>
            <a:ext cx="1911095" cy="1380744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6740042" y="4315968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740042" y="4315968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Mask + sunglasses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274322" y="5391531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7"/>
          <p:cNvSpPr/>
          <p:nvPr/>
        </p:nvSpPr>
        <p:spPr>
          <a:xfrm>
            <a:off x="139150" y="4945714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 dirty="0">
                <a:solidFill>
                  <a:srgbClr val="4A5782"/>
                </a:solidFill>
              </a:rPr>
              <a:t>08 Sep 2026</a:t>
            </a:r>
            <a:endParaRPr sz="938" dirty="0">
              <a:solidFill>
                <a:srgbClr val="4A5782"/>
              </a:solidFill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811357" y="4916563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 dirty="0">
                <a:solidFill>
                  <a:srgbClr val="4A5782"/>
                </a:solidFill>
              </a:rPr>
              <a:t>04</a:t>
            </a:r>
            <a:endParaRPr sz="938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 Curation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Three steps before any face was detected. Nothing was deleted — only moved.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93776" y="1115568"/>
            <a:ext cx="3977639" cy="1417320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76656" y="1225296"/>
            <a:ext cx="3611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 · Completing the set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76656" y="1572768"/>
            <a:ext cx="3611880" cy="737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Some participants declined some conditions</a:t>
            </a:r>
          </a:p>
          <a:p>
            <a:pPr marL="215000" indent="-215000" algn="l">
              <a:lnSpc>
                <a:spcPct val="125000"/>
              </a:lnSpc>
              <a:buClr>
                <a:srgbClr val="203C80"/>
              </a:buClr>
              <a:buSzPts val="1050"/>
              <a:buFont typeface="Roboto"/>
              <a:buChar char="•"/>
            </a:pPr>
            <a:r>
              <a:rPr sz="1200" b="1" i="0" dirty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114 images</a:t>
            </a: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brightness-derived from their own photos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672584" y="1115568"/>
            <a:ext cx="3977639" cy="1417320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4855464" y="1225296"/>
            <a:ext cx="3611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B · Balancing to 200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855464" y="1572768"/>
            <a:ext cx="3611880" cy="506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Raw collection was uneven — 7,081 images</a:t>
            </a:r>
          </a:p>
          <a:p>
            <a:pPr marL="215000" indent="-215000" algn="l">
              <a:lnSpc>
                <a:spcPct val="125000"/>
              </a:lnSpc>
              <a:buClr>
                <a:srgbClr val="203C80"/>
              </a:buClr>
              <a:buSzPts val="1050"/>
              <a:buFont typeface="Roboto"/>
              <a:buChar char="•"/>
            </a:pPr>
            <a:r>
              <a:rPr sz="1200" b="1" i="0" dirty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1,117 moved to </a:t>
            </a:r>
            <a:r>
              <a:rPr sz="1200" b="1" i="0" dirty="0" err="1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put_asides</a:t>
            </a:r>
            <a:r>
              <a:rPr sz="1200" b="1" i="0" dirty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with a reason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93776" y="2743200"/>
            <a:ext cx="8156448" cy="1591056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676656" y="287121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C · HEIC → JPEG conversion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12063" y="3273552"/>
            <a:ext cx="1463040" cy="4937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512063" y="3273552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HEIC / HEIF</a:t>
            </a:r>
          </a:p>
        </p:txBody>
      </p:sp>
      <p:sp>
        <p:nvSpPr>
          <p:cNvPr id="172" name="Isosceles Triangle 171"/>
          <p:cNvSpPr/>
          <p:nvPr/>
        </p:nvSpPr>
        <p:spPr>
          <a:xfrm rot="5400000">
            <a:off x="2000707" y="3451860"/>
            <a:ext cx="146304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2176272" y="3273552"/>
            <a:ext cx="1463040" cy="4937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2176272" y="3273552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Orientation</a:t>
            </a:r>
          </a:p>
        </p:txBody>
      </p:sp>
      <p:sp>
        <p:nvSpPr>
          <p:cNvPr id="175" name="Isosceles Triangle 174"/>
          <p:cNvSpPr/>
          <p:nvPr/>
        </p:nvSpPr>
        <p:spPr>
          <a:xfrm rot="5400000">
            <a:off x="3664915" y="3451860"/>
            <a:ext cx="146304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" name="Rounded Rectangle 175"/>
          <p:cNvSpPr/>
          <p:nvPr/>
        </p:nvSpPr>
        <p:spPr>
          <a:xfrm>
            <a:off x="3840479" y="3273552"/>
            <a:ext cx="1463040" cy="4937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3840479" y="3273552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RGB</a:t>
            </a:r>
          </a:p>
        </p:txBody>
      </p:sp>
      <p:sp>
        <p:nvSpPr>
          <p:cNvPr id="178" name="Isosceles Triangle 177"/>
          <p:cNvSpPr/>
          <p:nvPr/>
        </p:nvSpPr>
        <p:spPr>
          <a:xfrm rot="5400000">
            <a:off x="5329123" y="3451860"/>
            <a:ext cx="146304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9" name="Rounded Rectangle 178"/>
          <p:cNvSpPr/>
          <p:nvPr/>
        </p:nvSpPr>
        <p:spPr>
          <a:xfrm>
            <a:off x="5504688" y="3273552"/>
            <a:ext cx="1463040" cy="4937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5504688" y="3273552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JPEG q95</a:t>
            </a:r>
          </a:p>
        </p:txBody>
      </p:sp>
      <p:sp>
        <p:nvSpPr>
          <p:cNvPr id="181" name="Isosceles Triangle 180"/>
          <p:cNvSpPr/>
          <p:nvPr/>
        </p:nvSpPr>
        <p:spPr>
          <a:xfrm rot="5400000">
            <a:off x="6993331" y="3451860"/>
            <a:ext cx="146304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2" name="Rounded Rectangle 181"/>
          <p:cNvSpPr/>
          <p:nvPr/>
        </p:nvSpPr>
        <p:spPr>
          <a:xfrm>
            <a:off x="7168896" y="3273552"/>
            <a:ext cx="1463040" cy="4937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7168896" y="3273552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Verified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76656" y="3913632"/>
            <a:ext cx="77906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1,863 iPhone captures converted — OpenCV cannot decode HEIC, so one uniform format keeps the pipeline reproducible.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253435" y="143775"/>
            <a:ext cx="67191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21B"/>
              </a:buClr>
              <a:buSzPts val="1996"/>
              <a:buFont typeface="Arimo"/>
              <a:buNone/>
            </a:pPr>
            <a:r>
              <a:rPr lang="en-US" sz="1996" b="1" i="0" u="none" strike="noStrike" cap="none">
                <a:solidFill>
                  <a:srgbClr val="11121B"/>
                </a:solidFill>
                <a:latin typeface="Arimo"/>
                <a:ea typeface="Arimo"/>
                <a:cs typeface="Arimo"/>
                <a:sym typeface="Arimo"/>
              </a:rPr>
              <a:t>Manual Preprocessing &amp; Automated Pipeline</a:t>
            </a:r>
            <a:endParaRPr sz="1996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166" name="Google Shape;166;p8"/>
          <p:cNvCxnSpPr/>
          <p:nvPr/>
        </p:nvCxnSpPr>
        <p:spPr>
          <a:xfrm>
            <a:off x="253435" y="585813"/>
            <a:ext cx="8664000" cy="0"/>
          </a:xfrm>
          <a:prstGeom prst="straightConnector1">
            <a:avLst/>
          </a:prstGeom>
          <a:noFill/>
          <a:ln w="7375" cap="flat" cmpd="sng">
            <a:solidFill>
              <a:srgbClr val="BFC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8"/>
          <p:cNvSpPr/>
          <p:nvPr/>
        </p:nvSpPr>
        <p:spPr>
          <a:xfrm>
            <a:off x="253435" y="709584"/>
            <a:ext cx="83457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36078"/>
              </a:buClr>
              <a:buSzPts val="1021"/>
              <a:buFont typeface="Arimo"/>
              <a:buNone/>
            </a:pPr>
            <a:r>
              <a:rPr lang="en-US" sz="1021" b="0" i="0" u="none" strike="noStrike" cap="none">
                <a:solidFill>
                  <a:srgbClr val="536078"/>
                </a:solidFill>
                <a:latin typeface="Arimo"/>
                <a:ea typeface="Arimo"/>
                <a:cs typeface="Arimo"/>
                <a:sym typeface="Arimo"/>
              </a:rPr>
              <a:t>From raw phone captures to aligned face crops, with transparent curation and a reproducible pipeline.</a:t>
            </a:r>
            <a:endParaRPr sz="1021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33200" y="1084433"/>
            <a:ext cx="1874400" cy="601200"/>
          </a:xfrm>
          <a:prstGeom prst="chevron">
            <a:avLst>
              <a:gd name="adj" fmla="val 50000"/>
            </a:avLst>
          </a:prstGeom>
          <a:solidFill>
            <a:srgbClr val="2F304C"/>
          </a:solidFill>
          <a:ln w="7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384762" y="1239958"/>
            <a:ext cx="282900" cy="282900"/>
          </a:xfrm>
          <a:prstGeom prst="ellipse">
            <a:avLst/>
          </a:prstGeom>
          <a:solidFill>
            <a:srgbClr val="EFF4FF"/>
          </a:solidFill>
          <a:ln w="7375" cap="flat" cmpd="sng">
            <a:solidFill>
              <a:srgbClr val="EF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09187" y="1310607"/>
            <a:ext cx="2829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54"/>
              </a:buClr>
              <a:buSzPts val="851"/>
              <a:buFont typeface="Arimo"/>
              <a:buNone/>
            </a:pPr>
            <a:r>
              <a:rPr lang="en-US" sz="851" b="0" i="0" u="none" strike="noStrike" cap="none">
                <a:solidFill>
                  <a:srgbClr val="1B2A54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851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76796" y="1225643"/>
            <a:ext cx="1152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Arimo"/>
              <a:buNone/>
            </a:pPr>
            <a:r>
              <a:rPr lang="en-US" sz="99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Phone Capture</a:t>
            </a:r>
            <a:endParaRPr sz="99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816490" y="1084433"/>
            <a:ext cx="1923600" cy="601200"/>
          </a:xfrm>
          <a:prstGeom prst="chevron">
            <a:avLst>
              <a:gd name="adj" fmla="val 50000"/>
            </a:avLst>
          </a:prstGeom>
          <a:solidFill>
            <a:srgbClr val="45466A"/>
          </a:solidFill>
          <a:ln w="7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2039353" y="1239958"/>
            <a:ext cx="282900" cy="282900"/>
          </a:xfrm>
          <a:prstGeom prst="ellipse">
            <a:avLst/>
          </a:prstGeom>
          <a:solidFill>
            <a:srgbClr val="EFF4FF"/>
          </a:solidFill>
          <a:ln w="7375" cap="flat" cmpd="sng">
            <a:solidFill>
              <a:srgbClr val="EF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2039353" y="1278857"/>
            <a:ext cx="2829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54"/>
              </a:buClr>
              <a:buSzPts val="851"/>
              <a:buFont typeface="Arimo"/>
              <a:buNone/>
            </a:pPr>
            <a:r>
              <a:rPr lang="en-US" sz="851" b="0" i="0" u="none" strike="noStrike" cap="none">
                <a:solidFill>
                  <a:srgbClr val="1B2A54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 sz="851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2354012" y="1240030"/>
            <a:ext cx="12027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Arimo"/>
              <a:buNone/>
            </a:pPr>
            <a:r>
              <a:rPr lang="en-US" sz="99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Manual Review</a:t>
            </a:r>
            <a:endParaRPr sz="99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556362" y="1084433"/>
            <a:ext cx="1923600" cy="601200"/>
          </a:xfrm>
          <a:prstGeom prst="chevron">
            <a:avLst>
              <a:gd name="adj" fmla="val 50000"/>
            </a:avLst>
          </a:prstGeom>
          <a:solidFill>
            <a:srgbClr val="5A5B82"/>
          </a:solidFill>
          <a:ln w="7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669524" y="1232958"/>
            <a:ext cx="282900" cy="282900"/>
          </a:xfrm>
          <a:prstGeom prst="ellipse">
            <a:avLst/>
          </a:prstGeom>
          <a:solidFill>
            <a:srgbClr val="EFF4FF"/>
          </a:solidFill>
          <a:ln w="7375" cap="flat" cmpd="sng">
            <a:solidFill>
              <a:srgbClr val="EF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3669524" y="1271857"/>
            <a:ext cx="2829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54"/>
              </a:buClr>
              <a:buSzPts val="851"/>
              <a:buFont typeface="Arimo"/>
              <a:buNone/>
            </a:pPr>
            <a:r>
              <a:rPr lang="en-US" sz="851" b="0" i="0" u="none" strike="noStrike" cap="none">
                <a:solidFill>
                  <a:srgbClr val="1B2A54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 sz="851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093883" y="1240030"/>
            <a:ext cx="12027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Arimo"/>
              <a:buNone/>
            </a:pPr>
            <a:r>
              <a:rPr lang="en-US" sz="99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Standardize &amp;</a:t>
            </a:r>
            <a:endParaRPr sz="99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Arimo"/>
              <a:buNone/>
            </a:pPr>
            <a:r>
              <a:rPr lang="en-US" sz="99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Organize</a:t>
            </a:r>
            <a:endParaRPr sz="99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296233" y="1084433"/>
            <a:ext cx="1931100" cy="601200"/>
          </a:xfrm>
          <a:prstGeom prst="chevron">
            <a:avLst>
              <a:gd name="adj" fmla="val 50000"/>
            </a:avLst>
          </a:prstGeom>
          <a:solidFill>
            <a:srgbClr val="6F70A0"/>
          </a:solidFill>
          <a:ln w="7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536521" y="1239958"/>
            <a:ext cx="282900" cy="282900"/>
          </a:xfrm>
          <a:prstGeom prst="ellipse">
            <a:avLst/>
          </a:prstGeom>
          <a:solidFill>
            <a:srgbClr val="EFF4FF"/>
          </a:solidFill>
          <a:ln w="7375" cap="flat" cmpd="sng">
            <a:solidFill>
              <a:srgbClr val="EF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550846" y="1317607"/>
            <a:ext cx="2829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54"/>
              </a:buClr>
              <a:buSzPts val="851"/>
              <a:buFont typeface="Arimo"/>
              <a:buNone/>
            </a:pPr>
            <a:r>
              <a:rPr lang="en-US" sz="851" b="0" i="0" u="none" strike="noStrike" cap="none">
                <a:solidFill>
                  <a:srgbClr val="1B2A54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endParaRPr sz="851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904642" y="1222105"/>
            <a:ext cx="12093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Arimo"/>
              <a:buNone/>
            </a:pPr>
            <a:r>
              <a:rPr lang="en-US" sz="99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Freeze Dataset</a:t>
            </a:r>
            <a:endParaRPr sz="99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021959" y="1084433"/>
            <a:ext cx="2051100" cy="601200"/>
          </a:xfrm>
          <a:prstGeom prst="chevron">
            <a:avLst>
              <a:gd name="adj" fmla="val 50000"/>
            </a:avLst>
          </a:prstGeom>
          <a:solidFill>
            <a:srgbClr val="8183B2"/>
          </a:solidFill>
          <a:ln w="7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7251947" y="1239958"/>
            <a:ext cx="282900" cy="282900"/>
          </a:xfrm>
          <a:prstGeom prst="ellipse">
            <a:avLst/>
          </a:prstGeom>
          <a:solidFill>
            <a:srgbClr val="EFF4FF"/>
          </a:solidFill>
          <a:ln w="7375" cap="flat" cmpd="sng">
            <a:solidFill>
              <a:srgbClr val="EF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7251947" y="1326682"/>
            <a:ext cx="2829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54"/>
              </a:buClr>
              <a:buSzPts val="851"/>
              <a:buFont typeface="Arimo"/>
              <a:buNone/>
            </a:pPr>
            <a:r>
              <a:rPr lang="en-US" sz="851" b="0" i="0" u="none" strike="noStrike" cap="none">
                <a:solidFill>
                  <a:srgbClr val="1B2A54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  <a:endParaRPr sz="851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559481" y="1240030"/>
            <a:ext cx="132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Arimo"/>
              <a:buNone/>
            </a:pPr>
            <a:r>
              <a:rPr lang="en-US" sz="99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Automated Face Prep</a:t>
            </a:r>
            <a:endParaRPr sz="99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33200" y="1678532"/>
            <a:ext cx="8875800" cy="1110300"/>
          </a:xfrm>
          <a:prstGeom prst="roundRect">
            <a:avLst>
              <a:gd name="adj" fmla="val 3185"/>
            </a:avLst>
          </a:prstGeom>
          <a:solidFill>
            <a:srgbClr val="F8FAFE"/>
          </a:solidFill>
          <a:ln w="9850" cap="flat" cmpd="sng">
            <a:solidFill>
              <a:srgbClr val="F8FA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9" name="Google Shape;189;p8"/>
          <p:cNvCxnSpPr/>
          <p:nvPr/>
        </p:nvCxnSpPr>
        <p:spPr>
          <a:xfrm>
            <a:off x="1844781" y="1869493"/>
            <a:ext cx="0" cy="799200"/>
          </a:xfrm>
          <a:prstGeom prst="straightConnector1">
            <a:avLst/>
          </a:prstGeom>
          <a:noFill/>
          <a:ln w="7375" cap="flat" cmpd="sng">
            <a:solidFill>
              <a:srgbClr val="D6DDE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0" name="Google Shape;190;p8"/>
          <p:cNvCxnSpPr/>
          <p:nvPr/>
        </p:nvCxnSpPr>
        <p:spPr>
          <a:xfrm>
            <a:off x="3577580" y="1869493"/>
            <a:ext cx="0" cy="799200"/>
          </a:xfrm>
          <a:prstGeom prst="straightConnector1">
            <a:avLst/>
          </a:prstGeom>
          <a:noFill/>
          <a:ln w="7375" cap="flat" cmpd="sng">
            <a:solidFill>
              <a:srgbClr val="D6DDE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1" name="Google Shape;191;p8"/>
          <p:cNvCxnSpPr/>
          <p:nvPr/>
        </p:nvCxnSpPr>
        <p:spPr>
          <a:xfrm>
            <a:off x="5437686" y="1869493"/>
            <a:ext cx="0" cy="799200"/>
          </a:xfrm>
          <a:prstGeom prst="straightConnector1">
            <a:avLst/>
          </a:prstGeom>
          <a:noFill/>
          <a:ln w="7375" cap="flat" cmpd="sng">
            <a:solidFill>
              <a:srgbClr val="D6DDE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8"/>
          <p:cNvCxnSpPr/>
          <p:nvPr/>
        </p:nvCxnSpPr>
        <p:spPr>
          <a:xfrm>
            <a:off x="7212921" y="1869493"/>
            <a:ext cx="0" cy="799200"/>
          </a:xfrm>
          <a:prstGeom prst="straightConnector1">
            <a:avLst/>
          </a:prstGeom>
          <a:noFill/>
          <a:ln w="7375" cap="flat" cmpd="sng">
            <a:solidFill>
              <a:srgbClr val="D6DDE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8"/>
          <p:cNvSpPr/>
          <p:nvPr/>
        </p:nvSpPr>
        <p:spPr>
          <a:xfrm>
            <a:off x="274652" y="1862420"/>
            <a:ext cx="1520923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6 team members,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5 participants each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5"/>
              <a:buFont typeface="Arimo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8 occlusions × 2 lighting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conditions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028670" y="1862420"/>
            <a:ext cx="13578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05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Reject blur, too dark, fully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05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covered, mis-cropped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028670" y="2350266"/>
            <a:ext cx="13578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Rejected files kept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separately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719185" y="1781522"/>
            <a:ext cx="14142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2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Canonical naming:</a:t>
            </a:r>
            <a:endParaRPr sz="12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726105" y="2060453"/>
            <a:ext cx="1485600" cy="204900"/>
          </a:xfrm>
          <a:prstGeom prst="roundRect">
            <a:avLst>
              <a:gd name="adj" fmla="val 10345"/>
            </a:avLst>
          </a:prstGeom>
          <a:solidFill>
            <a:srgbClr val="E7EEF9"/>
          </a:solidFill>
          <a:ln w="7375" cap="flat" cmpd="sng">
            <a:solidFill>
              <a:srgbClr val="D9E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3789759" y="2099353"/>
            <a:ext cx="1357800" cy="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436D"/>
              </a:buClr>
              <a:buSzPts val="657"/>
              <a:buFont typeface="Courier New"/>
              <a:buNone/>
            </a:pPr>
            <a:r>
              <a:rPr lang="en-US" sz="657" b="0" i="0" u="none" strike="noStrike" cap="none">
                <a:solidFill>
                  <a:srgbClr val="32436D"/>
                </a:solidFill>
                <a:latin typeface="Courier New"/>
                <a:ea typeface="Courier New"/>
                <a:cs typeface="Courier New"/>
                <a:sym typeface="Courier New"/>
              </a:rPr>
              <a:t>p##_occlusion_lighting_seq.jpg</a:t>
            </a:r>
            <a:endParaRPr sz="657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726104" y="2364571"/>
            <a:ext cx="1675985" cy="268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Organized into participant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folders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579392" y="1798780"/>
            <a:ext cx="1202700" cy="3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30 identities × 200 images </a:t>
            </a:r>
            <a:r>
              <a:rPr lang="en-US" sz="1100" dirty="0">
                <a:latin typeface="Arimo"/>
                <a:ea typeface="Arimo"/>
                <a:cs typeface="Arimo"/>
                <a:sym typeface="Arimo"/>
              </a:rPr>
              <a:t>=</a:t>
            </a: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188623" y="1959264"/>
            <a:ext cx="9762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E80"/>
              </a:buClr>
              <a:buSzPts val="913"/>
              <a:buFont typeface="Arimo"/>
              <a:buNone/>
            </a:pPr>
            <a:r>
              <a:rPr lang="en-US" sz="913" b="1" i="0" u="none" strike="noStrike" cap="none" dirty="0">
                <a:solidFill>
                  <a:srgbClr val="008E80"/>
                </a:solidFill>
                <a:latin typeface="Arimo"/>
                <a:ea typeface="Arimo"/>
                <a:cs typeface="Arimo"/>
                <a:sym typeface="Arimo"/>
              </a:rPr>
              <a:t>6,000 images</a:t>
            </a:r>
            <a:endParaRPr sz="913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607430" y="2300922"/>
            <a:ext cx="13437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2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No further adding, removing,</a:t>
            </a:r>
            <a:endParaRPr sz="12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2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or relabeling</a:t>
            </a:r>
            <a:endParaRPr sz="12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396810" y="1862420"/>
            <a:ext cx="13791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 err="1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RetinaFace</a:t>
            </a: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 detection +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5-point landmarks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357959" y="2350969"/>
            <a:ext cx="13791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05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Align → 112×112 crop →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05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preprocess log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40273" y="3107200"/>
            <a:ext cx="2864100" cy="1499400"/>
          </a:xfrm>
          <a:prstGeom prst="roundRect">
            <a:avLst>
              <a:gd name="adj" fmla="val 2830"/>
            </a:avLst>
          </a:prstGeom>
          <a:solidFill>
            <a:srgbClr val="FBFCFF"/>
          </a:solidFill>
          <a:ln w="7850" cap="flat" cmpd="sng">
            <a:solidFill>
              <a:srgbClr val="CED8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253435" y="3234507"/>
            <a:ext cx="353400" cy="353400"/>
          </a:xfrm>
          <a:prstGeom prst="ellipse">
            <a:avLst/>
          </a:prstGeom>
          <a:solidFill>
            <a:srgbClr val="81A8EF"/>
          </a:solidFill>
          <a:ln w="7375" cap="flat" cmpd="sng">
            <a:solidFill>
              <a:srgbClr val="81A8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359525" y="3326451"/>
            <a:ext cx="141600" cy="156000"/>
          </a:xfrm>
          <a:prstGeom prst="rect">
            <a:avLst/>
          </a:prstGeom>
          <a:solidFill>
            <a:srgbClr val="FFFFFF">
              <a:alpha val="0"/>
            </a:srgbClr>
          </a:solidFill>
          <a:ln w="127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9" name="Google Shape;209;p8"/>
          <p:cNvCxnSpPr/>
          <p:nvPr/>
        </p:nvCxnSpPr>
        <p:spPr>
          <a:xfrm>
            <a:off x="380743" y="3361814"/>
            <a:ext cx="91800" cy="0"/>
          </a:xfrm>
          <a:prstGeom prst="straightConnector1">
            <a:avLst/>
          </a:prstGeom>
          <a:noFill/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" name="Google Shape;210;p8"/>
          <p:cNvCxnSpPr/>
          <p:nvPr/>
        </p:nvCxnSpPr>
        <p:spPr>
          <a:xfrm>
            <a:off x="380743" y="3404250"/>
            <a:ext cx="91800" cy="0"/>
          </a:xfrm>
          <a:prstGeom prst="straightConnector1">
            <a:avLst/>
          </a:prstGeom>
          <a:noFill/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" name="Google Shape;211;p8"/>
          <p:cNvCxnSpPr/>
          <p:nvPr/>
        </p:nvCxnSpPr>
        <p:spPr>
          <a:xfrm>
            <a:off x="380743" y="3446686"/>
            <a:ext cx="70500" cy="0"/>
          </a:xfrm>
          <a:prstGeom prst="straightConnector1">
            <a:avLst/>
          </a:prstGeom>
          <a:noFill/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2" name="Google Shape;212;p8"/>
          <p:cNvSpPr/>
          <p:nvPr/>
        </p:nvSpPr>
        <p:spPr>
          <a:xfrm>
            <a:off x="776811" y="3326451"/>
            <a:ext cx="21009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E55"/>
              </a:buClr>
              <a:buSzPts val="1176"/>
              <a:buFont typeface="Arimo"/>
              <a:buNone/>
            </a:pPr>
            <a:r>
              <a:rPr lang="en-US" sz="1176" b="1" i="0" u="none" strike="noStrike" cap="none">
                <a:solidFill>
                  <a:srgbClr val="0E1E55"/>
                </a:solidFill>
                <a:latin typeface="Arimo"/>
                <a:ea typeface="Arimo"/>
                <a:cs typeface="Arimo"/>
                <a:sym typeface="Arimo"/>
              </a:rPr>
              <a:t>Key Transparency Practices</a:t>
            </a:r>
            <a:endParaRPr sz="1176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13" name="Google Shape;213;p8"/>
          <p:cNvCxnSpPr/>
          <p:nvPr/>
        </p:nvCxnSpPr>
        <p:spPr>
          <a:xfrm>
            <a:off x="267580" y="3644719"/>
            <a:ext cx="2609700" cy="0"/>
          </a:xfrm>
          <a:prstGeom prst="straightConnector1">
            <a:avLst/>
          </a:prstGeom>
          <a:noFill/>
          <a:ln w="7375" cap="flat" cmpd="sng">
            <a:solidFill>
              <a:srgbClr val="CBD4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4" name="Google Shape;214;p8"/>
          <p:cNvSpPr/>
          <p:nvPr/>
        </p:nvSpPr>
        <p:spPr>
          <a:xfrm>
            <a:off x="3153221" y="3107200"/>
            <a:ext cx="2743800" cy="1499400"/>
          </a:xfrm>
          <a:prstGeom prst="roundRect">
            <a:avLst>
              <a:gd name="adj" fmla="val 2830"/>
            </a:avLst>
          </a:prstGeom>
          <a:solidFill>
            <a:srgbClr val="FBFCFF"/>
          </a:solidFill>
          <a:ln w="7850" cap="flat" cmpd="sng">
            <a:solidFill>
              <a:srgbClr val="CED8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3266383" y="3234507"/>
            <a:ext cx="353400" cy="353400"/>
          </a:xfrm>
          <a:prstGeom prst="ellipse">
            <a:avLst/>
          </a:prstGeom>
          <a:solidFill>
            <a:srgbClr val="81A8EF"/>
          </a:solidFill>
          <a:ln w="7375" cap="flat" cmpd="sng">
            <a:solidFill>
              <a:srgbClr val="81A8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3365400" y="3390105"/>
            <a:ext cx="24900" cy="63600"/>
          </a:xfrm>
          <a:prstGeom prst="rect">
            <a:avLst/>
          </a:prstGeom>
          <a:solidFill>
            <a:srgbClr val="FFFFFF"/>
          </a:solidFill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3418445" y="3333524"/>
            <a:ext cx="24900" cy="120300"/>
          </a:xfrm>
          <a:prstGeom prst="rect">
            <a:avLst/>
          </a:prstGeom>
          <a:solidFill>
            <a:srgbClr val="FFFFFF"/>
          </a:solidFill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3471490" y="3276943"/>
            <a:ext cx="24900" cy="177000"/>
          </a:xfrm>
          <a:prstGeom prst="rect">
            <a:avLst/>
          </a:prstGeom>
          <a:solidFill>
            <a:srgbClr val="FFFFFF"/>
          </a:solidFill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9" name="Google Shape;219;p8"/>
          <p:cNvCxnSpPr/>
          <p:nvPr/>
        </p:nvCxnSpPr>
        <p:spPr>
          <a:xfrm>
            <a:off x="3351255" y="3474976"/>
            <a:ext cx="212100" cy="0"/>
          </a:xfrm>
          <a:prstGeom prst="straightConnector1">
            <a:avLst/>
          </a:prstGeom>
          <a:noFill/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0" name="Google Shape;220;p8"/>
          <p:cNvSpPr/>
          <p:nvPr/>
        </p:nvSpPr>
        <p:spPr>
          <a:xfrm>
            <a:off x="3789759" y="3326451"/>
            <a:ext cx="19803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E55"/>
              </a:buClr>
              <a:buSzPts val="1176"/>
              <a:buFont typeface="Arimo"/>
              <a:buNone/>
            </a:pPr>
            <a:r>
              <a:rPr lang="en-US" sz="1176" b="1" i="0" u="none" strike="noStrike" cap="none">
                <a:solidFill>
                  <a:srgbClr val="0E1E55"/>
                </a:solidFill>
                <a:latin typeface="Arimo"/>
                <a:ea typeface="Arimo"/>
                <a:cs typeface="Arimo"/>
                <a:sym typeface="Arimo"/>
              </a:rPr>
              <a:t>Detection Success</a:t>
            </a:r>
            <a:endParaRPr sz="1176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1" name="Google Shape;221;p8"/>
          <p:cNvCxnSpPr/>
          <p:nvPr/>
        </p:nvCxnSpPr>
        <p:spPr>
          <a:xfrm>
            <a:off x="3280528" y="3644719"/>
            <a:ext cx="2489400" cy="0"/>
          </a:xfrm>
          <a:prstGeom prst="straightConnector1">
            <a:avLst/>
          </a:prstGeom>
          <a:noFill/>
          <a:ln w="7375" cap="flat" cmpd="sng">
            <a:solidFill>
              <a:srgbClr val="CBD4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8"/>
          <p:cNvSpPr/>
          <p:nvPr/>
        </p:nvSpPr>
        <p:spPr>
          <a:xfrm>
            <a:off x="6038861" y="3107200"/>
            <a:ext cx="2970300" cy="1499400"/>
          </a:xfrm>
          <a:prstGeom prst="roundRect">
            <a:avLst>
              <a:gd name="adj" fmla="val 2830"/>
            </a:avLst>
          </a:prstGeom>
          <a:solidFill>
            <a:srgbClr val="FBFCFF"/>
          </a:solidFill>
          <a:ln w="7850" cap="flat" cmpd="sng">
            <a:solidFill>
              <a:srgbClr val="CED8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6152024" y="3234507"/>
            <a:ext cx="353400" cy="353400"/>
          </a:xfrm>
          <a:prstGeom prst="ellipse">
            <a:avLst/>
          </a:prstGeom>
          <a:solidFill>
            <a:srgbClr val="81A8EF"/>
          </a:solidFill>
          <a:ln w="7375" cap="flat" cmpd="sng">
            <a:solidFill>
              <a:srgbClr val="81A8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258113" y="3340597"/>
            <a:ext cx="141600" cy="141600"/>
          </a:xfrm>
          <a:prstGeom prst="ellipse">
            <a:avLst/>
          </a:prstGeom>
          <a:solidFill>
            <a:srgbClr val="FFFFFF">
              <a:alpha val="0"/>
            </a:srgbClr>
          </a:solidFill>
          <a:ln w="127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297013" y="3379496"/>
            <a:ext cx="63600" cy="63600"/>
          </a:xfrm>
          <a:prstGeom prst="ellipse">
            <a:avLst/>
          </a:prstGeom>
          <a:solidFill>
            <a:srgbClr val="FFFFFF"/>
          </a:solidFill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6675400" y="3326451"/>
            <a:ext cx="22065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E55"/>
              </a:buClr>
              <a:buSzPts val="1176"/>
              <a:buFont typeface="Arimo"/>
              <a:buNone/>
            </a:pPr>
            <a:r>
              <a:rPr lang="en-US" sz="1176" b="1" i="0" u="none" strike="noStrike" cap="none">
                <a:solidFill>
                  <a:srgbClr val="0E1E55"/>
                </a:solidFill>
                <a:latin typeface="Arimo"/>
                <a:ea typeface="Arimo"/>
                <a:cs typeface="Arimo"/>
                <a:sym typeface="Arimo"/>
              </a:rPr>
              <a:t>Output of This Stage</a:t>
            </a:r>
            <a:endParaRPr sz="1176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7" name="Google Shape;227;p8"/>
          <p:cNvCxnSpPr/>
          <p:nvPr/>
        </p:nvCxnSpPr>
        <p:spPr>
          <a:xfrm>
            <a:off x="6166169" y="3644719"/>
            <a:ext cx="2715900" cy="0"/>
          </a:xfrm>
          <a:prstGeom prst="straightConnector1">
            <a:avLst/>
          </a:prstGeom>
          <a:noFill/>
          <a:ln w="7375" cap="flat" cmpd="sng">
            <a:solidFill>
              <a:srgbClr val="CBD4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8" name="Google Shape;228;p8"/>
          <p:cNvSpPr/>
          <p:nvPr/>
        </p:nvSpPr>
        <p:spPr>
          <a:xfrm>
            <a:off x="267580" y="3832143"/>
            <a:ext cx="60000" cy="60000"/>
          </a:xfrm>
          <a:prstGeom prst="ellipse">
            <a:avLst/>
          </a:prstGeom>
          <a:solidFill>
            <a:srgbClr val="203C80"/>
          </a:solidFill>
          <a:ln w="9850" cap="flat" cmpd="sng">
            <a:solidFill>
              <a:srgbClr val="203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09033" y="3800317"/>
            <a:ext cx="23694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3047"/>
              </a:buClr>
              <a:buSzPts val="781"/>
              <a:buFont typeface="Arimo"/>
              <a:buNone/>
            </a:pPr>
            <a:r>
              <a:rPr lang="en-US" sz="100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Rejected files moved to </a:t>
            </a:r>
            <a:r>
              <a:rPr lang="en-US" sz="1000" b="0" i="0" u="none" strike="noStrike" cap="none" dirty="0" err="1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put_asides</a:t>
            </a:r>
            <a:r>
              <a:rPr lang="en-US" sz="100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/ — never silently deleted</a:t>
            </a:r>
            <a:endParaRPr sz="10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0" name="Google Shape;230;p8"/>
          <p:cNvSpPr/>
          <p:nvPr/>
        </p:nvSpPr>
        <p:spPr>
          <a:xfrm flipV="1">
            <a:off x="267193" y="4245773"/>
            <a:ext cx="60387" cy="59993"/>
          </a:xfrm>
          <a:prstGeom prst="ellipse">
            <a:avLst/>
          </a:prstGeom>
          <a:solidFill>
            <a:srgbClr val="203C80"/>
          </a:solidFill>
          <a:ln w="9850" cap="flat" cmpd="sng">
            <a:solidFill>
              <a:srgbClr val="203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409033" y="4184655"/>
            <a:ext cx="23694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3047"/>
              </a:buClr>
              <a:buSzPts val="781"/>
              <a:buFont typeface="Arimo"/>
              <a:buNone/>
            </a:pPr>
            <a:r>
              <a:rPr lang="en-US" sz="105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429 exact duplicate files </a:t>
            </a:r>
            <a:r>
              <a:rPr lang="en-US" sz="105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were disclosed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315892" y="3772026"/>
            <a:ext cx="22635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E80"/>
              </a:buClr>
              <a:buSzPts val="1284"/>
              <a:buFont typeface="Arimo"/>
              <a:buNone/>
            </a:pPr>
            <a:r>
              <a:rPr lang="en-US" sz="1284" b="1" i="0" u="none" strike="noStrike" cap="none">
                <a:solidFill>
                  <a:srgbClr val="008E80"/>
                </a:solidFill>
                <a:latin typeface="Arimo"/>
                <a:ea typeface="Arimo"/>
                <a:cs typeface="Arimo"/>
                <a:sym typeface="Arimo"/>
              </a:rPr>
              <a:t>5,988 / 6,000 images (99.8%)</a:t>
            </a:r>
            <a:endParaRPr sz="1284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315892" y="4026640"/>
            <a:ext cx="2086200" cy="1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3047"/>
              </a:buClr>
              <a:buSzPts val="820"/>
              <a:buFont typeface="Arimo"/>
              <a:buNone/>
            </a:pPr>
            <a:r>
              <a:rPr lang="en-US" sz="105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Successfully detected and aligned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315892" y="4238819"/>
            <a:ext cx="2641516" cy="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A"/>
              </a:buClr>
              <a:buSzPts val="781"/>
              <a:buFont typeface="Arimo"/>
              <a:buNone/>
            </a:pPr>
            <a:r>
              <a:rPr lang="en-US" sz="1000" b="0" i="0" u="none" strike="noStrike" cap="none" dirty="0">
                <a:solidFill>
                  <a:srgbClr val="4B556A"/>
                </a:solidFill>
                <a:latin typeface="Arimo"/>
                <a:ea typeface="Arimo"/>
                <a:cs typeface="Arimo"/>
                <a:sym typeface="Arimo"/>
              </a:rPr>
              <a:t>Only 12 failures, mostly in </a:t>
            </a:r>
            <a:r>
              <a:rPr lang="en-US" sz="1000" b="0" i="0" u="none" strike="noStrike" cap="none" dirty="0" err="1">
                <a:solidFill>
                  <a:srgbClr val="4B556A"/>
                </a:solidFill>
                <a:latin typeface="Arimo"/>
                <a:ea typeface="Arimo"/>
                <a:cs typeface="Arimo"/>
                <a:sym typeface="Arimo"/>
              </a:rPr>
              <a:t>mask+sunglasses</a:t>
            </a:r>
            <a:endParaRPr sz="10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A"/>
              </a:buClr>
              <a:buSzPts val="781"/>
              <a:buFont typeface="Arimo"/>
              <a:buNone/>
            </a:pPr>
            <a:r>
              <a:rPr lang="en-US" sz="1000" b="0" i="0" u="none" strike="noStrike" cap="none" dirty="0">
                <a:solidFill>
                  <a:srgbClr val="4B556A"/>
                </a:solidFill>
                <a:latin typeface="Arimo"/>
                <a:ea typeface="Arimo"/>
                <a:cs typeface="Arimo"/>
                <a:sym typeface="Arimo"/>
              </a:rPr>
              <a:t>and mask</a:t>
            </a:r>
            <a:endParaRPr sz="10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258113" y="3860434"/>
            <a:ext cx="60000" cy="60000"/>
          </a:xfrm>
          <a:prstGeom prst="ellipse">
            <a:avLst/>
          </a:prstGeom>
          <a:solidFill>
            <a:srgbClr val="203C80"/>
          </a:solidFill>
          <a:ln w="9850" cap="flat" cmpd="sng">
            <a:solidFill>
              <a:srgbClr val="203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6399566" y="3798709"/>
            <a:ext cx="23340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3047"/>
              </a:buClr>
              <a:buSzPts val="781"/>
              <a:buFont typeface="Arimo"/>
              <a:buNone/>
            </a:pPr>
            <a:r>
              <a:rPr lang="en-US" sz="105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Aligned face crops for all experiments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258113" y="4157484"/>
            <a:ext cx="60000" cy="60000"/>
          </a:xfrm>
          <a:prstGeom prst="ellipse">
            <a:avLst/>
          </a:prstGeom>
          <a:solidFill>
            <a:srgbClr val="203C80"/>
          </a:solidFill>
          <a:ln w="9850" cap="flat" cmpd="sng">
            <a:solidFill>
              <a:srgbClr val="203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6399566" y="4125657"/>
            <a:ext cx="23340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3047"/>
              </a:buClr>
              <a:buSzPts val="781"/>
              <a:buFont typeface="Arimo"/>
              <a:buNone/>
            </a:pPr>
            <a:r>
              <a:rPr lang="en-US" sz="100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Structured preprocess log / manifest metadata</a:t>
            </a:r>
            <a:endParaRPr sz="10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6258113" y="4454533"/>
            <a:ext cx="60000" cy="60000"/>
          </a:xfrm>
          <a:prstGeom prst="ellipse">
            <a:avLst/>
          </a:prstGeom>
          <a:solidFill>
            <a:srgbClr val="203C80"/>
          </a:solidFill>
          <a:ln w="9850" cap="flat" cmpd="sng">
            <a:solidFill>
              <a:srgbClr val="203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6399566" y="4422707"/>
            <a:ext cx="23340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3047"/>
              </a:buClr>
              <a:buSzPts val="781"/>
              <a:buFont typeface="Arimo"/>
              <a:buNone/>
            </a:pPr>
            <a:r>
              <a:rPr lang="en-US" sz="100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Ready for train / validation / test split</a:t>
            </a:r>
            <a:endParaRPr sz="10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8775976" y="4882426"/>
            <a:ext cx="212100" cy="1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66174"/>
              </a:buClr>
              <a:buSzPts val="634"/>
              <a:buFont typeface="Arimo"/>
              <a:buNone/>
            </a:pPr>
            <a:r>
              <a:rPr lang="en-US" sz="634" b="0" i="0" u="none" strike="noStrike" cap="none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  <a:endParaRPr sz="634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7941275" y="4860600"/>
            <a:ext cx="1202700" cy="28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245" name="Google Shape;245;p8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8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>
              <a:solidFill>
                <a:srgbClr val="4A5782"/>
              </a:solidFill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05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286" name="Google Shape;286;p9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9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>
              <a:solidFill>
                <a:srgbClr val="4A5782"/>
              </a:solidFill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 Split Pipeline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No near-duplicate may cross a split boundary, and every identity must appear in all three splits.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493776" y="1152144"/>
            <a:ext cx="146304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2" name="TextBox 291"/>
          <p:cNvSpPr txBox="1"/>
          <p:nvPr/>
        </p:nvSpPr>
        <p:spPr>
          <a:xfrm>
            <a:off x="539496" y="1152144"/>
            <a:ext cx="1371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preprocess_log.csv</a:t>
            </a:r>
          </a:p>
        </p:txBody>
      </p:sp>
      <p:sp>
        <p:nvSpPr>
          <p:cNvPr id="293" name="Isosceles Triangle 292"/>
          <p:cNvSpPr/>
          <p:nvPr/>
        </p:nvSpPr>
        <p:spPr>
          <a:xfrm rot="5400000">
            <a:off x="1975104" y="1476756"/>
            <a:ext cx="155448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4" name="Rounded Rectangle 293"/>
          <p:cNvSpPr/>
          <p:nvPr/>
        </p:nvSpPr>
        <p:spPr>
          <a:xfrm>
            <a:off x="2157984" y="1152144"/>
            <a:ext cx="1463040" cy="786384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2203704" y="1152144"/>
            <a:ext cx="1371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Group near-duplicates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union-find</a:t>
            </a:r>
          </a:p>
        </p:txBody>
      </p:sp>
      <p:sp>
        <p:nvSpPr>
          <p:cNvPr id="296" name="Isosceles Triangle 295"/>
          <p:cNvSpPr/>
          <p:nvPr/>
        </p:nvSpPr>
        <p:spPr>
          <a:xfrm rot="5400000">
            <a:off x="3639312" y="1476756"/>
            <a:ext cx="155448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7" name="Rounded Rectangle 296"/>
          <p:cNvSpPr/>
          <p:nvPr/>
        </p:nvSpPr>
        <p:spPr>
          <a:xfrm>
            <a:off x="3822191" y="1152144"/>
            <a:ext cx="1463040" cy="786384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3867911" y="1152144"/>
            <a:ext cx="1371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Deficit-based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greedy allocator</a:t>
            </a:r>
          </a:p>
        </p:txBody>
      </p:sp>
      <p:sp>
        <p:nvSpPr>
          <p:cNvPr id="299" name="Isosceles Triangle 298"/>
          <p:cNvSpPr/>
          <p:nvPr/>
        </p:nvSpPr>
        <p:spPr>
          <a:xfrm rot="5400000">
            <a:off x="5303519" y="1476756"/>
            <a:ext cx="155448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5486400" y="1152144"/>
            <a:ext cx="146304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5532120" y="1152144"/>
            <a:ext cx="1371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Hard assertions</a:t>
            </a:r>
          </a:p>
        </p:txBody>
      </p:sp>
      <p:sp>
        <p:nvSpPr>
          <p:cNvPr id="302" name="Isosceles Triangle 301"/>
          <p:cNvSpPr/>
          <p:nvPr/>
        </p:nvSpPr>
        <p:spPr>
          <a:xfrm rot="5400000">
            <a:off x="6967727" y="1476756"/>
            <a:ext cx="155448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7150608" y="1152144"/>
            <a:ext cx="1463040" cy="786384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4" name="TextBox 303"/>
          <p:cNvSpPr txBox="1"/>
          <p:nvPr/>
        </p:nvSpPr>
        <p:spPr>
          <a:xfrm>
            <a:off x="7196328" y="1152144"/>
            <a:ext cx="1371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manifest.csv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493776" y="2157984"/>
            <a:ext cx="2615184" cy="1170432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6" name="TextBox 305"/>
          <p:cNvSpPr txBox="1"/>
          <p:nvPr/>
        </p:nvSpPr>
        <p:spPr>
          <a:xfrm>
            <a:off x="658368" y="2249424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 dirty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Grouping rules</a:t>
            </a:r>
          </a:p>
          <a:p>
            <a:pPr marL="215000" indent="-215000" algn="l">
              <a:lnSpc>
                <a:spcPct val="122000"/>
              </a:lnSpc>
              <a:spcAft>
                <a:spcPts val="30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sz="11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same source stem (darkened copy)</a:t>
            </a:r>
          </a:p>
          <a:p>
            <a:pPr marL="215000" indent="-215000" algn="l">
              <a:lnSpc>
                <a:spcPct val="122000"/>
              </a:lnSpc>
              <a:spcAft>
                <a:spcPts val="30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sz="11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same person + occlusion in an 8 s burst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3264408" y="2157984"/>
            <a:ext cx="2615184" cy="1170432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8" name="TextBox 307"/>
          <p:cNvSpPr txBox="1"/>
          <p:nvPr/>
        </p:nvSpPr>
        <p:spPr>
          <a:xfrm>
            <a:off x="3429000" y="2249424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Allocation</a:t>
            </a:r>
          </a:p>
          <a:p>
            <a:pPr marL="215000" indent="-215000" algn="l">
              <a:lnSpc>
                <a:spcPct val="122000"/>
              </a:lnSpc>
              <a:spcAft>
                <a:spcPts val="30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per (person × occlusion) cell</a:t>
            </a:r>
          </a:p>
          <a:p>
            <a:pPr marL="215000" indent="-215000" algn="l">
              <a:lnSpc>
                <a:spcPct val="122000"/>
              </a:lnSpc>
              <a:spcAft>
                <a:spcPts val="30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largest group first, into the biggest shortfall vs 60/20/20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6035040" y="2157984"/>
            <a:ext cx="2615184" cy="1170432"/>
          </a:xfrm>
          <a:prstGeom prst="roundRect">
            <a:avLst>
              <a:gd name="adj" fmla="val 4700"/>
            </a:avLst>
          </a:prstGeom>
          <a:solidFill>
            <a:srgbClr val="EAF8F1"/>
          </a:solidFill>
          <a:ln w="7375">
            <a:solidFill>
              <a:srgbClr val="008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0" name="TextBox 309"/>
          <p:cNvSpPr txBox="1"/>
          <p:nvPr/>
        </p:nvSpPr>
        <p:spPr>
          <a:xfrm>
            <a:off x="6199631" y="2249424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08E80"/>
                </a:solidFill>
                <a:latin typeface="Arimo"/>
                <a:ea typeface="Arimo"/>
                <a:cs typeface="Arimo"/>
                <a:sym typeface="Arimo"/>
              </a:rPr>
              <a:t>Both assertions pass</a:t>
            </a:r>
          </a:p>
          <a:p>
            <a:pPr marL="215000" indent="-215000" algn="l">
              <a:lnSpc>
                <a:spcPct val="122000"/>
              </a:lnSpc>
              <a:spcAft>
                <a:spcPts val="30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 group spans two splits</a:t>
            </a:r>
          </a:p>
          <a:p>
            <a:pPr marL="215000" indent="-215000" algn="l">
              <a:lnSpc>
                <a:spcPct val="122000"/>
              </a:lnSpc>
              <a:spcAft>
                <a:spcPts val="30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all 30 identities in all three splits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493776" y="3456432"/>
            <a:ext cx="2615184" cy="640080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2" name="TextBox 311"/>
          <p:cNvSpPr txBox="1"/>
          <p:nvPr/>
        </p:nvSpPr>
        <p:spPr>
          <a:xfrm>
            <a:off x="493776" y="3456432"/>
            <a:ext cx="26151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3,546   </a:t>
            </a:r>
            <a:r>
              <a:rPr sz="10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Train  ·  59%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3264408" y="3456432"/>
            <a:ext cx="2615184" cy="640080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4" name="TextBox 313"/>
          <p:cNvSpPr txBox="1"/>
          <p:nvPr/>
        </p:nvSpPr>
        <p:spPr>
          <a:xfrm>
            <a:off x="3264408" y="3456432"/>
            <a:ext cx="26151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1,444   </a:t>
            </a:r>
            <a:r>
              <a:rPr sz="10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Validation  ·  24%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6035040" y="3456432"/>
            <a:ext cx="2615184" cy="640080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6" name="TextBox 315"/>
          <p:cNvSpPr txBox="1"/>
          <p:nvPr/>
        </p:nvSpPr>
        <p:spPr>
          <a:xfrm>
            <a:off x="6035040" y="3456432"/>
            <a:ext cx="26151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998   </a:t>
            </a:r>
            <a:r>
              <a:rPr sz="10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Test  ·  17%</a:t>
            </a:r>
          </a:p>
        </p:txBody>
      </p:sp>
      <p:sp>
        <p:nvSpPr>
          <p:cNvPr id="317" name="Rounded Rectangle 316"/>
          <p:cNvSpPr/>
          <p:nvPr/>
        </p:nvSpPr>
        <p:spPr>
          <a:xfrm>
            <a:off x="493776" y="4206240"/>
            <a:ext cx="8156448" cy="384048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73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8" name="TextBox 317"/>
          <p:cNvSpPr txBox="1"/>
          <p:nvPr/>
        </p:nvSpPr>
        <p:spPr>
          <a:xfrm>
            <a:off x="493776" y="4206240"/>
            <a:ext cx="81564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Disclosed:  </a:t>
            </a: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429 byte-identical duplicates were kept as independent images, not merged.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327" name="Google Shape;327;p10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8" name="Google Shape;328;p10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07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Model Architecture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Two pretrained components, plus one small head trained locally.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493776" y="1115568"/>
            <a:ext cx="3977639" cy="1371600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3" name="TextBox 332"/>
          <p:cNvSpPr txBox="1"/>
          <p:nvPr/>
        </p:nvSpPr>
        <p:spPr>
          <a:xfrm>
            <a:off x="676656" y="1225296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RetinaFace</a:t>
            </a:r>
            <a:r>
              <a:rPr sz="1050" b="0" i="0">
                <a:solidFill>
                  <a:srgbClr val="566174"/>
                </a:solidFill>
                <a:latin typeface="Courier New"/>
                <a:ea typeface="Courier New"/>
                <a:cs typeface="Courier New"/>
                <a:sym typeface="Courier New"/>
              </a:rPr>
              <a:t>   det_10g.onnx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676656" y="1609344"/>
            <a:ext cx="361188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Finds the face and five landmarks</a:t>
            </a:r>
          </a:p>
          <a:p>
            <a:pPr marL="215000" indent="-215000" algn="l">
              <a:lnSpc>
                <a:spcPct val="125000"/>
              </a:lnSpc>
              <a:buClr>
                <a:srgbClr val="3C3939"/>
              </a:buClr>
              <a:buSzPts val="1050"/>
              <a:buFont typeface="Roboto"/>
              <a:buChar char="•"/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Outputs a box + 5 points — not an identity</a:t>
            </a:r>
          </a:p>
        </p:txBody>
      </p:sp>
      <p:sp>
        <p:nvSpPr>
          <p:cNvPr id="335" name="Rounded Rectangle 334"/>
          <p:cNvSpPr/>
          <p:nvPr/>
        </p:nvSpPr>
        <p:spPr>
          <a:xfrm>
            <a:off x="4672584" y="1115568"/>
            <a:ext cx="3977639" cy="1371600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6" name="TextBox 335"/>
          <p:cNvSpPr txBox="1"/>
          <p:nvPr/>
        </p:nvSpPr>
        <p:spPr>
          <a:xfrm>
            <a:off x="4855464" y="1225296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ArcFace iResNet50</a:t>
            </a:r>
            <a:r>
              <a:rPr sz="1050" b="0" i="0">
                <a:solidFill>
                  <a:srgbClr val="566174"/>
                </a:solidFill>
                <a:latin typeface="Courier New"/>
                <a:ea typeface="Courier New"/>
                <a:cs typeface="Courier New"/>
                <a:sym typeface="Courier New"/>
              </a:rPr>
              <a:t>   w600k_r50.onnx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855464" y="1609344"/>
            <a:ext cx="361188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112×112 crop → 512-D identity vector</a:t>
            </a:r>
          </a:p>
          <a:p>
            <a:pPr marL="215000" indent="-215000" algn="l">
              <a:lnSpc>
                <a:spcPct val="125000"/>
              </a:lnSpc>
              <a:buClr>
                <a:srgbClr val="D32F2F"/>
              </a:buClr>
              <a:buSzPts val="1050"/>
              <a:buFont typeface="Roboto"/>
              <a:buChar char="•"/>
            </a:pPr>
            <a:r>
              <a:rPr sz="1050" b="1" i="0">
                <a:solidFill>
                  <a:srgbClr val="D32F2F"/>
                </a:solidFill>
                <a:latin typeface="Roboto"/>
                <a:ea typeface="Roboto"/>
                <a:cs typeface="Roboto"/>
                <a:sym typeface="Roboto"/>
              </a:rPr>
              <a:t>Output is not unit length — L2 normalize</a:t>
            </a:r>
          </a:p>
        </p:txBody>
      </p:sp>
      <p:sp>
        <p:nvSpPr>
          <p:cNvPr id="338" name="Rounded Rectangle 337"/>
          <p:cNvSpPr/>
          <p:nvPr/>
        </p:nvSpPr>
        <p:spPr>
          <a:xfrm>
            <a:off x="493776" y="2651760"/>
            <a:ext cx="1207008" cy="566928"/>
          </a:xfrm>
          <a:prstGeom prst="roundRect">
            <a:avLst>
              <a:gd name="adj" fmla="val 18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539496" y="2651760"/>
            <a:ext cx="1115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112 × 112 face</a:t>
            </a:r>
          </a:p>
        </p:txBody>
      </p:sp>
      <p:sp>
        <p:nvSpPr>
          <p:cNvPr id="340" name="Isosceles Triangle 339"/>
          <p:cNvSpPr/>
          <p:nvPr/>
        </p:nvSpPr>
        <p:spPr>
          <a:xfrm rot="5400000">
            <a:off x="1719072" y="2875788"/>
            <a:ext cx="137160" cy="118872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1" name="Rounded Rectangle 340"/>
          <p:cNvSpPr/>
          <p:nvPr/>
        </p:nvSpPr>
        <p:spPr>
          <a:xfrm>
            <a:off x="1883664" y="2651760"/>
            <a:ext cx="1207008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2" name="TextBox 341"/>
          <p:cNvSpPr txBox="1"/>
          <p:nvPr/>
        </p:nvSpPr>
        <p:spPr>
          <a:xfrm>
            <a:off x="1929384" y="2651760"/>
            <a:ext cx="1115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iResNet50</a:t>
            </a:r>
          </a:p>
        </p:txBody>
      </p:sp>
      <p:sp>
        <p:nvSpPr>
          <p:cNvPr id="343" name="Isosceles Triangle 342"/>
          <p:cNvSpPr/>
          <p:nvPr/>
        </p:nvSpPr>
        <p:spPr>
          <a:xfrm rot="5400000">
            <a:off x="3108960" y="2875788"/>
            <a:ext cx="137160" cy="118872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4" name="Rounded Rectangle 343"/>
          <p:cNvSpPr/>
          <p:nvPr/>
        </p:nvSpPr>
        <p:spPr>
          <a:xfrm>
            <a:off x="3273552" y="2651760"/>
            <a:ext cx="1207008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3319272" y="2651760"/>
            <a:ext cx="1115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512-D embedding</a:t>
            </a:r>
          </a:p>
        </p:txBody>
      </p:sp>
      <p:sp>
        <p:nvSpPr>
          <p:cNvPr id="346" name="Isosceles Triangle 345"/>
          <p:cNvSpPr/>
          <p:nvPr/>
        </p:nvSpPr>
        <p:spPr>
          <a:xfrm rot="5400000">
            <a:off x="4498848" y="2875788"/>
            <a:ext cx="137160" cy="118872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7" name="Rounded Rectangle 346"/>
          <p:cNvSpPr/>
          <p:nvPr/>
        </p:nvSpPr>
        <p:spPr>
          <a:xfrm>
            <a:off x="4663440" y="2651760"/>
            <a:ext cx="1207008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8" name="TextBox 347"/>
          <p:cNvSpPr txBox="1"/>
          <p:nvPr/>
        </p:nvSpPr>
        <p:spPr>
          <a:xfrm>
            <a:off x="4709160" y="2651760"/>
            <a:ext cx="1115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L2 normalize</a:t>
            </a:r>
          </a:p>
        </p:txBody>
      </p:sp>
      <p:sp>
        <p:nvSpPr>
          <p:cNvPr id="349" name="Isosceles Triangle 348"/>
          <p:cNvSpPr/>
          <p:nvPr/>
        </p:nvSpPr>
        <p:spPr>
          <a:xfrm rot="5400000">
            <a:off x="5888736" y="2875788"/>
            <a:ext cx="137160" cy="118872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0" name="Rounded Rectangle 349"/>
          <p:cNvSpPr/>
          <p:nvPr/>
        </p:nvSpPr>
        <p:spPr>
          <a:xfrm>
            <a:off x="6053328" y="2651760"/>
            <a:ext cx="1207008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6099048" y="2651760"/>
            <a:ext cx="1115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30-way head</a:t>
            </a:r>
          </a:p>
        </p:txBody>
      </p:sp>
      <p:sp>
        <p:nvSpPr>
          <p:cNvPr id="352" name="Isosceles Triangle 351"/>
          <p:cNvSpPr/>
          <p:nvPr/>
        </p:nvSpPr>
        <p:spPr>
          <a:xfrm rot="5400000">
            <a:off x="7278624" y="2875788"/>
            <a:ext cx="137160" cy="118872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3" name="Rounded Rectangle 352"/>
          <p:cNvSpPr/>
          <p:nvPr/>
        </p:nvSpPr>
        <p:spPr>
          <a:xfrm>
            <a:off x="7443216" y="2651760"/>
            <a:ext cx="1207008" cy="566928"/>
          </a:xfrm>
          <a:prstGeom prst="roundRect">
            <a:avLst>
              <a:gd name="adj" fmla="val 18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4" name="TextBox 353"/>
          <p:cNvSpPr txBox="1"/>
          <p:nvPr/>
        </p:nvSpPr>
        <p:spPr>
          <a:xfrm>
            <a:off x="7488936" y="2651760"/>
            <a:ext cx="1115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Identity</a:t>
            </a:r>
          </a:p>
        </p:txBody>
      </p:sp>
      <p:sp>
        <p:nvSpPr>
          <p:cNvPr id="355" name="Rounded Rectangle 354"/>
          <p:cNvSpPr/>
          <p:nvPr/>
        </p:nvSpPr>
        <p:spPr>
          <a:xfrm>
            <a:off x="493776" y="3438144"/>
            <a:ext cx="2615184" cy="786384"/>
          </a:xfrm>
          <a:prstGeom prst="roundRect">
            <a:avLst>
              <a:gd name="adj" fmla="val 47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6" name="TextBox 355"/>
          <p:cNvSpPr txBox="1"/>
          <p:nvPr/>
        </p:nvSpPr>
        <p:spPr>
          <a:xfrm>
            <a:off x="621792" y="3438144"/>
            <a:ext cx="2359152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Detection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Is there a face, and where?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3264408" y="3438144"/>
            <a:ext cx="2615184" cy="786384"/>
          </a:xfrm>
          <a:prstGeom prst="roundRect">
            <a:avLst>
              <a:gd name="adj" fmla="val 47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8" name="TextBox 357"/>
          <p:cNvSpPr txBox="1"/>
          <p:nvPr/>
        </p:nvSpPr>
        <p:spPr>
          <a:xfrm>
            <a:off x="3392424" y="3438144"/>
            <a:ext cx="2359152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Embedding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What does it look like as numbers?</a:t>
            </a:r>
          </a:p>
        </p:txBody>
      </p:sp>
      <p:sp>
        <p:nvSpPr>
          <p:cNvPr id="359" name="Rounded Rectangle 358"/>
          <p:cNvSpPr/>
          <p:nvPr/>
        </p:nvSpPr>
        <p:spPr>
          <a:xfrm>
            <a:off x="6035040" y="3438144"/>
            <a:ext cx="2615184" cy="786384"/>
          </a:xfrm>
          <a:prstGeom prst="roundRect">
            <a:avLst>
              <a:gd name="adj" fmla="val 47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0" name="TextBox 359"/>
          <p:cNvSpPr txBox="1"/>
          <p:nvPr/>
        </p:nvSpPr>
        <p:spPr>
          <a:xfrm>
            <a:off x="6163055" y="3438144"/>
            <a:ext cx="2359152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Identification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Which enrolled person is it?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5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38" dirty="0">
                <a:solidFill>
                  <a:srgbClr val="4A5782"/>
                </a:solidFill>
              </a:rPr>
              <a:t>8</a:t>
            </a:r>
            <a:r>
              <a:rPr lang="en-US" sz="938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 Sep 2026</a:t>
            </a:r>
            <a:endParaRPr sz="938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Training Pipeline — E1, E2, E3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E1 and E2 reuse cached embeddings. E3 needs raw pixels, so it branches earlier.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93776" y="1115568"/>
            <a:ext cx="14630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39496" y="1115568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processed_data/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+ manifest.csv</a:t>
            </a:r>
          </a:p>
        </p:txBody>
      </p:sp>
      <p:sp>
        <p:nvSpPr>
          <p:cNvPr id="69" name="Isosceles Triangle 68"/>
          <p:cNvSpPr/>
          <p:nvPr/>
        </p:nvSpPr>
        <p:spPr>
          <a:xfrm rot="5400000">
            <a:off x="1975104" y="1408176"/>
            <a:ext cx="146304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2157984" y="1115568"/>
            <a:ext cx="14630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203704" y="1115568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01_preprocess.py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detect + align</a:t>
            </a:r>
          </a:p>
        </p:txBody>
      </p:sp>
      <p:sp>
        <p:nvSpPr>
          <p:cNvPr id="72" name="Isosceles Triangle 71"/>
          <p:cNvSpPr/>
          <p:nvPr/>
        </p:nvSpPr>
        <p:spPr>
          <a:xfrm rot="5400000">
            <a:off x="3639312" y="1408176"/>
            <a:ext cx="146304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3822191" y="1115568"/>
            <a:ext cx="1463040" cy="713232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867911" y="1115568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crops/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112 × 112</a:t>
            </a:r>
          </a:p>
        </p:txBody>
      </p:sp>
      <p:sp>
        <p:nvSpPr>
          <p:cNvPr id="75" name="Isosceles Triangle 74"/>
          <p:cNvSpPr/>
          <p:nvPr/>
        </p:nvSpPr>
        <p:spPr>
          <a:xfrm rot="5400000">
            <a:off x="5303519" y="1408176"/>
            <a:ext cx="146304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5486400" y="1115568"/>
            <a:ext cx="14630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532120" y="1115568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03_embed.py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frozen ArcFace</a:t>
            </a:r>
          </a:p>
        </p:txBody>
      </p:sp>
      <p:sp>
        <p:nvSpPr>
          <p:cNvPr id="78" name="Isosceles Triangle 77"/>
          <p:cNvSpPr/>
          <p:nvPr/>
        </p:nvSpPr>
        <p:spPr>
          <a:xfrm rot="5400000">
            <a:off x="6967727" y="1408176"/>
            <a:ext cx="146304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7150608" y="1115568"/>
            <a:ext cx="1463040" cy="713232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196328" y="1115568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embeddings.npz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512-D cached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93776" y="2048256"/>
            <a:ext cx="2615184" cy="402336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85216" y="204825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E1   </a:t>
            </a:r>
            <a:r>
              <a:rPr sz="100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from embeddings.npz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93776" y="2523744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" y="2523744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05_train_head.py --mode normal</a:t>
            </a:r>
          </a:p>
        </p:txBody>
      </p:sp>
      <p:sp>
        <p:nvSpPr>
          <p:cNvPr id="85" name="Isosceles Triangle 84"/>
          <p:cNvSpPr/>
          <p:nvPr/>
        </p:nvSpPr>
        <p:spPr>
          <a:xfrm rot="10800000">
            <a:off x="1746504" y="2916936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493776" y="3008376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66928" y="3008376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TRAIN = 'none' only</a:t>
            </a:r>
          </a:p>
        </p:txBody>
      </p:sp>
      <p:sp>
        <p:nvSpPr>
          <p:cNvPr id="88" name="Isosceles Triangle 87"/>
          <p:cNvSpPr/>
          <p:nvPr/>
        </p:nvSpPr>
        <p:spPr>
          <a:xfrm rot="10800000">
            <a:off x="1746504" y="3401568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493776" y="3493008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66928" y="349300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runs/e1_head.pt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264408" y="2048256"/>
            <a:ext cx="2615184" cy="402336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355848" y="204825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E2   </a:t>
            </a:r>
            <a:r>
              <a:rPr sz="100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from embeddings.npz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264408" y="2523744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337560" y="2523744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05_train_head.py --mode mixed</a:t>
            </a:r>
          </a:p>
        </p:txBody>
      </p:sp>
      <p:sp>
        <p:nvSpPr>
          <p:cNvPr id="95" name="Isosceles Triangle 94"/>
          <p:cNvSpPr/>
          <p:nvPr/>
        </p:nvSpPr>
        <p:spPr>
          <a:xfrm rot="10800000">
            <a:off x="4517136" y="2916936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3264408" y="3008376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337560" y="3008376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TRAIN = all 8 occlusions</a:t>
            </a:r>
          </a:p>
        </p:txBody>
      </p:sp>
      <p:sp>
        <p:nvSpPr>
          <p:cNvPr id="98" name="Isosceles Triangle 97"/>
          <p:cNvSpPr/>
          <p:nvPr/>
        </p:nvSpPr>
        <p:spPr>
          <a:xfrm rot="10800000">
            <a:off x="4517136" y="3401568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3264408" y="3493008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337560" y="349300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runs/e2_head.pt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035040" y="2048256"/>
            <a:ext cx="2615184" cy="402336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126479" y="204825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E3   </a:t>
            </a:r>
            <a:r>
              <a:rPr sz="100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from crops/ — branches earlier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035040" y="2523744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108192" y="2523744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06_e3_finetune.py</a:t>
            </a:r>
          </a:p>
        </p:txBody>
      </p:sp>
      <p:sp>
        <p:nvSpPr>
          <p:cNvPr id="105" name="Isosceles Triangle 104"/>
          <p:cNvSpPr/>
          <p:nvPr/>
        </p:nvSpPr>
        <p:spPr>
          <a:xfrm rot="10800000">
            <a:off x="7287768" y="2916936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6035040" y="3008376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108192" y="3008376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unfreeze last 15%, BN frozen</a:t>
            </a:r>
          </a:p>
        </p:txBody>
      </p:sp>
      <p:sp>
        <p:nvSpPr>
          <p:cNvPr id="108" name="Isosceles Triangle 107"/>
          <p:cNvSpPr/>
          <p:nvPr/>
        </p:nvSpPr>
        <p:spPr>
          <a:xfrm rot="10800000">
            <a:off x="7287768" y="3401568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6035040" y="3493008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108192" y="349300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runs/e3_model.pt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93776" y="4023360"/>
            <a:ext cx="8156448" cy="548640"/>
          </a:xfrm>
          <a:prstGeom prst="roundRect">
            <a:avLst>
              <a:gd name="adj" fmla="val 12000"/>
            </a:avLst>
          </a:prstGeom>
          <a:solidFill>
            <a:srgbClr val="EAF8F1"/>
          </a:solidFill>
          <a:ln w="7375">
            <a:solidFill>
              <a:srgbClr val="008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93776" y="4023360"/>
            <a:ext cx="81564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8E80"/>
                </a:solidFill>
                <a:latin typeface="Courier New"/>
                <a:ea typeface="Courier New"/>
                <a:cs typeface="Courier New"/>
                <a:sym typeface="Courier New"/>
              </a:rPr>
              <a:t>10_full_eval.py</a:t>
            </a: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  →   confusion matrix  ·  per-class and per-occlusion P / R / F1  →  runs/eval/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2" name="Google Shape;422;p11"/>
          <p:cNvCxnSpPr/>
          <p:nvPr/>
        </p:nvCxnSpPr>
        <p:spPr>
          <a:xfrm>
            <a:off x="315006" y="4780380"/>
            <a:ext cx="8479200" cy="0"/>
          </a:xfrm>
          <a:prstGeom prst="straightConnector1">
            <a:avLst/>
          </a:prstGeom>
          <a:noFill/>
          <a:ln w="927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3" name="Google Shape;423;p11"/>
          <p:cNvSpPr/>
          <p:nvPr/>
        </p:nvSpPr>
        <p:spPr>
          <a:xfrm>
            <a:off x="315006" y="4847308"/>
            <a:ext cx="814200" cy="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00">
                <a:solidFill>
                  <a:srgbClr val="4A5782"/>
                </a:solidFill>
              </a:rPr>
              <a:t>08 Sep 2026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8624514" y="4847308"/>
            <a:ext cx="169800" cy="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22"/>
              <a:buFont typeface="Arial"/>
              <a:buNone/>
            </a:pPr>
            <a:r>
              <a:rPr lang="en-US" sz="900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TextBox 424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Inference Pipeline — E1 / E2 / E3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Detection and alignment are shared. Only the embedding source and classifier differ.</a:t>
            </a:r>
          </a:p>
        </p:txBody>
      </p:sp>
      <p:sp>
        <p:nvSpPr>
          <p:cNvPr id="427" name="Rounded Rectangle 426"/>
          <p:cNvSpPr/>
          <p:nvPr/>
        </p:nvSpPr>
        <p:spPr>
          <a:xfrm>
            <a:off x="493776" y="1115568"/>
            <a:ext cx="2615184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8" name="TextBox 427"/>
          <p:cNvSpPr txBox="1"/>
          <p:nvPr/>
        </p:nvSpPr>
        <p:spPr>
          <a:xfrm>
            <a:off x="539496" y="1115568"/>
            <a:ext cx="252374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Phone camera frame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POST /predict</a:t>
            </a:r>
          </a:p>
        </p:txBody>
      </p:sp>
      <p:sp>
        <p:nvSpPr>
          <p:cNvPr id="429" name="Isosceles Triangle 428"/>
          <p:cNvSpPr/>
          <p:nvPr/>
        </p:nvSpPr>
        <p:spPr>
          <a:xfrm rot="5400000">
            <a:off x="3127248" y="1353312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0" name="Rounded Rectangle 429"/>
          <p:cNvSpPr/>
          <p:nvPr/>
        </p:nvSpPr>
        <p:spPr>
          <a:xfrm>
            <a:off x="3264408" y="1115568"/>
            <a:ext cx="2615184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1" name="TextBox 430"/>
          <p:cNvSpPr txBox="1"/>
          <p:nvPr/>
        </p:nvSpPr>
        <p:spPr>
          <a:xfrm>
            <a:off x="3310127" y="1115568"/>
            <a:ext cx="252374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RetinaFace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largest detected face</a:t>
            </a:r>
          </a:p>
        </p:txBody>
      </p:sp>
      <p:sp>
        <p:nvSpPr>
          <p:cNvPr id="432" name="Isosceles Triangle 431"/>
          <p:cNvSpPr/>
          <p:nvPr/>
        </p:nvSpPr>
        <p:spPr>
          <a:xfrm rot="5400000">
            <a:off x="5897879" y="1353312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3" name="Rounded Rectangle 432"/>
          <p:cNvSpPr/>
          <p:nvPr/>
        </p:nvSpPr>
        <p:spPr>
          <a:xfrm>
            <a:off x="6035040" y="1115568"/>
            <a:ext cx="2615184" cy="603504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4" name="TextBox 433"/>
          <p:cNvSpPr txBox="1"/>
          <p:nvPr/>
        </p:nvSpPr>
        <p:spPr>
          <a:xfrm>
            <a:off x="6080759" y="1115568"/>
            <a:ext cx="252374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align_crop()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112 × 112, from common.py</a:t>
            </a:r>
          </a:p>
        </p:txBody>
      </p:sp>
      <p:sp>
        <p:nvSpPr>
          <p:cNvPr id="435" name="Rounded Rectangle 434"/>
          <p:cNvSpPr/>
          <p:nvPr/>
        </p:nvSpPr>
        <p:spPr>
          <a:xfrm>
            <a:off x="493776" y="1828800"/>
            <a:ext cx="8156448" cy="365760"/>
          </a:xfrm>
          <a:prstGeom prst="roundRect">
            <a:avLst>
              <a:gd name="adj" fmla="val 12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6" name="TextBox 435"/>
          <p:cNvSpPr txBox="1"/>
          <p:nvPr/>
        </p:nvSpPr>
        <p:spPr>
          <a:xfrm>
            <a:off x="493776" y="1828800"/>
            <a:ext cx="81564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active_mode  —  dropdown, switched without restarting the server</a:t>
            </a:r>
          </a:p>
        </p:txBody>
      </p:sp>
      <p:sp>
        <p:nvSpPr>
          <p:cNvPr id="437" name="Rounded Rectangle 436"/>
          <p:cNvSpPr/>
          <p:nvPr/>
        </p:nvSpPr>
        <p:spPr>
          <a:xfrm>
            <a:off x="493776" y="2304288"/>
            <a:ext cx="2615184" cy="347472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8" name="TextBox 437"/>
          <p:cNvSpPr txBox="1"/>
          <p:nvPr/>
        </p:nvSpPr>
        <p:spPr>
          <a:xfrm>
            <a:off x="493776" y="2304288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E1</a:t>
            </a:r>
          </a:p>
        </p:txBody>
      </p:sp>
      <p:sp>
        <p:nvSpPr>
          <p:cNvPr id="439" name="Rounded Rectangle 438"/>
          <p:cNvSpPr/>
          <p:nvPr/>
        </p:nvSpPr>
        <p:spPr>
          <a:xfrm>
            <a:off x="493776" y="2724912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0" name="TextBox 439"/>
          <p:cNvSpPr txBox="1"/>
          <p:nvPr/>
        </p:nvSpPr>
        <p:spPr>
          <a:xfrm>
            <a:off x="585216" y="2724912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Frozen ArcFace + L2</a:t>
            </a:r>
          </a:p>
        </p:txBody>
      </p:sp>
      <p:sp>
        <p:nvSpPr>
          <p:cNvPr id="441" name="Isosceles Triangle 440"/>
          <p:cNvSpPr/>
          <p:nvPr/>
        </p:nvSpPr>
        <p:spPr>
          <a:xfrm rot="10800000">
            <a:off x="1746504" y="3099816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2" name="Rounded Rectangle 441"/>
          <p:cNvSpPr/>
          <p:nvPr/>
        </p:nvSpPr>
        <p:spPr>
          <a:xfrm>
            <a:off x="493776" y="3191256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3" name="TextBox 442"/>
          <p:cNvSpPr txBox="1"/>
          <p:nvPr/>
        </p:nvSpPr>
        <p:spPr>
          <a:xfrm>
            <a:off x="585216" y="3191256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rolling buffer avg</a:t>
            </a:r>
          </a:p>
        </p:txBody>
      </p:sp>
      <p:sp>
        <p:nvSpPr>
          <p:cNvPr id="444" name="Isosceles Triangle 443"/>
          <p:cNvSpPr/>
          <p:nvPr/>
        </p:nvSpPr>
        <p:spPr>
          <a:xfrm rot="10800000">
            <a:off x="1746504" y="3566160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5" name="Rounded Rectangle 444"/>
          <p:cNvSpPr/>
          <p:nvPr/>
        </p:nvSpPr>
        <p:spPr>
          <a:xfrm>
            <a:off x="493776" y="3657600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6" name="TextBox 445"/>
          <p:cNvSpPr txBox="1"/>
          <p:nvPr/>
        </p:nvSpPr>
        <p:spPr>
          <a:xfrm>
            <a:off x="585216" y="365760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argmax vs e1_head.pt</a:t>
            </a:r>
          </a:p>
        </p:txBody>
      </p:sp>
      <p:sp>
        <p:nvSpPr>
          <p:cNvPr id="447" name="Rounded Rectangle 446"/>
          <p:cNvSpPr/>
          <p:nvPr/>
        </p:nvSpPr>
        <p:spPr>
          <a:xfrm>
            <a:off x="3264408" y="2304288"/>
            <a:ext cx="2615184" cy="347472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8" name="TextBox 447"/>
          <p:cNvSpPr txBox="1"/>
          <p:nvPr/>
        </p:nvSpPr>
        <p:spPr>
          <a:xfrm>
            <a:off x="3264408" y="2304288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E2</a:t>
            </a:r>
          </a:p>
        </p:txBody>
      </p:sp>
      <p:sp>
        <p:nvSpPr>
          <p:cNvPr id="449" name="Rounded Rectangle 448"/>
          <p:cNvSpPr/>
          <p:nvPr/>
        </p:nvSpPr>
        <p:spPr>
          <a:xfrm>
            <a:off x="3264408" y="2724912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0" name="TextBox 449"/>
          <p:cNvSpPr txBox="1"/>
          <p:nvPr/>
        </p:nvSpPr>
        <p:spPr>
          <a:xfrm>
            <a:off x="3355848" y="2724912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Same frozen embedding</a:t>
            </a:r>
          </a:p>
        </p:txBody>
      </p:sp>
      <p:sp>
        <p:nvSpPr>
          <p:cNvPr id="451" name="Isosceles Triangle 450"/>
          <p:cNvSpPr/>
          <p:nvPr/>
        </p:nvSpPr>
        <p:spPr>
          <a:xfrm rot="10800000">
            <a:off x="4517136" y="3099816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2" name="Rounded Rectangle 451"/>
          <p:cNvSpPr/>
          <p:nvPr/>
        </p:nvSpPr>
        <p:spPr>
          <a:xfrm>
            <a:off x="3264408" y="3191256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3" name="TextBox 452"/>
          <p:cNvSpPr txBox="1"/>
          <p:nvPr/>
        </p:nvSpPr>
        <p:spPr>
          <a:xfrm>
            <a:off x="3355848" y="3191256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rolling buffer avg</a:t>
            </a:r>
          </a:p>
        </p:txBody>
      </p:sp>
      <p:sp>
        <p:nvSpPr>
          <p:cNvPr id="454" name="Isosceles Triangle 453"/>
          <p:cNvSpPr/>
          <p:nvPr/>
        </p:nvSpPr>
        <p:spPr>
          <a:xfrm rot="10800000">
            <a:off x="4517136" y="3566160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5" name="Rounded Rectangle 454"/>
          <p:cNvSpPr/>
          <p:nvPr/>
        </p:nvSpPr>
        <p:spPr>
          <a:xfrm>
            <a:off x="3264408" y="3657600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6" name="TextBox 455"/>
          <p:cNvSpPr txBox="1"/>
          <p:nvPr/>
        </p:nvSpPr>
        <p:spPr>
          <a:xfrm>
            <a:off x="3355848" y="365760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argmax vs e2_head.pt</a:t>
            </a:r>
          </a:p>
        </p:txBody>
      </p:sp>
      <p:sp>
        <p:nvSpPr>
          <p:cNvPr id="457" name="Rounded Rectangle 456"/>
          <p:cNvSpPr/>
          <p:nvPr/>
        </p:nvSpPr>
        <p:spPr>
          <a:xfrm>
            <a:off x="6035040" y="2304288"/>
            <a:ext cx="2615184" cy="347472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8" name="TextBox 457"/>
          <p:cNvSpPr txBox="1"/>
          <p:nvPr/>
        </p:nvSpPr>
        <p:spPr>
          <a:xfrm>
            <a:off x="6035040" y="2304288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E3</a:t>
            </a:r>
          </a:p>
        </p:txBody>
      </p:sp>
      <p:sp>
        <p:nvSpPr>
          <p:cNvPr id="459" name="Rounded Rectangle 458"/>
          <p:cNvSpPr/>
          <p:nvPr/>
        </p:nvSpPr>
        <p:spPr>
          <a:xfrm>
            <a:off x="6035040" y="2724912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0" name="TextBox 459"/>
          <p:cNvSpPr txBox="1"/>
          <p:nvPr/>
        </p:nvSpPr>
        <p:spPr>
          <a:xfrm>
            <a:off x="6126479" y="2724912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Fine-tuned backbone</a:t>
            </a:r>
          </a:p>
        </p:txBody>
      </p:sp>
      <p:sp>
        <p:nvSpPr>
          <p:cNvPr id="461" name="Isosceles Triangle 460"/>
          <p:cNvSpPr/>
          <p:nvPr/>
        </p:nvSpPr>
        <p:spPr>
          <a:xfrm rot="10800000">
            <a:off x="7287768" y="3099816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2" name="Rounded Rectangle 461"/>
          <p:cNvSpPr/>
          <p:nvPr/>
        </p:nvSpPr>
        <p:spPr>
          <a:xfrm>
            <a:off x="6035040" y="3191256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3" name="TextBox 462"/>
          <p:cNvSpPr txBox="1"/>
          <p:nvPr/>
        </p:nvSpPr>
        <p:spPr>
          <a:xfrm>
            <a:off x="6126479" y="3191256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loaded lazily, own space</a:t>
            </a:r>
          </a:p>
        </p:txBody>
      </p:sp>
      <p:sp>
        <p:nvSpPr>
          <p:cNvPr id="464" name="Isosceles Triangle 463"/>
          <p:cNvSpPr/>
          <p:nvPr/>
        </p:nvSpPr>
        <p:spPr>
          <a:xfrm rot="10800000">
            <a:off x="7287768" y="3566160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5" name="Rounded Rectangle 464"/>
          <p:cNvSpPr/>
          <p:nvPr/>
        </p:nvSpPr>
        <p:spPr>
          <a:xfrm>
            <a:off x="6035040" y="3657600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6" name="TextBox 465"/>
          <p:cNvSpPr txBox="1"/>
          <p:nvPr/>
        </p:nvSpPr>
        <p:spPr>
          <a:xfrm>
            <a:off x="6126479" y="365760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argmax vs e3_model.pt</a:t>
            </a:r>
          </a:p>
        </p:txBody>
      </p:sp>
      <p:sp>
        <p:nvSpPr>
          <p:cNvPr id="467" name="Rounded Rectangle 466"/>
          <p:cNvSpPr/>
          <p:nvPr/>
        </p:nvSpPr>
        <p:spPr>
          <a:xfrm>
            <a:off x="493776" y="4169663"/>
            <a:ext cx="8156448" cy="402336"/>
          </a:xfrm>
          <a:prstGeom prst="roundRect">
            <a:avLst>
              <a:gd name="adj" fmla="val 12000"/>
            </a:avLst>
          </a:prstGeom>
          <a:solidFill>
            <a:srgbClr val="EAF8F1"/>
          </a:solidFill>
          <a:ln w="7375">
            <a:solidFill>
              <a:srgbClr val="008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8" name="TextBox 467"/>
          <p:cNvSpPr txBox="1"/>
          <p:nvPr/>
        </p:nvSpPr>
        <p:spPr>
          <a:xfrm>
            <a:off x="493776" y="4169663"/>
            <a:ext cx="815644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8E80"/>
                </a:solidFill>
                <a:latin typeface="Arimo"/>
                <a:ea typeface="Arimo"/>
                <a:cs typeface="Arimo"/>
                <a:sym typeface="Arimo"/>
              </a:rPr>
              <a:t>JSON → phone browser:  </a:t>
            </a: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label, score, mode, bbox  —  always one of 30, no UNKNOWN in any active mode.</a:t>
            </a:r>
          </a:p>
        </p:txBody>
      </p:sp>
      <p:sp>
        <p:nvSpPr>
          <p:cNvPr id="61" name="Google Shape;61;p5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EB5BC8-DBBD-4FB6-B5F8-AE09AF2E4049}"/>
              </a:ext>
            </a:extLst>
          </p:cNvPr>
          <p:cNvSpPr txBox="1"/>
          <p:nvPr/>
        </p:nvSpPr>
        <p:spPr>
          <a:xfrm>
            <a:off x="8828994" y="4847308"/>
            <a:ext cx="832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12" title="ChatGPT Image Sep 8, 2026, 01_30_3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7" y="-39757"/>
            <a:ext cx="913912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0A11EC-6786-4B17-BEE2-A5F422E114F6}"/>
              </a:ext>
            </a:extLst>
          </p:cNvPr>
          <p:cNvSpPr txBox="1"/>
          <p:nvPr/>
        </p:nvSpPr>
        <p:spPr>
          <a:xfrm>
            <a:off x="157701" y="4938087"/>
            <a:ext cx="19242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08 Sep,2026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7E62C-5266-4B82-9F29-6BFC43ECF3E8}"/>
              </a:ext>
            </a:extLst>
          </p:cNvPr>
          <p:cNvSpPr/>
          <p:nvPr/>
        </p:nvSpPr>
        <p:spPr>
          <a:xfrm>
            <a:off x="230588" y="4898002"/>
            <a:ext cx="787179" cy="877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320927-6734-48BA-B0C1-6E3D4E0CB5B1}"/>
              </a:ext>
            </a:extLst>
          </p:cNvPr>
          <p:cNvSpPr/>
          <p:nvPr/>
        </p:nvSpPr>
        <p:spPr>
          <a:xfrm>
            <a:off x="8199120" y="4875472"/>
            <a:ext cx="787179" cy="1103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A43324-133F-4C83-978D-7432871EE0C6}"/>
              </a:ext>
            </a:extLst>
          </p:cNvPr>
          <p:cNvSpPr txBox="1"/>
          <p:nvPr/>
        </p:nvSpPr>
        <p:spPr>
          <a:xfrm>
            <a:off x="8682825" y="4905499"/>
            <a:ext cx="5804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329187" y="246891"/>
            <a:ext cx="8092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Live Demo Inference Output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13"/>
          <p:cNvCxnSpPr/>
          <p:nvPr/>
        </p:nvCxnSpPr>
        <p:spPr>
          <a:xfrm>
            <a:off x="329187" y="754388"/>
            <a:ext cx="8469900" cy="0"/>
          </a:xfrm>
          <a:prstGeom prst="straightConnector1">
            <a:avLst/>
          </a:prstGeom>
          <a:noFill/>
          <a:ln w="114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0" name="Google Shape;440;p13"/>
          <p:cNvSpPr/>
          <p:nvPr/>
        </p:nvSpPr>
        <p:spPr>
          <a:xfrm>
            <a:off x="329187" y="799186"/>
            <a:ext cx="83670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1275"/>
              <a:buFont typeface="Arial"/>
              <a:buNone/>
            </a:pPr>
            <a:r>
              <a:rPr lang="en-US" sz="1275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How the deployed system returns the final identity in real time.</a:t>
            </a:r>
            <a:endParaRPr sz="12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240032" y="1014994"/>
            <a:ext cx="2846100" cy="3209700"/>
          </a:xfrm>
          <a:prstGeom prst="roundRect">
            <a:avLst>
              <a:gd name="adj" fmla="val 1928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356619" y="1083575"/>
            <a:ext cx="315300" cy="3153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356619" y="1140360"/>
            <a:ext cx="3153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▣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781818" y="1165872"/>
            <a:ext cx="13716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Input frame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2091707" y="1124724"/>
            <a:ext cx="877800" cy="233100"/>
          </a:xfrm>
          <a:prstGeom prst="roundRect">
            <a:avLst>
              <a:gd name="adj" fmla="val 23529"/>
            </a:avLst>
          </a:prstGeom>
          <a:solidFill>
            <a:srgbClr val="EEF3FF"/>
          </a:solidFill>
          <a:ln w="7600" cap="flat" cmpd="sng">
            <a:solidFill>
              <a:srgbClr val="EEF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2194578" y="1193304"/>
            <a:ext cx="651600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BE2"/>
              </a:buClr>
              <a:buSzPts val="638"/>
              <a:buFont typeface="Arial"/>
              <a:buNone/>
            </a:pPr>
            <a:r>
              <a:rPr lang="en-US" sz="638" b="1" i="0" u="none" strike="noStrike" cap="none">
                <a:solidFill>
                  <a:srgbClr val="003BE2"/>
                </a:solidFill>
                <a:latin typeface="Arial"/>
                <a:ea typeface="Arial"/>
                <a:cs typeface="Arial"/>
                <a:sym typeface="Arial"/>
              </a:rPr>
              <a:t>POST  /predict</a:t>
            </a:r>
            <a:endParaRPr sz="6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425199" y="1405904"/>
            <a:ext cx="2455200" cy="1460700"/>
          </a:xfrm>
          <a:prstGeom prst="roundRect">
            <a:avLst>
              <a:gd name="adj" fmla="val 2347"/>
            </a:avLst>
          </a:prstGeom>
          <a:solidFill>
            <a:srgbClr val="111111"/>
          </a:solidFill>
          <a:ln w="7600" cap="flat" cmpd="sng">
            <a:solidFill>
              <a:srgbClr val="1E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431970" y="1453753"/>
            <a:ext cx="2455200" cy="192000"/>
          </a:xfrm>
          <a:prstGeom prst="rect">
            <a:avLst/>
          </a:prstGeom>
          <a:solidFill>
            <a:srgbClr val="20232A"/>
          </a:solidFill>
          <a:ln w="9525" cap="flat" cmpd="sng">
            <a:solidFill>
              <a:srgbClr val="20232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3"/>
          <p:cNvSpPr/>
          <p:nvPr/>
        </p:nvSpPr>
        <p:spPr>
          <a:xfrm>
            <a:off x="534928" y="1467627"/>
            <a:ext cx="48000" cy="48000"/>
          </a:xfrm>
          <a:prstGeom prst="ellipse">
            <a:avLst/>
          </a:prstGeom>
          <a:solidFill>
            <a:srgbClr val="FF5F57"/>
          </a:solidFill>
          <a:ln w="9525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644657" y="1467627"/>
            <a:ext cx="48000" cy="48000"/>
          </a:xfrm>
          <a:prstGeom prst="ellipse">
            <a:avLst/>
          </a:prstGeom>
          <a:solidFill>
            <a:srgbClr val="FFBD2E"/>
          </a:solidFill>
          <a:ln w="9525" cap="flat" cmpd="sng">
            <a:solidFill>
              <a:srgbClr val="FFBD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754386" y="1467627"/>
            <a:ext cx="48000" cy="48000"/>
          </a:xfrm>
          <a:prstGeom prst="ellipse">
            <a:avLst/>
          </a:prstGeom>
          <a:solidFill>
            <a:srgbClr val="28C840"/>
          </a:solidFill>
          <a:ln w="9525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946412" y="1453911"/>
            <a:ext cx="1166100" cy="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DE8FF"/>
              </a:buClr>
              <a:buSzPts val="503"/>
              <a:buFont typeface="Arial"/>
              <a:buNone/>
            </a:pPr>
            <a:r>
              <a:rPr lang="en-US" sz="503" b="1" i="0" u="none" strike="noStrike" cap="none">
                <a:solidFill>
                  <a:srgbClr val="DDE8FF"/>
                </a:solidFill>
                <a:latin typeface="Arial"/>
                <a:ea typeface="Arial"/>
                <a:cs typeface="Arial"/>
                <a:sym typeface="Arial"/>
              </a:rPr>
              <a:t>Real demo app UI</a:t>
            </a:r>
            <a:endParaRPr sz="50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13" descr="/mnt/data/WhatsApp Image 2026-09-08 at 1.36.15 AM.jpeg"/>
          <p:cNvPicPr preferRelativeResize="0"/>
          <p:nvPr/>
        </p:nvPicPr>
        <p:blipFill rotWithShape="1">
          <a:blip r:embed="rId3">
            <a:alphaModFix/>
          </a:blip>
          <a:srcRect l="5269" r="5269"/>
          <a:stretch/>
        </p:blipFill>
        <p:spPr>
          <a:xfrm>
            <a:off x="414682" y="1433195"/>
            <a:ext cx="2318023" cy="12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3"/>
          <p:cNvSpPr/>
          <p:nvPr/>
        </p:nvSpPr>
        <p:spPr>
          <a:xfrm>
            <a:off x="425199" y="3031267"/>
            <a:ext cx="2455200" cy="774900"/>
          </a:xfrm>
          <a:prstGeom prst="roundRect">
            <a:avLst>
              <a:gd name="adj" fmla="val 7080"/>
            </a:avLst>
          </a:prstGeom>
          <a:solidFill>
            <a:srgbClr val="F8FB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3"/>
          <p:cNvSpPr/>
          <p:nvPr/>
        </p:nvSpPr>
        <p:spPr>
          <a:xfrm>
            <a:off x="582928" y="3099968"/>
            <a:ext cx="1645800" cy="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84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What the live app does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582935" y="3333022"/>
            <a:ext cx="1098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0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788676" y="3346738"/>
            <a:ext cx="1988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547"/>
              </a:buClr>
              <a:buSzPts val="704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1B2547"/>
                </a:solidFill>
                <a:latin typeface="Arial"/>
                <a:ea typeface="Arial"/>
                <a:cs typeface="Arial"/>
                <a:sym typeface="Arial"/>
              </a:rPr>
              <a:t>Phone/browser opens deployed UI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582935" y="3483900"/>
            <a:ext cx="1098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0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788676" y="3497616"/>
            <a:ext cx="1988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547"/>
              </a:buClr>
              <a:buSzPts val="704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1B2547"/>
                </a:solidFill>
                <a:latin typeface="Arial"/>
                <a:ea typeface="Arial"/>
                <a:cs typeface="Arial"/>
                <a:sym typeface="Arial"/>
              </a:rPr>
              <a:t>User selects E1 / E2 / E3 mode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582935" y="3634777"/>
            <a:ext cx="1098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0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788676" y="3648493"/>
            <a:ext cx="1988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547"/>
              </a:buClr>
              <a:buSzPts val="704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1B2547"/>
                </a:solidFill>
                <a:latin typeface="Arial"/>
                <a:ea typeface="Arial"/>
                <a:cs typeface="Arial"/>
                <a:sym typeface="Arial"/>
              </a:rPr>
              <a:t>Start streams frames to /predict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466348" y="3970823"/>
            <a:ext cx="706500" cy="1713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 w="7150" cap="flat" cmpd="sng">
            <a:solidFill>
              <a:srgbClr val="D3DF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630941" y="4018829"/>
            <a:ext cx="274200" cy="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8C9"/>
              </a:buClr>
              <a:buSzPts val="548"/>
              <a:buFont typeface="Arial"/>
              <a:buNone/>
            </a:pPr>
            <a:r>
              <a:rPr lang="en-US" sz="548" b="1" i="0" u="none" strike="noStrike" cap="none">
                <a:solidFill>
                  <a:srgbClr val="1B58C9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sz="54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1234450" y="3970823"/>
            <a:ext cx="706500" cy="171300"/>
          </a:xfrm>
          <a:prstGeom prst="roundRect">
            <a:avLst>
              <a:gd name="adj" fmla="val 16000"/>
            </a:avLst>
          </a:prstGeom>
          <a:solidFill>
            <a:srgbClr val="F3F4F8"/>
          </a:solidFill>
          <a:ln w="7150" cap="flat" cmpd="sng">
            <a:solidFill>
              <a:srgbClr val="D3DF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3"/>
          <p:cNvSpPr/>
          <p:nvPr/>
        </p:nvSpPr>
        <p:spPr>
          <a:xfrm>
            <a:off x="1405901" y="4018829"/>
            <a:ext cx="274200" cy="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548"/>
              <a:buFont typeface="Arial"/>
              <a:buNone/>
            </a:pPr>
            <a:r>
              <a:rPr lang="en-US" sz="548" b="1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 sz="54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2002552" y="3970823"/>
            <a:ext cx="706500" cy="1713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 w="7150" cap="flat" cmpd="sng">
            <a:solidFill>
              <a:srgbClr val="D3DF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3"/>
          <p:cNvSpPr/>
          <p:nvPr/>
        </p:nvSpPr>
        <p:spPr>
          <a:xfrm>
            <a:off x="2146572" y="4018829"/>
            <a:ext cx="343200" cy="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8C9"/>
              </a:buClr>
              <a:buSzPts val="548"/>
              <a:buFont typeface="Arial"/>
              <a:buNone/>
            </a:pPr>
            <a:r>
              <a:rPr lang="en-US" sz="548" b="1" i="0" u="none" strike="noStrike" cap="none">
                <a:solidFill>
                  <a:srgbClr val="1B58C9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 sz="54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3182138" y="1014994"/>
            <a:ext cx="2743200" cy="3209700"/>
          </a:xfrm>
          <a:prstGeom prst="roundRect">
            <a:avLst>
              <a:gd name="adj" fmla="val 2000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3305583" y="1083575"/>
            <a:ext cx="315300" cy="3153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3305583" y="1140360"/>
            <a:ext cx="3153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▥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3730782" y="1165872"/>
            <a:ext cx="16458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Inference Pipeline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3319299" y="1467627"/>
            <a:ext cx="2489700" cy="288000"/>
          </a:xfrm>
          <a:prstGeom prst="roundRect">
            <a:avLst>
              <a:gd name="adj" fmla="val 19048"/>
            </a:avLst>
          </a:prstGeom>
          <a:solidFill>
            <a:srgbClr val="F5F8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3394738" y="1508775"/>
            <a:ext cx="205500" cy="2055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3394738" y="1545809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3771931" y="1570498"/>
            <a:ext cx="514500" cy="1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88"/>
              <a:buFont typeface="Arial"/>
              <a:buNone/>
            </a:pPr>
            <a:r>
              <a:rPr lang="en-US" sz="788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 sz="78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4361724" y="1577356"/>
            <a:ext cx="1268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83"/>
              <a:buFont typeface="Arial"/>
              <a:buNone/>
            </a:pPr>
            <a:r>
              <a:rPr lang="en-US" sz="1000" b="0" i="0" u="none" strike="noStrike" cap="none" dirty="0" err="1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RetinaFace</a:t>
            </a:r>
            <a:r>
              <a:rPr lang="en-US" sz="10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4512601" y="1776240"/>
            <a:ext cx="68400" cy="137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A5782"/>
          </a:solidFill>
          <a:ln w="9525" cap="flat" cmpd="sng">
            <a:solidFill>
              <a:srgbClr val="4A5782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3"/>
          <p:cNvSpPr/>
          <p:nvPr/>
        </p:nvSpPr>
        <p:spPr>
          <a:xfrm>
            <a:off x="3319299" y="1899685"/>
            <a:ext cx="2489700" cy="288000"/>
          </a:xfrm>
          <a:prstGeom prst="roundRect">
            <a:avLst>
              <a:gd name="adj" fmla="val 19048"/>
            </a:avLst>
          </a:prstGeom>
          <a:solidFill>
            <a:srgbClr val="F5F8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3394738" y="1940834"/>
            <a:ext cx="205500" cy="2055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3394738" y="1977868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3771931" y="2002556"/>
            <a:ext cx="514500" cy="1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88"/>
              <a:buFont typeface="Arial"/>
              <a:buNone/>
            </a:pPr>
            <a:r>
              <a:rPr lang="en-US" sz="788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Align</a:t>
            </a:r>
            <a:endParaRPr sz="78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361724" y="2009415"/>
            <a:ext cx="1268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83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112×112 face crop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4512601" y="2208299"/>
            <a:ext cx="68400" cy="137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A5782"/>
          </a:solidFill>
          <a:ln w="9525" cap="flat" cmpd="sng">
            <a:solidFill>
              <a:srgbClr val="4A5782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3"/>
          <p:cNvSpPr/>
          <p:nvPr/>
        </p:nvSpPr>
        <p:spPr>
          <a:xfrm>
            <a:off x="3319299" y="2331744"/>
            <a:ext cx="2489700" cy="288000"/>
          </a:xfrm>
          <a:prstGeom prst="roundRect">
            <a:avLst>
              <a:gd name="adj" fmla="val 19048"/>
            </a:avLst>
          </a:prstGeom>
          <a:solidFill>
            <a:srgbClr val="F5F8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3394738" y="2372892"/>
            <a:ext cx="205500" cy="2055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3"/>
          <p:cNvSpPr/>
          <p:nvPr/>
        </p:nvSpPr>
        <p:spPr>
          <a:xfrm>
            <a:off x="3394738" y="2409926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3771931" y="2434615"/>
            <a:ext cx="514500" cy="1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88"/>
              <a:buFont typeface="Arial"/>
              <a:buNone/>
            </a:pPr>
            <a:r>
              <a:rPr lang="en-US" sz="788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Embed</a:t>
            </a:r>
            <a:endParaRPr sz="78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4361724" y="2441473"/>
            <a:ext cx="1268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83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Face embedding (512-D)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4512601" y="2640357"/>
            <a:ext cx="68400" cy="137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A5782"/>
          </a:solidFill>
          <a:ln w="9525" cap="flat" cmpd="sng">
            <a:solidFill>
              <a:srgbClr val="4A5782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3"/>
          <p:cNvSpPr/>
          <p:nvPr/>
        </p:nvSpPr>
        <p:spPr>
          <a:xfrm>
            <a:off x="3319299" y="2763802"/>
            <a:ext cx="2489700" cy="288000"/>
          </a:xfrm>
          <a:prstGeom prst="roundRect">
            <a:avLst>
              <a:gd name="adj" fmla="val 19048"/>
            </a:avLst>
          </a:prstGeom>
          <a:solidFill>
            <a:srgbClr val="F5F8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3394738" y="2804951"/>
            <a:ext cx="205500" cy="2055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3"/>
          <p:cNvSpPr/>
          <p:nvPr/>
        </p:nvSpPr>
        <p:spPr>
          <a:xfrm>
            <a:off x="3394738" y="2841985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3771931" y="2866673"/>
            <a:ext cx="514500" cy="1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88"/>
              <a:buFont typeface="Arial"/>
              <a:buNone/>
            </a:pPr>
            <a:r>
              <a:rPr lang="en-US" sz="788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endParaRPr sz="78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4361724" y="2873531"/>
            <a:ext cx="1268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83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Rolling average of recent frames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4512601" y="3072415"/>
            <a:ext cx="68400" cy="137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A5782"/>
          </a:solidFill>
          <a:ln w="9525" cap="flat" cmpd="sng">
            <a:solidFill>
              <a:srgbClr val="4A5782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3319299" y="3195861"/>
            <a:ext cx="2489700" cy="288000"/>
          </a:xfrm>
          <a:prstGeom prst="roundRect">
            <a:avLst>
              <a:gd name="adj" fmla="val 19048"/>
            </a:avLst>
          </a:prstGeom>
          <a:solidFill>
            <a:srgbClr val="F5F8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3"/>
          <p:cNvSpPr/>
          <p:nvPr/>
        </p:nvSpPr>
        <p:spPr>
          <a:xfrm>
            <a:off x="3394738" y="3237009"/>
            <a:ext cx="205500" cy="2055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3"/>
          <p:cNvSpPr/>
          <p:nvPr/>
        </p:nvSpPr>
        <p:spPr>
          <a:xfrm>
            <a:off x="3394738" y="3274043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3771931" y="3298732"/>
            <a:ext cx="514500" cy="1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88"/>
              <a:buFont typeface="Arial"/>
              <a:buNone/>
            </a:pPr>
            <a:r>
              <a:rPr lang="en-US" sz="788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Classify</a:t>
            </a:r>
            <a:endParaRPr sz="78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4361724" y="3305590"/>
            <a:ext cx="1268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83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argmax vs learned model head (E1 / E2 / E3)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1" name="Google Shape;501;p13"/>
          <p:cNvCxnSpPr/>
          <p:nvPr/>
        </p:nvCxnSpPr>
        <p:spPr>
          <a:xfrm>
            <a:off x="3319299" y="3621061"/>
            <a:ext cx="699600" cy="0"/>
          </a:xfrm>
          <a:prstGeom prst="straightConnector1">
            <a:avLst/>
          </a:prstGeom>
          <a:noFill/>
          <a:ln w="9525" cap="flat" cmpd="sng">
            <a:solidFill>
              <a:srgbClr val="DCE5F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2" name="Google Shape;502;p13"/>
          <p:cNvSpPr/>
          <p:nvPr/>
        </p:nvSpPr>
        <p:spPr>
          <a:xfrm>
            <a:off x="4101118" y="3566196"/>
            <a:ext cx="10974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F88"/>
              </a:buClr>
              <a:buSzPts val="713"/>
              <a:buFont typeface="Arial"/>
              <a:buNone/>
            </a:pPr>
            <a:r>
              <a:rPr lang="en-US" sz="713" b="0" i="0" u="none" strike="noStrike" cap="none">
                <a:solidFill>
                  <a:srgbClr val="2D3F88"/>
                </a:solidFill>
                <a:latin typeface="Arial"/>
                <a:ea typeface="Arial"/>
                <a:cs typeface="Arial"/>
                <a:sym typeface="Arial"/>
              </a:rPr>
              <a:t>Select Inference Mode</a:t>
            </a:r>
            <a:endParaRPr sz="7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3" name="Google Shape;503;p13"/>
          <p:cNvCxnSpPr/>
          <p:nvPr/>
        </p:nvCxnSpPr>
        <p:spPr>
          <a:xfrm>
            <a:off x="5047529" y="3621061"/>
            <a:ext cx="699600" cy="0"/>
          </a:xfrm>
          <a:prstGeom prst="straightConnector1">
            <a:avLst/>
          </a:prstGeom>
          <a:noFill/>
          <a:ln w="9525" cap="flat" cmpd="sng">
            <a:solidFill>
              <a:srgbClr val="DCE5F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4" name="Google Shape;504;p13"/>
          <p:cNvSpPr/>
          <p:nvPr/>
        </p:nvSpPr>
        <p:spPr>
          <a:xfrm>
            <a:off x="3319299" y="3723932"/>
            <a:ext cx="795600" cy="425400"/>
          </a:xfrm>
          <a:prstGeom prst="roundRect">
            <a:avLst>
              <a:gd name="adj" fmla="val 12903"/>
            </a:avLst>
          </a:prstGeom>
          <a:solidFill>
            <a:srgbClr val="F8FB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3"/>
          <p:cNvSpPr/>
          <p:nvPr/>
        </p:nvSpPr>
        <p:spPr>
          <a:xfrm>
            <a:off x="3627912" y="3778797"/>
            <a:ext cx="205500" cy="205500"/>
          </a:xfrm>
          <a:prstGeom prst="ellipse">
            <a:avLst/>
          </a:prstGeom>
          <a:solidFill>
            <a:srgbClr val="E4EBF8"/>
          </a:solidFill>
          <a:ln w="9525" cap="flat" cmpd="sng">
            <a:solidFill>
              <a:srgbClr val="E4EBF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3"/>
          <p:cNvSpPr/>
          <p:nvPr/>
        </p:nvSpPr>
        <p:spPr>
          <a:xfrm>
            <a:off x="3627912" y="3815831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E1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3401596" y="3991397"/>
            <a:ext cx="630900" cy="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593"/>
              <a:buFont typeface="Arial"/>
              <a:buNone/>
            </a:pPr>
            <a:r>
              <a:rPr lang="en-US" sz="593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Clean-only</a:t>
            </a:r>
            <a:endParaRPr sz="59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4176556" y="3723932"/>
            <a:ext cx="795600" cy="425400"/>
          </a:xfrm>
          <a:prstGeom prst="roundRect">
            <a:avLst>
              <a:gd name="adj" fmla="val 12903"/>
            </a:avLst>
          </a:prstGeom>
          <a:solidFill>
            <a:srgbClr val="6D8EE9"/>
          </a:solidFill>
          <a:ln w="7600" cap="flat" cmpd="sng">
            <a:solidFill>
              <a:srgbClr val="6D8E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3"/>
          <p:cNvSpPr/>
          <p:nvPr/>
        </p:nvSpPr>
        <p:spPr>
          <a:xfrm>
            <a:off x="4485169" y="3778797"/>
            <a:ext cx="205500" cy="205500"/>
          </a:xfrm>
          <a:prstGeom prst="ellipse">
            <a:avLst/>
          </a:prstGeom>
          <a:solidFill>
            <a:srgbClr val="F7FBFF"/>
          </a:solidFill>
          <a:ln w="9525" cap="flat" cmpd="sng">
            <a:solidFill>
              <a:srgbClr val="F7FB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3"/>
          <p:cNvSpPr/>
          <p:nvPr/>
        </p:nvSpPr>
        <p:spPr>
          <a:xfrm>
            <a:off x="4485169" y="3815831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E2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4258853" y="3991397"/>
            <a:ext cx="630900" cy="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3"/>
              <a:buFont typeface="Arial"/>
              <a:buNone/>
            </a:pPr>
            <a:r>
              <a:rPr lang="en-US" sz="59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Mixed-condition</a:t>
            </a:r>
            <a:endParaRPr sz="59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5033813" y="3723932"/>
            <a:ext cx="795600" cy="425400"/>
          </a:xfrm>
          <a:prstGeom prst="roundRect">
            <a:avLst>
              <a:gd name="adj" fmla="val 12903"/>
            </a:avLst>
          </a:prstGeom>
          <a:solidFill>
            <a:srgbClr val="F8FB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3"/>
          <p:cNvSpPr/>
          <p:nvPr/>
        </p:nvSpPr>
        <p:spPr>
          <a:xfrm>
            <a:off x="5342426" y="3778797"/>
            <a:ext cx="205500" cy="205500"/>
          </a:xfrm>
          <a:prstGeom prst="ellipse">
            <a:avLst/>
          </a:prstGeom>
          <a:solidFill>
            <a:srgbClr val="E4EBF8"/>
          </a:solidFill>
          <a:ln w="9525" cap="flat" cmpd="sng">
            <a:solidFill>
              <a:srgbClr val="E4EBF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3"/>
          <p:cNvSpPr/>
          <p:nvPr/>
        </p:nvSpPr>
        <p:spPr>
          <a:xfrm>
            <a:off x="5342426" y="3815831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E3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5116110" y="3991397"/>
            <a:ext cx="630900" cy="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593"/>
              <a:buFont typeface="Arial"/>
              <a:buNone/>
            </a:pPr>
            <a:r>
              <a:rPr lang="en-US" sz="593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Partial fine-tune</a:t>
            </a:r>
            <a:endParaRPr sz="59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6007657" y="1014994"/>
            <a:ext cx="2914500" cy="1831200"/>
          </a:xfrm>
          <a:prstGeom prst="roundRect">
            <a:avLst>
              <a:gd name="adj" fmla="val 2996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3"/>
          <p:cNvSpPr/>
          <p:nvPr/>
        </p:nvSpPr>
        <p:spPr>
          <a:xfrm>
            <a:off x="6144818" y="1083575"/>
            <a:ext cx="315300" cy="3153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3"/>
          <p:cNvSpPr/>
          <p:nvPr/>
        </p:nvSpPr>
        <p:spPr>
          <a:xfrm>
            <a:off x="6144818" y="1140360"/>
            <a:ext cx="3153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&lt;/&gt;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6570018" y="1165872"/>
            <a:ext cx="19203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JSON Output (from /predict)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6117386" y="1467627"/>
            <a:ext cx="2688300" cy="1261800"/>
          </a:xfrm>
          <a:prstGeom prst="roundRect">
            <a:avLst>
              <a:gd name="adj" fmla="val 4348"/>
            </a:avLst>
          </a:prstGeom>
          <a:solidFill>
            <a:srgbClr val="F8FA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3"/>
          <p:cNvSpPr/>
          <p:nvPr/>
        </p:nvSpPr>
        <p:spPr>
          <a:xfrm>
            <a:off x="6240830" y="1563640"/>
            <a:ext cx="2564855" cy="106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    "mode":  "e2",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    "label": "p07",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en-US" sz="1000" b="0" i="0" u="none" strike="noStrike" cap="none" dirty="0" err="1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display_name</a:t>
            </a: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": "participant",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    "score": 0.81,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en-US" sz="1000" b="0" i="0" u="none" strike="noStrike" cap="none" dirty="0" err="1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bbox</a:t>
            </a: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": [271, 184, 383, 296]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8606860" y="1543066"/>
            <a:ext cx="82200" cy="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⧉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6007657" y="2935254"/>
            <a:ext cx="2914500" cy="1289400"/>
          </a:xfrm>
          <a:prstGeom prst="roundRect">
            <a:avLst>
              <a:gd name="adj" fmla="val 4255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6144818" y="3051841"/>
            <a:ext cx="315300" cy="3153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3"/>
          <p:cNvSpPr/>
          <p:nvPr/>
        </p:nvSpPr>
        <p:spPr>
          <a:xfrm>
            <a:off x="6144818" y="3108626"/>
            <a:ext cx="3153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6570018" y="3134138"/>
            <a:ext cx="17832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Predicted Identity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6117386" y="3429035"/>
            <a:ext cx="2688300" cy="672000"/>
          </a:xfrm>
          <a:prstGeom prst="roundRect">
            <a:avLst>
              <a:gd name="adj" fmla="val 5102"/>
            </a:avLst>
          </a:prstGeom>
          <a:solidFill>
            <a:srgbClr val="F2FBF5"/>
          </a:solidFill>
          <a:ln w="7600" cap="flat" cmpd="sng">
            <a:solidFill>
              <a:srgbClr val="D8EC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6295695" y="3648493"/>
            <a:ext cx="219300" cy="219300"/>
          </a:xfrm>
          <a:prstGeom prst="ellipse">
            <a:avLst/>
          </a:prstGeom>
          <a:solidFill>
            <a:srgbClr val="4FC56C"/>
          </a:solidFill>
          <a:ln w="9525" cap="flat" cmpd="sng">
            <a:solidFill>
              <a:srgbClr val="4FC56C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3"/>
          <p:cNvSpPr/>
          <p:nvPr/>
        </p:nvSpPr>
        <p:spPr>
          <a:xfrm>
            <a:off x="6295695" y="3687995"/>
            <a:ext cx="21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6707179" y="3552480"/>
            <a:ext cx="8778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p07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6720895" y="3867952"/>
            <a:ext cx="7542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participant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2" name="Google Shape;532;p13"/>
          <p:cNvCxnSpPr/>
          <p:nvPr/>
        </p:nvCxnSpPr>
        <p:spPr>
          <a:xfrm>
            <a:off x="7681023" y="3538764"/>
            <a:ext cx="0" cy="425400"/>
          </a:xfrm>
          <a:prstGeom prst="straightConnector1">
            <a:avLst/>
          </a:prstGeom>
          <a:noFill/>
          <a:ln w="7600" cap="flat" cmpd="sng">
            <a:solidFill>
              <a:srgbClr val="D7E0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3" name="Google Shape;533;p13"/>
          <p:cNvSpPr/>
          <p:nvPr/>
        </p:nvSpPr>
        <p:spPr>
          <a:xfrm>
            <a:off x="7900481" y="3600487"/>
            <a:ext cx="5487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735"/>
              <a:buFont typeface="Arial"/>
              <a:buNone/>
            </a:pPr>
            <a:r>
              <a:rPr lang="en-US" sz="735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Confidence</a:t>
            </a:r>
            <a:endParaRPr sz="7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7934771" y="3813087"/>
            <a:ext cx="480300" cy="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7D59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47D59"/>
                </a:solidFill>
                <a:latin typeface="Arial"/>
                <a:ea typeface="Arial"/>
                <a:cs typeface="Arial"/>
                <a:sym typeface="Arial"/>
              </a:rPr>
              <a:t>0.81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240032" y="4306868"/>
            <a:ext cx="2777400" cy="452700"/>
          </a:xfrm>
          <a:prstGeom prst="roundRect">
            <a:avLst>
              <a:gd name="adj" fmla="val 12121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3"/>
          <p:cNvSpPr/>
          <p:nvPr/>
        </p:nvSpPr>
        <p:spPr>
          <a:xfrm>
            <a:off x="356619" y="4375449"/>
            <a:ext cx="288000" cy="2880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3"/>
          <p:cNvSpPr/>
          <p:nvPr/>
        </p:nvSpPr>
        <p:spPr>
          <a:xfrm>
            <a:off x="356619" y="4427296"/>
            <a:ext cx="288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809251" y="4375449"/>
            <a:ext cx="870850" cy="123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88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Speed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809251" y="4574333"/>
            <a:ext cx="1577100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9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~400 </a:t>
            </a:r>
            <a:r>
              <a:rPr lang="en-US" sz="900" b="0" i="0" u="none" strike="noStrike" cap="none" dirty="0" err="1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r>
              <a:rPr lang="en-US" sz="9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 per update in E1/E2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3120415" y="4306868"/>
            <a:ext cx="2846100" cy="452700"/>
          </a:xfrm>
          <a:prstGeom prst="roundRect">
            <a:avLst>
              <a:gd name="adj" fmla="val 12121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3"/>
          <p:cNvSpPr/>
          <p:nvPr/>
        </p:nvSpPr>
        <p:spPr>
          <a:xfrm>
            <a:off x="3237002" y="4375449"/>
            <a:ext cx="288000" cy="2880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3"/>
          <p:cNvSpPr/>
          <p:nvPr/>
        </p:nvSpPr>
        <p:spPr>
          <a:xfrm>
            <a:off x="3237002" y="4427296"/>
            <a:ext cx="288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☷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3634770" y="4402881"/>
            <a:ext cx="1741812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73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Closed-set behavior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3634770" y="4622277"/>
            <a:ext cx="2206090" cy="4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9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Always returns one of 30 enrolled identities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6069380" y="4306868"/>
            <a:ext cx="2846100" cy="452700"/>
          </a:xfrm>
          <a:prstGeom prst="roundRect">
            <a:avLst>
              <a:gd name="adj" fmla="val 12121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6185967" y="4375449"/>
            <a:ext cx="288000" cy="2880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6185967" y="4427296"/>
            <a:ext cx="288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▭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6583733" y="4362051"/>
            <a:ext cx="1407327" cy="13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73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6514994" y="4474644"/>
            <a:ext cx="2388973" cy="298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9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Phone browser + laptop server over local Wi‑Fi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13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1" name="Google Shape;551;p13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00">
                <a:solidFill>
                  <a:srgbClr val="4A5782"/>
                </a:solidFill>
              </a:rPr>
              <a:t>08 Sep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00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4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583" name="Google Shape;583;p14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4" name="Google Shape;584;p14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12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TextBox 585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E1 — Clean-Only Training</a:t>
            </a:r>
          </a:p>
        </p:txBody>
      </p:sp>
      <p:sp>
        <p:nvSpPr>
          <p:cNvPr id="587" name="TextBox 586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Train the head on unoccluded faces only, then test on everything.</a:t>
            </a:r>
          </a:p>
        </p:txBody>
      </p:sp>
      <p:sp>
        <p:nvSpPr>
          <p:cNvPr id="588" name="Rounded Rectangle 587"/>
          <p:cNvSpPr/>
          <p:nvPr/>
        </p:nvSpPr>
        <p:spPr>
          <a:xfrm>
            <a:off x="49377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9" name="TextBox 588"/>
          <p:cNvSpPr txBox="1"/>
          <p:nvPr/>
        </p:nvSpPr>
        <p:spPr>
          <a:xfrm>
            <a:off x="53949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Clean 'none' images</a:t>
            </a:r>
          </a:p>
        </p:txBody>
      </p:sp>
      <p:sp>
        <p:nvSpPr>
          <p:cNvPr id="590" name="Isosceles Triangle 589"/>
          <p:cNvSpPr/>
          <p:nvPr/>
        </p:nvSpPr>
        <p:spPr>
          <a:xfrm rot="5400000">
            <a:off x="201168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1" name="Rounded Rectangle 590"/>
          <p:cNvSpPr/>
          <p:nvPr/>
        </p:nvSpPr>
        <p:spPr>
          <a:xfrm>
            <a:off x="216255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737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2" name="TextBox 591"/>
          <p:cNvSpPr txBox="1"/>
          <p:nvPr/>
        </p:nvSpPr>
        <p:spPr>
          <a:xfrm>
            <a:off x="220827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ArcFace iResNet50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FROZEN</a:t>
            </a:r>
          </a:p>
        </p:txBody>
      </p:sp>
      <p:sp>
        <p:nvSpPr>
          <p:cNvPr id="593" name="Isosceles Triangle 592"/>
          <p:cNvSpPr/>
          <p:nvPr/>
        </p:nvSpPr>
        <p:spPr>
          <a:xfrm rot="5400000">
            <a:off x="368046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4" name="Rounded Rectangle 593"/>
          <p:cNvSpPr/>
          <p:nvPr/>
        </p:nvSpPr>
        <p:spPr>
          <a:xfrm>
            <a:off x="383133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5" name="TextBox 594"/>
          <p:cNvSpPr txBox="1"/>
          <p:nvPr/>
        </p:nvSpPr>
        <p:spPr>
          <a:xfrm>
            <a:off x="387705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512-D embedding</a:t>
            </a:r>
          </a:p>
        </p:txBody>
      </p:sp>
      <p:sp>
        <p:nvSpPr>
          <p:cNvPr id="596" name="Isosceles Triangle 595"/>
          <p:cNvSpPr/>
          <p:nvPr/>
        </p:nvSpPr>
        <p:spPr>
          <a:xfrm rot="5400000">
            <a:off x="534924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7" name="Rounded Rectangle 596"/>
          <p:cNvSpPr/>
          <p:nvPr/>
        </p:nvSpPr>
        <p:spPr>
          <a:xfrm>
            <a:off x="550011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8" name="TextBox 597"/>
          <p:cNvSpPr txBox="1"/>
          <p:nvPr/>
        </p:nvSpPr>
        <p:spPr>
          <a:xfrm>
            <a:off x="554583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30-way head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TRAINED</a:t>
            </a:r>
          </a:p>
        </p:txBody>
      </p:sp>
      <p:sp>
        <p:nvSpPr>
          <p:cNvPr id="599" name="Isosceles Triangle 598"/>
          <p:cNvSpPr/>
          <p:nvPr/>
        </p:nvSpPr>
        <p:spPr>
          <a:xfrm rot="5400000">
            <a:off x="701802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0" name="Rounded Rectangle 599"/>
          <p:cNvSpPr/>
          <p:nvPr/>
        </p:nvSpPr>
        <p:spPr>
          <a:xfrm>
            <a:off x="716889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1" name="TextBox 600"/>
          <p:cNvSpPr txBox="1"/>
          <p:nvPr/>
        </p:nvSpPr>
        <p:spPr>
          <a:xfrm>
            <a:off x="721461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7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94.29%</a:t>
            </a:r>
          </a:p>
        </p:txBody>
      </p:sp>
      <p:pic>
        <p:nvPicPr>
          <p:cNvPr id="602" name="Picture 601" descr="e1_pero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029968"/>
            <a:ext cx="4956048" cy="2038375"/>
          </a:xfrm>
          <a:prstGeom prst="rect">
            <a:avLst/>
          </a:prstGeom>
        </p:spPr>
      </p:pic>
      <p:sp>
        <p:nvSpPr>
          <p:cNvPr id="603" name="Rounded Rectangle 602"/>
          <p:cNvSpPr/>
          <p:nvPr/>
        </p:nvSpPr>
        <p:spPr>
          <a:xfrm>
            <a:off x="5632704" y="2029968"/>
            <a:ext cx="3017520" cy="987552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4" name="TextBox 603"/>
          <p:cNvSpPr txBox="1"/>
          <p:nvPr/>
        </p:nvSpPr>
        <p:spPr>
          <a:xfrm>
            <a:off x="5815584" y="2029968"/>
            <a:ext cx="26517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Top-1  94.29%</a:t>
            </a:r>
          </a:p>
          <a:p>
            <a:pPr algn="l"/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Macro-F1 93.89%  ·  57 errors</a:t>
            </a:r>
          </a:p>
        </p:txBody>
      </p:sp>
      <p:sp>
        <p:nvSpPr>
          <p:cNvPr id="605" name="Rounded Rectangle 604"/>
          <p:cNvSpPr/>
          <p:nvPr/>
        </p:nvSpPr>
        <p:spPr>
          <a:xfrm>
            <a:off x="5632704" y="3127248"/>
            <a:ext cx="3017520" cy="1042415"/>
          </a:xfrm>
          <a:prstGeom prst="roundRect">
            <a:avLst>
              <a:gd name="adj" fmla="val 4700"/>
            </a:avLst>
          </a:prstGeom>
          <a:solidFill>
            <a:srgbClr val="FFF3E8"/>
          </a:solidFill>
          <a:ln w="73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6" name="TextBox 605"/>
          <p:cNvSpPr txBox="1"/>
          <p:nvPr/>
        </p:nvSpPr>
        <p:spPr>
          <a:xfrm>
            <a:off x="5815584" y="3127248"/>
            <a:ext cx="2651760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Mask + sunglasses</a:t>
            </a:r>
          </a:p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D32F2F"/>
                </a:solidFill>
                <a:latin typeface="Raleway"/>
                <a:ea typeface="Raleway"/>
                <a:cs typeface="Raleway"/>
                <a:sym typeface="Raleway"/>
              </a:rPr>
              <a:t>71.4%</a:t>
            </a:r>
          </a:p>
          <a:p>
            <a:pPr algn="l"/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38 of E1's 57 errors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493776" y="4206240"/>
            <a:ext cx="4956048" cy="384048"/>
          </a:xfrm>
          <a:prstGeom prst="roundRect">
            <a:avLst>
              <a:gd name="adj" fmla="val 1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8" name="TextBox 607"/>
          <p:cNvSpPr txBox="1"/>
          <p:nvPr/>
        </p:nvSpPr>
        <p:spPr>
          <a:xfrm>
            <a:off x="493776" y="4206240"/>
            <a:ext cx="4956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Single occlusions are already solved. Only the compound one breaks.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5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654" name="Google Shape;654;p15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5" name="Google Shape;655;p15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5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13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TextBox 656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E2 — Occlusion-Diverse Training</a:t>
            </a:r>
          </a:p>
        </p:txBody>
      </p:sp>
      <p:sp>
        <p:nvSpPr>
          <p:cNvPr id="658" name="TextBox 657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Identical model, hyperparameters and seed. Only the training data changed.</a:t>
            </a:r>
          </a:p>
        </p:txBody>
      </p:sp>
      <p:sp>
        <p:nvSpPr>
          <p:cNvPr id="659" name="Rounded Rectangle 658"/>
          <p:cNvSpPr/>
          <p:nvPr/>
        </p:nvSpPr>
        <p:spPr>
          <a:xfrm>
            <a:off x="49377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0" name="TextBox 659"/>
          <p:cNvSpPr txBox="1"/>
          <p:nvPr/>
        </p:nvSpPr>
        <p:spPr>
          <a:xfrm>
            <a:off x="53949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All 8 conditions</a:t>
            </a:r>
          </a:p>
        </p:txBody>
      </p:sp>
      <p:sp>
        <p:nvSpPr>
          <p:cNvPr id="661" name="Isosceles Triangle 660"/>
          <p:cNvSpPr/>
          <p:nvPr/>
        </p:nvSpPr>
        <p:spPr>
          <a:xfrm rot="5400000">
            <a:off x="201168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2" name="Rounded Rectangle 661"/>
          <p:cNvSpPr/>
          <p:nvPr/>
        </p:nvSpPr>
        <p:spPr>
          <a:xfrm>
            <a:off x="216255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737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3" name="TextBox 662"/>
          <p:cNvSpPr txBox="1"/>
          <p:nvPr/>
        </p:nvSpPr>
        <p:spPr>
          <a:xfrm>
            <a:off x="220827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ArcFace iResNet50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FROZEN</a:t>
            </a:r>
          </a:p>
        </p:txBody>
      </p:sp>
      <p:sp>
        <p:nvSpPr>
          <p:cNvPr id="664" name="Isosceles Triangle 663"/>
          <p:cNvSpPr/>
          <p:nvPr/>
        </p:nvSpPr>
        <p:spPr>
          <a:xfrm rot="5400000">
            <a:off x="368046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5" name="Rounded Rectangle 664"/>
          <p:cNvSpPr/>
          <p:nvPr/>
        </p:nvSpPr>
        <p:spPr>
          <a:xfrm>
            <a:off x="383133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6" name="TextBox 665"/>
          <p:cNvSpPr txBox="1"/>
          <p:nvPr/>
        </p:nvSpPr>
        <p:spPr>
          <a:xfrm>
            <a:off x="387705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512-D embedding</a:t>
            </a:r>
          </a:p>
        </p:txBody>
      </p:sp>
      <p:sp>
        <p:nvSpPr>
          <p:cNvPr id="667" name="Isosceles Triangle 666"/>
          <p:cNvSpPr/>
          <p:nvPr/>
        </p:nvSpPr>
        <p:spPr>
          <a:xfrm rot="5400000">
            <a:off x="534924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8" name="Rounded Rectangle 667"/>
          <p:cNvSpPr/>
          <p:nvPr/>
        </p:nvSpPr>
        <p:spPr>
          <a:xfrm>
            <a:off x="550011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9" name="TextBox 668"/>
          <p:cNvSpPr txBox="1"/>
          <p:nvPr/>
        </p:nvSpPr>
        <p:spPr>
          <a:xfrm>
            <a:off x="554583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30-way head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TRAINED</a:t>
            </a:r>
          </a:p>
        </p:txBody>
      </p:sp>
      <p:sp>
        <p:nvSpPr>
          <p:cNvPr id="670" name="Isosceles Triangle 669"/>
          <p:cNvSpPr/>
          <p:nvPr/>
        </p:nvSpPr>
        <p:spPr>
          <a:xfrm rot="5400000">
            <a:off x="701802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1" name="Rounded Rectangle 670"/>
          <p:cNvSpPr/>
          <p:nvPr/>
        </p:nvSpPr>
        <p:spPr>
          <a:xfrm>
            <a:off x="716889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2" name="TextBox 671"/>
          <p:cNvSpPr txBox="1"/>
          <p:nvPr/>
        </p:nvSpPr>
        <p:spPr>
          <a:xfrm>
            <a:off x="721461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7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99.90%</a:t>
            </a:r>
          </a:p>
        </p:txBody>
      </p:sp>
      <p:sp>
        <p:nvSpPr>
          <p:cNvPr id="673" name="Rounded Rectangle 672"/>
          <p:cNvSpPr/>
          <p:nvPr/>
        </p:nvSpPr>
        <p:spPr>
          <a:xfrm>
            <a:off x="493776" y="2048256"/>
            <a:ext cx="3977639" cy="197510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4" name="TextBox 673"/>
          <p:cNvSpPr txBox="1"/>
          <p:nvPr/>
        </p:nvSpPr>
        <p:spPr>
          <a:xfrm>
            <a:off x="676656" y="215798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What changed</a:t>
            </a:r>
          </a:p>
        </p:txBody>
      </p:sp>
      <p:sp>
        <p:nvSpPr>
          <p:cNvPr id="675" name="Rounded Rectangle 674"/>
          <p:cNvSpPr/>
          <p:nvPr/>
        </p:nvSpPr>
        <p:spPr>
          <a:xfrm>
            <a:off x="676656" y="2505456"/>
            <a:ext cx="3611880" cy="292608"/>
          </a:xfrm>
          <a:prstGeom prst="roundRect">
            <a:avLst>
              <a:gd name="adj" fmla="val 8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6" name="TextBox 675"/>
          <p:cNvSpPr txBox="1"/>
          <p:nvPr/>
        </p:nvSpPr>
        <p:spPr>
          <a:xfrm>
            <a:off x="740664" y="2505456"/>
            <a:ext cx="11722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677" name="TextBox 676"/>
          <p:cNvSpPr txBox="1"/>
          <p:nvPr/>
        </p:nvSpPr>
        <p:spPr>
          <a:xfrm>
            <a:off x="2040940" y="2505456"/>
            <a:ext cx="9555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E1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3124504" y="2505456"/>
            <a:ext cx="110002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E2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740664" y="2798064"/>
            <a:ext cx="11722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Backbone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2040940" y="2798064"/>
            <a:ext cx="9555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frozen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3124504" y="2798064"/>
            <a:ext cx="110002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frozen</a:t>
            </a:r>
          </a:p>
        </p:txBody>
      </p:sp>
      <p:sp>
        <p:nvSpPr>
          <p:cNvPr id="682" name="Rounded Rectangle 681"/>
          <p:cNvSpPr/>
          <p:nvPr/>
        </p:nvSpPr>
        <p:spPr>
          <a:xfrm>
            <a:off x="676656" y="3090672"/>
            <a:ext cx="3611880" cy="292608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3" name="TextBox 682"/>
          <p:cNvSpPr txBox="1"/>
          <p:nvPr/>
        </p:nvSpPr>
        <p:spPr>
          <a:xfrm>
            <a:off x="740664" y="3090672"/>
            <a:ext cx="11722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Head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2040940" y="3090672"/>
            <a:ext cx="9555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512→30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3124504" y="3090672"/>
            <a:ext cx="110002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512→30</a:t>
            </a:r>
          </a:p>
        </p:txBody>
      </p:sp>
      <p:sp>
        <p:nvSpPr>
          <p:cNvPr id="686" name="TextBox 685"/>
          <p:cNvSpPr txBox="1"/>
          <p:nvPr/>
        </p:nvSpPr>
        <p:spPr>
          <a:xfrm>
            <a:off x="740664" y="3383279"/>
            <a:ext cx="11722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Seed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2040940" y="3383279"/>
            <a:ext cx="9555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42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3124504" y="3383279"/>
            <a:ext cx="110002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42</a:t>
            </a:r>
          </a:p>
        </p:txBody>
      </p:sp>
      <p:sp>
        <p:nvSpPr>
          <p:cNvPr id="689" name="Rounded Rectangle 688"/>
          <p:cNvSpPr/>
          <p:nvPr/>
        </p:nvSpPr>
        <p:spPr>
          <a:xfrm>
            <a:off x="676656" y="3675887"/>
            <a:ext cx="3611880" cy="292608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0" name="TextBox 689"/>
          <p:cNvSpPr txBox="1"/>
          <p:nvPr/>
        </p:nvSpPr>
        <p:spPr>
          <a:xfrm>
            <a:off x="740664" y="3675887"/>
            <a:ext cx="11722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Training data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2040940" y="3675887"/>
            <a:ext cx="9555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32F2F"/>
                </a:solidFill>
                <a:latin typeface="Roboto"/>
                <a:ea typeface="Roboto"/>
                <a:cs typeface="Roboto"/>
                <a:sym typeface="Roboto"/>
              </a:rPr>
              <a:t>'none'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3124504" y="3675887"/>
            <a:ext cx="110002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all 8</a:t>
            </a:r>
          </a:p>
        </p:txBody>
      </p:sp>
      <p:sp>
        <p:nvSpPr>
          <p:cNvPr id="693" name="Rounded Rectangle 692"/>
          <p:cNvSpPr/>
          <p:nvPr/>
        </p:nvSpPr>
        <p:spPr>
          <a:xfrm>
            <a:off x="4672584" y="2048256"/>
            <a:ext cx="3977639" cy="1975104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4" name="TextBox 693"/>
          <p:cNvSpPr txBox="1"/>
          <p:nvPr/>
        </p:nvSpPr>
        <p:spPr>
          <a:xfrm>
            <a:off x="4855464" y="215798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Where the gain landed</a:t>
            </a:r>
          </a:p>
        </p:txBody>
      </p:sp>
      <p:sp>
        <p:nvSpPr>
          <p:cNvPr id="695" name="Rounded Rectangle 694"/>
          <p:cNvSpPr/>
          <p:nvPr/>
        </p:nvSpPr>
        <p:spPr>
          <a:xfrm>
            <a:off x="4855464" y="2505456"/>
            <a:ext cx="3611880" cy="292608"/>
          </a:xfrm>
          <a:prstGeom prst="roundRect">
            <a:avLst>
              <a:gd name="adj" fmla="val 8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6" name="TextBox 695"/>
          <p:cNvSpPr txBox="1"/>
          <p:nvPr/>
        </p:nvSpPr>
        <p:spPr>
          <a:xfrm>
            <a:off x="4919472" y="2505456"/>
            <a:ext cx="15334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Hardest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6580936" y="2505456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E1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7556144" y="2505456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E2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4919472" y="2798064"/>
            <a:ext cx="15334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Scarf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6580936" y="2798064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97.6%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7556144" y="2798064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702" name="Rounded Rectangle 701"/>
          <p:cNvSpPr/>
          <p:nvPr/>
        </p:nvSpPr>
        <p:spPr>
          <a:xfrm>
            <a:off x="4855464" y="3090672"/>
            <a:ext cx="3611880" cy="29260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3" name="TextBox 702"/>
          <p:cNvSpPr txBox="1"/>
          <p:nvPr/>
        </p:nvSpPr>
        <p:spPr>
          <a:xfrm>
            <a:off x="4919472" y="3090672"/>
            <a:ext cx="15334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Mask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6580936" y="3090672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96.3%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7556144" y="3090672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99.4%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4919472" y="3383279"/>
            <a:ext cx="15334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Mask + clear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6580936" y="3383279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90.8%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7556144" y="3383279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709" name="Rounded Rectangle 708"/>
          <p:cNvSpPr/>
          <p:nvPr/>
        </p:nvSpPr>
        <p:spPr>
          <a:xfrm>
            <a:off x="4855464" y="3675887"/>
            <a:ext cx="3611880" cy="29260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0" name="TextBox 709"/>
          <p:cNvSpPr txBox="1"/>
          <p:nvPr/>
        </p:nvSpPr>
        <p:spPr>
          <a:xfrm>
            <a:off x="4919472" y="3675887"/>
            <a:ext cx="15334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Mask + sun</a:t>
            </a:r>
          </a:p>
        </p:txBody>
      </p:sp>
      <p:sp>
        <p:nvSpPr>
          <p:cNvPr id="711" name="TextBox 710"/>
          <p:cNvSpPr txBox="1"/>
          <p:nvPr/>
        </p:nvSpPr>
        <p:spPr>
          <a:xfrm>
            <a:off x="6580936" y="3675887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32F2F"/>
                </a:solidFill>
                <a:latin typeface="Roboto"/>
                <a:ea typeface="Roboto"/>
                <a:cs typeface="Roboto"/>
                <a:sym typeface="Roboto"/>
              </a:rPr>
              <a:t>71.4%</a:t>
            </a:r>
          </a:p>
        </p:txBody>
      </p:sp>
      <p:sp>
        <p:nvSpPr>
          <p:cNvPr id="712" name="TextBox 711"/>
          <p:cNvSpPr txBox="1"/>
          <p:nvPr/>
        </p:nvSpPr>
        <p:spPr>
          <a:xfrm>
            <a:off x="7556144" y="3675887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08E80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713" name="Rounded Rectangle 712"/>
          <p:cNvSpPr/>
          <p:nvPr/>
        </p:nvSpPr>
        <p:spPr>
          <a:xfrm>
            <a:off x="493776" y="4151376"/>
            <a:ext cx="8156448" cy="438912"/>
          </a:xfrm>
          <a:prstGeom prst="roundRect">
            <a:avLst>
              <a:gd name="adj" fmla="val 1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4" name="TextBox 713"/>
          <p:cNvSpPr txBox="1"/>
          <p:nvPr/>
        </p:nvSpPr>
        <p:spPr>
          <a:xfrm>
            <a:off x="640080" y="4151376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Errors:  57 → 1.  </a:t>
            </a: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Every other variable held fixed, so the +5.61 points is attributable to the data alone.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6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690" name="Google Shape;690;p16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1" name="Google Shape;691;p16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6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14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TextBox 692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E3 — Partial Backbone Fine-Tuning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Does adapting the backbone weights themselves help further?</a:t>
            </a:r>
          </a:p>
        </p:txBody>
      </p:sp>
      <p:sp>
        <p:nvSpPr>
          <p:cNvPr id="695" name="Rounded Rectangle 694"/>
          <p:cNvSpPr/>
          <p:nvPr/>
        </p:nvSpPr>
        <p:spPr>
          <a:xfrm>
            <a:off x="49377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6" name="TextBox 695"/>
          <p:cNvSpPr txBox="1"/>
          <p:nvPr/>
        </p:nvSpPr>
        <p:spPr>
          <a:xfrm>
            <a:off x="53949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All 8 conditions</a:t>
            </a:r>
          </a:p>
        </p:txBody>
      </p:sp>
      <p:sp>
        <p:nvSpPr>
          <p:cNvPr id="697" name="Isosceles Triangle 696"/>
          <p:cNvSpPr/>
          <p:nvPr/>
        </p:nvSpPr>
        <p:spPr>
          <a:xfrm rot="5400000">
            <a:off x="201168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8" name="Rounded Rectangle 697"/>
          <p:cNvSpPr/>
          <p:nvPr/>
        </p:nvSpPr>
        <p:spPr>
          <a:xfrm>
            <a:off x="216255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737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9" name="TextBox 698"/>
          <p:cNvSpPr txBox="1"/>
          <p:nvPr/>
        </p:nvSpPr>
        <p:spPr>
          <a:xfrm>
            <a:off x="220827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iResNet50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first 85% frozen</a:t>
            </a:r>
          </a:p>
        </p:txBody>
      </p:sp>
      <p:sp>
        <p:nvSpPr>
          <p:cNvPr id="700" name="Isosceles Triangle 699"/>
          <p:cNvSpPr/>
          <p:nvPr/>
        </p:nvSpPr>
        <p:spPr>
          <a:xfrm rot="5400000">
            <a:off x="368046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1" name="Rounded Rectangle 700"/>
          <p:cNvSpPr/>
          <p:nvPr/>
        </p:nvSpPr>
        <p:spPr>
          <a:xfrm>
            <a:off x="383133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2" name="TextBox 701"/>
          <p:cNvSpPr txBox="1"/>
          <p:nvPr/>
        </p:nvSpPr>
        <p:spPr>
          <a:xfrm>
            <a:off x="387705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last 15%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TRAINABLE</a:t>
            </a:r>
          </a:p>
        </p:txBody>
      </p:sp>
      <p:sp>
        <p:nvSpPr>
          <p:cNvPr id="703" name="Isosceles Triangle 702"/>
          <p:cNvSpPr/>
          <p:nvPr/>
        </p:nvSpPr>
        <p:spPr>
          <a:xfrm rot="5400000">
            <a:off x="534924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4" name="Rounded Rectangle 703"/>
          <p:cNvSpPr/>
          <p:nvPr/>
        </p:nvSpPr>
        <p:spPr>
          <a:xfrm>
            <a:off x="550011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5" name="TextBox 704"/>
          <p:cNvSpPr txBox="1"/>
          <p:nvPr/>
        </p:nvSpPr>
        <p:spPr>
          <a:xfrm>
            <a:off x="554583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30-way head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TRAINED</a:t>
            </a:r>
          </a:p>
        </p:txBody>
      </p:sp>
      <p:sp>
        <p:nvSpPr>
          <p:cNvPr id="706" name="Isosceles Triangle 705"/>
          <p:cNvSpPr/>
          <p:nvPr/>
        </p:nvSpPr>
        <p:spPr>
          <a:xfrm rot="5400000">
            <a:off x="701802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7" name="Rounded Rectangle 706"/>
          <p:cNvSpPr/>
          <p:nvPr/>
        </p:nvSpPr>
        <p:spPr>
          <a:xfrm>
            <a:off x="716889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8" name="TextBox 707"/>
          <p:cNvSpPr txBox="1"/>
          <p:nvPr/>
        </p:nvSpPr>
        <p:spPr>
          <a:xfrm>
            <a:off x="721461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7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100.00%</a:t>
            </a:r>
          </a:p>
        </p:txBody>
      </p:sp>
      <p:sp>
        <p:nvSpPr>
          <p:cNvPr id="709" name="Rounded Rectangle 708"/>
          <p:cNvSpPr/>
          <p:nvPr/>
        </p:nvSpPr>
        <p:spPr>
          <a:xfrm>
            <a:off x="493776" y="2048256"/>
            <a:ext cx="3977639" cy="1737360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0" name="TextBox 709"/>
          <p:cNvSpPr txBox="1"/>
          <p:nvPr/>
        </p:nvSpPr>
        <p:spPr>
          <a:xfrm>
            <a:off x="676656" y="215798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Engineering required</a:t>
            </a:r>
          </a:p>
        </p:txBody>
      </p:sp>
      <p:sp>
        <p:nvSpPr>
          <p:cNvPr id="711" name="TextBox 710"/>
          <p:cNvSpPr txBox="1"/>
          <p:nvPr/>
        </p:nvSpPr>
        <p:spPr>
          <a:xfrm>
            <a:off x="676656" y="2523744"/>
            <a:ext cx="3611880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4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ONNX → PyTorch via onnx2torch</a:t>
            </a:r>
          </a:p>
          <a:p>
            <a:pPr marL="215000" indent="-215000" algn="l">
              <a:lnSpc>
                <a:spcPct val="124000"/>
              </a:lnSpc>
              <a:spcAft>
                <a:spcPts val="500"/>
              </a:spcAft>
              <a:buClr>
                <a:srgbClr val="203C80"/>
              </a:buClr>
              <a:buSzPts val="1050"/>
              <a:buFont typeface="Roboto"/>
              <a:buChar char="•"/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Verified identical: </a:t>
            </a: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cos 1.000000</a:t>
            </a:r>
          </a:p>
          <a:p>
            <a:pPr marL="215000" indent="-215000" algn="l">
              <a:lnSpc>
                <a:spcPct val="124000"/>
              </a:lnSpc>
              <a:buClr>
                <a:srgbClr val="3C3939"/>
              </a:buClr>
              <a:buSzPts val="1050"/>
              <a:buFont typeface="Roboto"/>
              <a:buChar char="•"/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BatchNorm pinned to eval() throughout</a:t>
            </a:r>
          </a:p>
        </p:txBody>
      </p:sp>
      <p:sp>
        <p:nvSpPr>
          <p:cNvPr id="712" name="Rounded Rectangle 711"/>
          <p:cNvSpPr/>
          <p:nvPr/>
        </p:nvSpPr>
        <p:spPr>
          <a:xfrm>
            <a:off x="4672584" y="2048256"/>
            <a:ext cx="3977639" cy="804672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3" name="TextBox 712"/>
          <p:cNvSpPr txBox="1"/>
          <p:nvPr/>
        </p:nvSpPr>
        <p:spPr>
          <a:xfrm>
            <a:off x="4855464" y="2048256"/>
            <a:ext cx="3611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Backbone  1×10⁻⁵</a:t>
            </a: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   nudge, never overwrite</a:t>
            </a:r>
          </a:p>
          <a:p>
            <a:pPr algn="l"/>
            <a:r>
              <a:rPr sz="11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New head   1×10⁻³</a:t>
            </a: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   starts from random</a:t>
            </a:r>
          </a:p>
        </p:txBody>
      </p:sp>
      <p:sp>
        <p:nvSpPr>
          <p:cNvPr id="714" name="Rounded Rectangle 713"/>
          <p:cNvSpPr/>
          <p:nvPr/>
        </p:nvSpPr>
        <p:spPr>
          <a:xfrm>
            <a:off x="4672584" y="2980944"/>
            <a:ext cx="3977639" cy="804672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5" name="TextBox 714"/>
          <p:cNvSpPr txBox="1"/>
          <p:nvPr/>
        </p:nvSpPr>
        <p:spPr>
          <a:xfrm>
            <a:off x="4855464" y="2980944"/>
            <a:ext cx="3611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Top-1  100.00%</a:t>
            </a:r>
          </a:p>
          <a:p>
            <a:pPr algn="l"/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Zero errors  ·  95% CI 99.6 – 100.0</a:t>
            </a:r>
          </a:p>
        </p:txBody>
      </p:sp>
      <p:sp>
        <p:nvSpPr>
          <p:cNvPr id="716" name="Rounded Rectangle 715"/>
          <p:cNvSpPr/>
          <p:nvPr/>
        </p:nvSpPr>
        <p:spPr>
          <a:xfrm>
            <a:off x="493776" y="3931920"/>
            <a:ext cx="8156448" cy="64008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73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7" name="TextBox 716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The honest reading:  </a:t>
            </a: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E3 beats E2 by one image out of 998. That sits inside E2's own confidence interval — on this dataset the two are statistically indistinguishable.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7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735" name="Google Shape;735;p17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6" name="Google Shape;736;p17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7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15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TextBox 737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E1 vs E2 vs E3</a:t>
            </a:r>
          </a:p>
        </p:txBody>
      </p:sp>
      <p:sp>
        <p:nvSpPr>
          <p:cNvPr id="739" name="TextBox 738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Each experiment isolates one variable. Blue marks the row that changed.</a:t>
            </a:r>
          </a:p>
        </p:txBody>
      </p:sp>
      <p:sp>
        <p:nvSpPr>
          <p:cNvPr id="740" name="Rounded Rectangle 739"/>
          <p:cNvSpPr/>
          <p:nvPr/>
        </p:nvSpPr>
        <p:spPr>
          <a:xfrm>
            <a:off x="493776" y="1133856"/>
            <a:ext cx="2615184" cy="530352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1" name="TextBox 740"/>
          <p:cNvSpPr txBox="1"/>
          <p:nvPr/>
        </p:nvSpPr>
        <p:spPr>
          <a:xfrm>
            <a:off x="585216" y="1133856"/>
            <a:ext cx="243230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E1   </a:t>
            </a:r>
            <a:r>
              <a:rPr sz="10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Clean-only</a:t>
            </a:r>
          </a:p>
        </p:txBody>
      </p:sp>
      <p:sp>
        <p:nvSpPr>
          <p:cNvPr id="742" name="Rounded Rectangle 741"/>
          <p:cNvSpPr/>
          <p:nvPr/>
        </p:nvSpPr>
        <p:spPr>
          <a:xfrm>
            <a:off x="493776" y="1792224"/>
            <a:ext cx="2615184" cy="74980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3" name="TextBox 742"/>
          <p:cNvSpPr txBox="1"/>
          <p:nvPr/>
        </p:nvSpPr>
        <p:spPr>
          <a:xfrm>
            <a:off x="603504" y="1792224"/>
            <a:ext cx="239572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TRAINING DATA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'none' only</a:t>
            </a:r>
          </a:p>
        </p:txBody>
      </p:sp>
      <p:sp>
        <p:nvSpPr>
          <p:cNvPr id="744" name="Rounded Rectangle 743"/>
          <p:cNvSpPr/>
          <p:nvPr/>
        </p:nvSpPr>
        <p:spPr>
          <a:xfrm>
            <a:off x="493776" y="2633472"/>
            <a:ext cx="2615184" cy="74980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5" name="TextBox 744"/>
          <p:cNvSpPr txBox="1"/>
          <p:nvPr/>
        </p:nvSpPr>
        <p:spPr>
          <a:xfrm>
            <a:off x="603504" y="2633472"/>
            <a:ext cx="239572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BACKBONE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frozen</a:t>
            </a:r>
          </a:p>
        </p:txBody>
      </p:sp>
      <p:sp>
        <p:nvSpPr>
          <p:cNvPr id="746" name="Rounded Rectangle 745"/>
          <p:cNvSpPr/>
          <p:nvPr/>
        </p:nvSpPr>
        <p:spPr>
          <a:xfrm>
            <a:off x="493776" y="3474720"/>
            <a:ext cx="2615184" cy="694944"/>
          </a:xfrm>
          <a:prstGeom prst="roundRect">
            <a:avLst>
              <a:gd name="adj" fmla="val 47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7" name="TextBox 746"/>
          <p:cNvSpPr txBox="1"/>
          <p:nvPr/>
        </p:nvSpPr>
        <p:spPr>
          <a:xfrm>
            <a:off x="493776" y="3474720"/>
            <a:ext cx="261518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94.29%</a:t>
            </a:r>
          </a:p>
        </p:txBody>
      </p:sp>
      <p:sp>
        <p:nvSpPr>
          <p:cNvPr id="748" name="Rounded Rectangle 747"/>
          <p:cNvSpPr/>
          <p:nvPr/>
        </p:nvSpPr>
        <p:spPr>
          <a:xfrm>
            <a:off x="3264408" y="1133856"/>
            <a:ext cx="2615184" cy="530352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9" name="TextBox 748"/>
          <p:cNvSpPr txBox="1"/>
          <p:nvPr/>
        </p:nvSpPr>
        <p:spPr>
          <a:xfrm>
            <a:off x="3355848" y="1133856"/>
            <a:ext cx="243230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E2   </a:t>
            </a:r>
            <a:r>
              <a:rPr sz="10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All conditions</a:t>
            </a:r>
          </a:p>
        </p:txBody>
      </p:sp>
      <p:sp>
        <p:nvSpPr>
          <p:cNvPr id="750" name="Rounded Rectangle 749"/>
          <p:cNvSpPr/>
          <p:nvPr/>
        </p:nvSpPr>
        <p:spPr>
          <a:xfrm>
            <a:off x="3264408" y="1792224"/>
            <a:ext cx="2615184" cy="749808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1" name="TextBox 750"/>
          <p:cNvSpPr txBox="1"/>
          <p:nvPr/>
        </p:nvSpPr>
        <p:spPr>
          <a:xfrm>
            <a:off x="3374136" y="1792224"/>
            <a:ext cx="239572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TRAINING DATA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all 8 conditions</a:t>
            </a:r>
          </a:p>
        </p:txBody>
      </p:sp>
      <p:sp>
        <p:nvSpPr>
          <p:cNvPr id="752" name="Rounded Rectangle 751"/>
          <p:cNvSpPr/>
          <p:nvPr/>
        </p:nvSpPr>
        <p:spPr>
          <a:xfrm>
            <a:off x="3264408" y="2633472"/>
            <a:ext cx="2615184" cy="74980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3" name="TextBox 752"/>
          <p:cNvSpPr txBox="1"/>
          <p:nvPr/>
        </p:nvSpPr>
        <p:spPr>
          <a:xfrm>
            <a:off x="3374136" y="2633472"/>
            <a:ext cx="239572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BACKBONE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frozen</a:t>
            </a:r>
          </a:p>
        </p:txBody>
      </p:sp>
      <p:sp>
        <p:nvSpPr>
          <p:cNvPr id="754" name="Rounded Rectangle 753"/>
          <p:cNvSpPr/>
          <p:nvPr/>
        </p:nvSpPr>
        <p:spPr>
          <a:xfrm>
            <a:off x="3264408" y="3474720"/>
            <a:ext cx="2615184" cy="694944"/>
          </a:xfrm>
          <a:prstGeom prst="roundRect">
            <a:avLst>
              <a:gd name="adj" fmla="val 47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5" name="TextBox 754"/>
          <p:cNvSpPr txBox="1"/>
          <p:nvPr/>
        </p:nvSpPr>
        <p:spPr>
          <a:xfrm>
            <a:off x="3264408" y="3474720"/>
            <a:ext cx="261518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99.90%</a:t>
            </a:r>
          </a:p>
        </p:txBody>
      </p:sp>
      <p:sp>
        <p:nvSpPr>
          <p:cNvPr id="756" name="Rounded Rectangle 755"/>
          <p:cNvSpPr/>
          <p:nvPr/>
        </p:nvSpPr>
        <p:spPr>
          <a:xfrm>
            <a:off x="6035040" y="1133856"/>
            <a:ext cx="2615184" cy="530352"/>
          </a:xfrm>
          <a:prstGeom prst="roundRect">
            <a:avLst>
              <a:gd name="adj" fmla="val 47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7" name="TextBox 756"/>
          <p:cNvSpPr txBox="1"/>
          <p:nvPr/>
        </p:nvSpPr>
        <p:spPr>
          <a:xfrm>
            <a:off x="6126479" y="1133856"/>
            <a:ext cx="243230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E3   </a:t>
            </a:r>
            <a:r>
              <a:rPr sz="10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Fine-tuned</a:t>
            </a:r>
          </a:p>
        </p:txBody>
      </p:sp>
      <p:sp>
        <p:nvSpPr>
          <p:cNvPr id="758" name="Rounded Rectangle 757"/>
          <p:cNvSpPr/>
          <p:nvPr/>
        </p:nvSpPr>
        <p:spPr>
          <a:xfrm>
            <a:off x="6035040" y="1792224"/>
            <a:ext cx="2615184" cy="74980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9" name="TextBox 758"/>
          <p:cNvSpPr txBox="1"/>
          <p:nvPr/>
        </p:nvSpPr>
        <p:spPr>
          <a:xfrm>
            <a:off x="6144768" y="1792224"/>
            <a:ext cx="239572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TRAINING DATA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all 8 conditions</a:t>
            </a:r>
          </a:p>
        </p:txBody>
      </p:sp>
      <p:sp>
        <p:nvSpPr>
          <p:cNvPr id="760" name="Rounded Rectangle 759"/>
          <p:cNvSpPr/>
          <p:nvPr/>
        </p:nvSpPr>
        <p:spPr>
          <a:xfrm>
            <a:off x="6035040" y="2633472"/>
            <a:ext cx="2615184" cy="749808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1" name="TextBox 760"/>
          <p:cNvSpPr txBox="1"/>
          <p:nvPr/>
        </p:nvSpPr>
        <p:spPr>
          <a:xfrm>
            <a:off x="6144768" y="2633472"/>
            <a:ext cx="239572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BACKBONE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last 15% trainable</a:t>
            </a:r>
          </a:p>
        </p:txBody>
      </p:sp>
      <p:sp>
        <p:nvSpPr>
          <p:cNvPr id="762" name="Rounded Rectangle 761"/>
          <p:cNvSpPr/>
          <p:nvPr/>
        </p:nvSpPr>
        <p:spPr>
          <a:xfrm>
            <a:off x="6035040" y="3474720"/>
            <a:ext cx="2615184" cy="694944"/>
          </a:xfrm>
          <a:prstGeom prst="roundRect">
            <a:avLst>
              <a:gd name="adj" fmla="val 47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3" name="TextBox 762"/>
          <p:cNvSpPr txBox="1"/>
          <p:nvPr/>
        </p:nvSpPr>
        <p:spPr>
          <a:xfrm>
            <a:off x="6035040" y="3474720"/>
            <a:ext cx="261518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100.00%</a:t>
            </a:r>
          </a:p>
        </p:txBody>
      </p:sp>
      <p:sp>
        <p:nvSpPr>
          <p:cNvPr id="764" name="Rounded Rectangle 763"/>
          <p:cNvSpPr/>
          <p:nvPr/>
        </p:nvSpPr>
        <p:spPr>
          <a:xfrm>
            <a:off x="493776" y="4224528"/>
            <a:ext cx="3977639" cy="365760"/>
          </a:xfrm>
          <a:prstGeom prst="roundRect">
            <a:avLst>
              <a:gd name="adj" fmla="val 1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5" name="TextBox 764"/>
          <p:cNvSpPr txBox="1"/>
          <p:nvPr/>
        </p:nvSpPr>
        <p:spPr>
          <a:xfrm>
            <a:off x="640080" y="4224528"/>
            <a:ext cx="36850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E1 → E2  </a:t>
            </a: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data only.   +5.61 pts</a:t>
            </a:r>
          </a:p>
        </p:txBody>
      </p:sp>
      <p:sp>
        <p:nvSpPr>
          <p:cNvPr id="766" name="Rounded Rectangle 765"/>
          <p:cNvSpPr/>
          <p:nvPr/>
        </p:nvSpPr>
        <p:spPr>
          <a:xfrm>
            <a:off x="4672584" y="4224528"/>
            <a:ext cx="3977639" cy="3657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737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7" name="TextBox 766"/>
          <p:cNvSpPr txBox="1"/>
          <p:nvPr/>
        </p:nvSpPr>
        <p:spPr>
          <a:xfrm>
            <a:off x="4818888" y="4224528"/>
            <a:ext cx="36850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E2 → E3  </a:t>
            </a:r>
            <a:r>
              <a:rPr sz="11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backbone only.   +0.10 pts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8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781" name="Google Shape;781;p18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2" name="Google Shape;782;p18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8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TextBox 783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Validation &amp; Test Metrics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Two splits, two jobs. Never reported in the same table.</a:t>
            </a:r>
          </a:p>
        </p:txBody>
      </p:sp>
      <p:sp>
        <p:nvSpPr>
          <p:cNvPr id="786" name="Rounded Rectangle 785"/>
          <p:cNvSpPr/>
          <p:nvPr/>
        </p:nvSpPr>
        <p:spPr>
          <a:xfrm>
            <a:off x="493776" y="1115568"/>
            <a:ext cx="3977639" cy="1005840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7" name="TextBox 786"/>
          <p:cNvSpPr txBox="1"/>
          <p:nvPr/>
        </p:nvSpPr>
        <p:spPr>
          <a:xfrm>
            <a:off x="676656" y="1115568"/>
            <a:ext cx="36118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VALIDATION</a:t>
            </a: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   1,444 images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Chooses the checkpoint and stops training. Never reported as accuracy.</a:t>
            </a:r>
          </a:p>
        </p:txBody>
      </p:sp>
      <p:sp>
        <p:nvSpPr>
          <p:cNvPr id="788" name="Rounded Rectangle 787"/>
          <p:cNvSpPr/>
          <p:nvPr/>
        </p:nvSpPr>
        <p:spPr>
          <a:xfrm>
            <a:off x="4672584" y="1115568"/>
            <a:ext cx="3977639" cy="1005840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9" name="TextBox 788"/>
          <p:cNvSpPr txBox="1"/>
          <p:nvPr/>
        </p:nvSpPr>
        <p:spPr>
          <a:xfrm>
            <a:off x="4855464" y="1115568"/>
            <a:ext cx="36118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TEST</a:t>
            </a: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   998 images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Scored once, after every hyperparameter was frozen.</a:t>
            </a:r>
          </a:p>
        </p:txBody>
      </p:sp>
      <p:sp>
        <p:nvSpPr>
          <p:cNvPr id="790" name="Rounded Rectangle 789"/>
          <p:cNvSpPr/>
          <p:nvPr/>
        </p:nvSpPr>
        <p:spPr>
          <a:xfrm>
            <a:off x="493776" y="2286000"/>
            <a:ext cx="8156448" cy="347472"/>
          </a:xfrm>
          <a:prstGeom prst="roundRect">
            <a:avLst>
              <a:gd name="adj" fmla="val 8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1" name="TextBox 790"/>
          <p:cNvSpPr txBox="1"/>
          <p:nvPr/>
        </p:nvSpPr>
        <p:spPr>
          <a:xfrm>
            <a:off x="557784" y="2286000"/>
            <a:ext cx="215578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Experiment</a:t>
            </a:r>
          </a:p>
        </p:txBody>
      </p:sp>
      <p:sp>
        <p:nvSpPr>
          <p:cNvPr id="792" name="TextBox 791"/>
          <p:cNvSpPr txBox="1"/>
          <p:nvPr/>
        </p:nvSpPr>
        <p:spPr>
          <a:xfrm>
            <a:off x="2841589" y="2286000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Top-1</a:t>
            </a:r>
          </a:p>
        </p:txBody>
      </p:sp>
      <p:sp>
        <p:nvSpPr>
          <p:cNvPr id="793" name="TextBox 792"/>
          <p:cNvSpPr txBox="1"/>
          <p:nvPr/>
        </p:nvSpPr>
        <p:spPr>
          <a:xfrm>
            <a:off x="4065056" y="2286000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Macro-P</a:t>
            </a:r>
          </a:p>
        </p:txBody>
      </p:sp>
      <p:sp>
        <p:nvSpPr>
          <p:cNvPr id="794" name="TextBox 793"/>
          <p:cNvSpPr txBox="1"/>
          <p:nvPr/>
        </p:nvSpPr>
        <p:spPr>
          <a:xfrm>
            <a:off x="5288523" y="2286000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Macro-R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6511991" y="2286000"/>
            <a:ext cx="93232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Macro-F1</a:t>
            </a:r>
          </a:p>
        </p:txBody>
      </p:sp>
      <p:sp>
        <p:nvSpPr>
          <p:cNvPr id="796" name="TextBox 795"/>
          <p:cNvSpPr txBox="1"/>
          <p:nvPr/>
        </p:nvSpPr>
        <p:spPr>
          <a:xfrm>
            <a:off x="7572329" y="2286000"/>
            <a:ext cx="101388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95% CI</a:t>
            </a:r>
          </a:p>
        </p:txBody>
      </p:sp>
      <p:sp>
        <p:nvSpPr>
          <p:cNvPr id="797" name="TextBox 796"/>
          <p:cNvSpPr txBox="1"/>
          <p:nvPr/>
        </p:nvSpPr>
        <p:spPr>
          <a:xfrm>
            <a:off x="557784" y="2633472"/>
            <a:ext cx="215578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E1  clean-only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2841589" y="2633472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94.29%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4065056" y="2633472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95.06%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5288523" y="2633472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93.55%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6511991" y="2633472"/>
            <a:ext cx="93232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93.89%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7572329" y="2633472"/>
            <a:ext cx="101388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92.7 – 95.6</a:t>
            </a:r>
          </a:p>
        </p:txBody>
      </p:sp>
      <p:sp>
        <p:nvSpPr>
          <p:cNvPr id="803" name="Rounded Rectangle 802"/>
          <p:cNvSpPr/>
          <p:nvPr/>
        </p:nvSpPr>
        <p:spPr>
          <a:xfrm>
            <a:off x="493776" y="2980944"/>
            <a:ext cx="8156448" cy="347472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4" name="TextBox 803"/>
          <p:cNvSpPr txBox="1"/>
          <p:nvPr/>
        </p:nvSpPr>
        <p:spPr>
          <a:xfrm>
            <a:off x="557784" y="2980944"/>
            <a:ext cx="215578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E2  all conditions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2841589" y="2980944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99.90%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4065056" y="2980944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99.92%</a:t>
            </a:r>
          </a:p>
        </p:txBody>
      </p:sp>
      <p:sp>
        <p:nvSpPr>
          <p:cNvPr id="807" name="TextBox 806"/>
          <p:cNvSpPr txBox="1"/>
          <p:nvPr/>
        </p:nvSpPr>
        <p:spPr>
          <a:xfrm>
            <a:off x="5288523" y="2980944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99.92%</a:t>
            </a:r>
          </a:p>
        </p:txBody>
      </p:sp>
      <p:sp>
        <p:nvSpPr>
          <p:cNvPr id="808" name="TextBox 807"/>
          <p:cNvSpPr txBox="1"/>
          <p:nvPr/>
        </p:nvSpPr>
        <p:spPr>
          <a:xfrm>
            <a:off x="6511991" y="2980944"/>
            <a:ext cx="93232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99.92%</a:t>
            </a:r>
          </a:p>
        </p:txBody>
      </p:sp>
      <p:sp>
        <p:nvSpPr>
          <p:cNvPr id="809" name="TextBox 808"/>
          <p:cNvSpPr txBox="1"/>
          <p:nvPr/>
        </p:nvSpPr>
        <p:spPr>
          <a:xfrm>
            <a:off x="7572329" y="2980944"/>
            <a:ext cx="101388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99.4 – 100</a:t>
            </a:r>
          </a:p>
        </p:txBody>
      </p:sp>
      <p:sp>
        <p:nvSpPr>
          <p:cNvPr id="810" name="TextBox 809"/>
          <p:cNvSpPr txBox="1"/>
          <p:nvPr/>
        </p:nvSpPr>
        <p:spPr>
          <a:xfrm>
            <a:off x="557784" y="3328415"/>
            <a:ext cx="215578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E3  fine-tuned</a:t>
            </a:r>
          </a:p>
        </p:txBody>
      </p:sp>
      <p:sp>
        <p:nvSpPr>
          <p:cNvPr id="811" name="TextBox 810"/>
          <p:cNvSpPr txBox="1"/>
          <p:nvPr/>
        </p:nvSpPr>
        <p:spPr>
          <a:xfrm>
            <a:off x="2841589" y="3328415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100.00%</a:t>
            </a:r>
          </a:p>
        </p:txBody>
      </p:sp>
      <p:sp>
        <p:nvSpPr>
          <p:cNvPr id="812" name="TextBox 811"/>
          <p:cNvSpPr txBox="1"/>
          <p:nvPr/>
        </p:nvSpPr>
        <p:spPr>
          <a:xfrm>
            <a:off x="4065056" y="3328415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100.00%</a:t>
            </a:r>
          </a:p>
        </p:txBody>
      </p:sp>
      <p:sp>
        <p:nvSpPr>
          <p:cNvPr id="813" name="TextBox 812"/>
          <p:cNvSpPr txBox="1"/>
          <p:nvPr/>
        </p:nvSpPr>
        <p:spPr>
          <a:xfrm>
            <a:off x="5288523" y="3328415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100.00%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6511991" y="3328415"/>
            <a:ext cx="93232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100.00%</a:t>
            </a:r>
          </a:p>
        </p:txBody>
      </p:sp>
      <p:sp>
        <p:nvSpPr>
          <p:cNvPr id="815" name="TextBox 814"/>
          <p:cNvSpPr txBox="1"/>
          <p:nvPr/>
        </p:nvSpPr>
        <p:spPr>
          <a:xfrm>
            <a:off x="7572329" y="3328415"/>
            <a:ext cx="101388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99.6 – 100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493776" y="3840480"/>
            <a:ext cx="8156448" cy="73152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73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7" name="TextBox 816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A normalization bug, found and fixed:  </a:t>
            </a: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head assumed unit-length embeddings that insightface never returned. After adding L2 normalization and retraining, E1 rose 70.34% → 94.29% and E2 96.29% → 99.90%. All figures are post-fix.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9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806" name="Google Shape;806;p19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7" name="Google Shape;807;p19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9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17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TextBox 808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Confusion Matrices — Test Split</a:t>
            </a:r>
          </a:p>
        </p:txBody>
      </p:sp>
      <p:sp>
        <p:nvSpPr>
          <p:cNvPr id="810" name="TextBox 809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Row-normalized 30 × 30 over all 998 test images.</a:t>
            </a:r>
          </a:p>
        </p:txBody>
      </p:sp>
      <p:sp>
        <p:nvSpPr>
          <p:cNvPr id="811" name="Rounded Rectangle 810"/>
          <p:cNvSpPr/>
          <p:nvPr/>
        </p:nvSpPr>
        <p:spPr>
          <a:xfrm>
            <a:off x="493776" y="1115568"/>
            <a:ext cx="2615184" cy="329184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2" name="TextBox 811"/>
          <p:cNvSpPr txBox="1"/>
          <p:nvPr/>
        </p:nvSpPr>
        <p:spPr>
          <a:xfrm>
            <a:off x="493776" y="1115568"/>
            <a:ext cx="2615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E1 — clean-only</a:t>
            </a:r>
          </a:p>
        </p:txBody>
      </p:sp>
      <p:pic>
        <p:nvPicPr>
          <p:cNvPr id="813" name="Picture 8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517904"/>
            <a:ext cx="2615184" cy="2627941"/>
          </a:xfrm>
          <a:prstGeom prst="rect">
            <a:avLst/>
          </a:prstGeom>
        </p:spPr>
      </p:pic>
      <p:sp>
        <p:nvSpPr>
          <p:cNvPr id="814" name="Rounded Rectangle 813"/>
          <p:cNvSpPr/>
          <p:nvPr/>
        </p:nvSpPr>
        <p:spPr>
          <a:xfrm>
            <a:off x="3264408" y="1115568"/>
            <a:ext cx="2615184" cy="329184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5" name="TextBox 814"/>
          <p:cNvSpPr txBox="1"/>
          <p:nvPr/>
        </p:nvSpPr>
        <p:spPr>
          <a:xfrm>
            <a:off x="3264408" y="1115568"/>
            <a:ext cx="2615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E2 — all conditions</a:t>
            </a:r>
          </a:p>
        </p:txBody>
      </p:sp>
      <p:pic>
        <p:nvPicPr>
          <p:cNvPr id="816" name="Picture 8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517904"/>
            <a:ext cx="2615184" cy="2627941"/>
          </a:xfrm>
          <a:prstGeom prst="rect">
            <a:avLst/>
          </a:prstGeom>
        </p:spPr>
      </p:pic>
      <p:sp>
        <p:nvSpPr>
          <p:cNvPr id="817" name="Rounded Rectangle 816"/>
          <p:cNvSpPr/>
          <p:nvPr/>
        </p:nvSpPr>
        <p:spPr>
          <a:xfrm>
            <a:off x="6035040" y="1115568"/>
            <a:ext cx="2615184" cy="329184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8" name="TextBox 817"/>
          <p:cNvSpPr txBox="1"/>
          <p:nvPr/>
        </p:nvSpPr>
        <p:spPr>
          <a:xfrm>
            <a:off x="6035040" y="1115568"/>
            <a:ext cx="2615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E3 — fine-tuned</a:t>
            </a:r>
          </a:p>
        </p:txBody>
      </p:sp>
      <p:pic>
        <p:nvPicPr>
          <p:cNvPr id="819" name="Picture 8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517904"/>
            <a:ext cx="2615184" cy="2627941"/>
          </a:xfrm>
          <a:prstGeom prst="rect">
            <a:avLst/>
          </a:prstGeom>
        </p:spPr>
      </p:pic>
      <p:sp>
        <p:nvSpPr>
          <p:cNvPr id="820" name="Rounded Rectangle 819"/>
          <p:cNvSpPr/>
          <p:nvPr/>
        </p:nvSpPr>
        <p:spPr>
          <a:xfrm>
            <a:off x="493776" y="4133087"/>
            <a:ext cx="8156448" cy="457200"/>
          </a:xfrm>
          <a:prstGeom prst="roundRect">
            <a:avLst>
              <a:gd name="adj" fmla="val 1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1" name="TextBox 820"/>
          <p:cNvSpPr txBox="1"/>
          <p:nvPr/>
        </p:nvSpPr>
        <p:spPr>
          <a:xfrm>
            <a:off x="493776" y="4133087"/>
            <a:ext cx="81564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57 errors  →  1 error  →  0 errors</a:t>
            </a: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      E1's worst: p06→p16, p16→p11, p27→p11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20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880" name="Google Shape;880;p20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1" name="Google Shape;881;p20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0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18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TextBox 882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Occlusion-wise Performance</a:t>
            </a:r>
          </a:p>
        </p:txBody>
      </p:sp>
      <p:sp>
        <p:nvSpPr>
          <p:cNvPr id="884" name="TextBox 883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Per-condition test accuracy — where every remaining error lives.</a:t>
            </a:r>
          </a:p>
        </p:txBody>
      </p:sp>
      <p:sp>
        <p:nvSpPr>
          <p:cNvPr id="885" name="Rounded Rectangle 884"/>
          <p:cNvSpPr/>
          <p:nvPr/>
        </p:nvSpPr>
        <p:spPr>
          <a:xfrm>
            <a:off x="493776" y="1115568"/>
            <a:ext cx="4663440" cy="310896"/>
          </a:xfrm>
          <a:prstGeom prst="roundRect">
            <a:avLst>
              <a:gd name="adj" fmla="val 8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6" name="TextBox 885"/>
          <p:cNvSpPr txBox="1"/>
          <p:nvPr/>
        </p:nvSpPr>
        <p:spPr>
          <a:xfrm>
            <a:off x="557784" y="1115568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Condition</a:t>
            </a:r>
          </a:p>
        </p:txBody>
      </p:sp>
      <p:sp>
        <p:nvSpPr>
          <p:cNvPr id="887" name="TextBox 886"/>
          <p:cNvSpPr txBox="1"/>
          <p:nvPr/>
        </p:nvSpPr>
        <p:spPr>
          <a:xfrm>
            <a:off x="2423160" y="1115568"/>
            <a:ext cx="47823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</a:p>
        </p:txBody>
      </p:sp>
      <p:sp>
        <p:nvSpPr>
          <p:cNvPr id="888" name="TextBox 887"/>
          <p:cNvSpPr txBox="1"/>
          <p:nvPr/>
        </p:nvSpPr>
        <p:spPr>
          <a:xfrm>
            <a:off x="3029407" y="1115568"/>
            <a:ext cx="61813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E1</a:t>
            </a:r>
          </a:p>
        </p:txBody>
      </p:sp>
      <p:sp>
        <p:nvSpPr>
          <p:cNvPr id="889" name="TextBox 888"/>
          <p:cNvSpPr txBox="1"/>
          <p:nvPr/>
        </p:nvSpPr>
        <p:spPr>
          <a:xfrm>
            <a:off x="3775557" y="1115568"/>
            <a:ext cx="57149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E2</a:t>
            </a:r>
          </a:p>
        </p:txBody>
      </p:sp>
      <p:sp>
        <p:nvSpPr>
          <p:cNvPr id="890" name="TextBox 889"/>
          <p:cNvSpPr txBox="1"/>
          <p:nvPr/>
        </p:nvSpPr>
        <p:spPr>
          <a:xfrm>
            <a:off x="4475073" y="1115568"/>
            <a:ext cx="61813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E3</a:t>
            </a:r>
          </a:p>
        </p:txBody>
      </p:sp>
      <p:sp>
        <p:nvSpPr>
          <p:cNvPr id="891" name="TextBox 890"/>
          <p:cNvSpPr txBox="1"/>
          <p:nvPr/>
        </p:nvSpPr>
        <p:spPr>
          <a:xfrm>
            <a:off x="557784" y="142646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None</a:t>
            </a:r>
          </a:p>
        </p:txBody>
      </p:sp>
      <p:sp>
        <p:nvSpPr>
          <p:cNvPr id="892" name="TextBox 891"/>
          <p:cNvSpPr txBox="1"/>
          <p:nvPr/>
        </p:nvSpPr>
        <p:spPr>
          <a:xfrm>
            <a:off x="2423160" y="142646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138</a:t>
            </a:r>
          </a:p>
        </p:txBody>
      </p:sp>
      <p:sp>
        <p:nvSpPr>
          <p:cNvPr id="893" name="TextBox 892"/>
          <p:cNvSpPr txBox="1"/>
          <p:nvPr/>
        </p:nvSpPr>
        <p:spPr>
          <a:xfrm>
            <a:off x="3029407" y="142646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894" name="TextBox 893"/>
          <p:cNvSpPr txBox="1"/>
          <p:nvPr/>
        </p:nvSpPr>
        <p:spPr>
          <a:xfrm>
            <a:off x="3775557" y="142646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895" name="TextBox 894"/>
          <p:cNvSpPr txBox="1"/>
          <p:nvPr/>
        </p:nvSpPr>
        <p:spPr>
          <a:xfrm>
            <a:off x="4475073" y="142646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896" name="Rounded Rectangle 895"/>
          <p:cNvSpPr/>
          <p:nvPr/>
        </p:nvSpPr>
        <p:spPr>
          <a:xfrm>
            <a:off x="493776" y="1723644"/>
            <a:ext cx="4663440" cy="29718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7" name="TextBox 896"/>
          <p:cNvSpPr txBox="1"/>
          <p:nvPr/>
        </p:nvSpPr>
        <p:spPr>
          <a:xfrm>
            <a:off x="557784" y="172364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Cap</a:t>
            </a:r>
          </a:p>
        </p:txBody>
      </p:sp>
      <p:sp>
        <p:nvSpPr>
          <p:cNvPr id="898" name="TextBox 897"/>
          <p:cNvSpPr txBox="1"/>
          <p:nvPr/>
        </p:nvSpPr>
        <p:spPr>
          <a:xfrm>
            <a:off x="2423160" y="172364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129</a:t>
            </a:r>
          </a:p>
        </p:txBody>
      </p:sp>
      <p:sp>
        <p:nvSpPr>
          <p:cNvPr id="899" name="TextBox 898"/>
          <p:cNvSpPr txBox="1"/>
          <p:nvPr/>
        </p:nvSpPr>
        <p:spPr>
          <a:xfrm>
            <a:off x="3029407" y="172364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00" name="TextBox 899"/>
          <p:cNvSpPr txBox="1"/>
          <p:nvPr/>
        </p:nvSpPr>
        <p:spPr>
          <a:xfrm>
            <a:off x="3775557" y="172364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01" name="TextBox 900"/>
          <p:cNvSpPr txBox="1"/>
          <p:nvPr/>
        </p:nvSpPr>
        <p:spPr>
          <a:xfrm>
            <a:off x="4475073" y="172364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557784" y="202082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Clear glasses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2423160" y="202082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108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3029407" y="202082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3775557" y="202082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4475073" y="202082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493776" y="2318004"/>
            <a:ext cx="4663440" cy="29718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557784" y="231800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Sunglasses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2423160" y="231800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125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3029407" y="231800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3775557" y="231800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4475073" y="231800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557784" y="261518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Scarf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2423160" y="261518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84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3029407" y="261518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97.6%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3775557" y="261518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4475073" y="261518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493776" y="2912364"/>
            <a:ext cx="4663440" cy="29718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9" name="TextBox 918"/>
          <p:cNvSpPr txBox="1"/>
          <p:nvPr/>
        </p:nvSpPr>
        <p:spPr>
          <a:xfrm>
            <a:off x="557784" y="291236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Mask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2423160" y="291236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161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3029407" y="291236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96.3%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3775557" y="291236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99.4%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475073" y="291236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57784" y="320954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Mask + clear glasses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2423160" y="320954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3029407" y="320954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32F2F"/>
                </a:solidFill>
                <a:latin typeface="Roboto"/>
                <a:ea typeface="Roboto"/>
                <a:cs typeface="Roboto"/>
                <a:sym typeface="Roboto"/>
              </a:rPr>
              <a:t>90.8%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3775557" y="320954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8E80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4475073" y="320954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29" name="Rounded Rectangle 928"/>
          <p:cNvSpPr/>
          <p:nvPr/>
        </p:nvSpPr>
        <p:spPr>
          <a:xfrm>
            <a:off x="493776" y="3506724"/>
            <a:ext cx="4663440" cy="29718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0" name="TextBox 929"/>
          <p:cNvSpPr txBox="1"/>
          <p:nvPr/>
        </p:nvSpPr>
        <p:spPr>
          <a:xfrm>
            <a:off x="557784" y="350672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Mask + sunglasses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2423160" y="350672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133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3029407" y="350672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32F2F"/>
                </a:solidFill>
                <a:latin typeface="Roboto"/>
                <a:ea typeface="Roboto"/>
                <a:cs typeface="Roboto"/>
                <a:sym typeface="Roboto"/>
              </a:rPr>
              <a:t>71.4%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3775557" y="350672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8E80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4475073" y="350672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35" name="Rounded Rectangle 934"/>
          <p:cNvSpPr/>
          <p:nvPr/>
        </p:nvSpPr>
        <p:spPr>
          <a:xfrm>
            <a:off x="5394960" y="1115568"/>
            <a:ext cx="3255264" cy="1298448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6" name="TextBox 935"/>
          <p:cNvSpPr txBox="1"/>
          <p:nvPr/>
        </p:nvSpPr>
        <p:spPr>
          <a:xfrm>
            <a:off x="5577840" y="1225296"/>
            <a:ext cx="2889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Robustness gap</a:t>
            </a:r>
          </a:p>
        </p:txBody>
      </p:sp>
      <p:sp>
        <p:nvSpPr>
          <p:cNvPr id="937" name="Rounded Rectangle 936"/>
          <p:cNvSpPr/>
          <p:nvPr/>
        </p:nvSpPr>
        <p:spPr>
          <a:xfrm>
            <a:off x="5577840" y="1591056"/>
            <a:ext cx="896112" cy="69494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8" name="TextBox 937"/>
          <p:cNvSpPr txBox="1"/>
          <p:nvPr/>
        </p:nvSpPr>
        <p:spPr>
          <a:xfrm>
            <a:off x="5577840" y="1591056"/>
            <a:ext cx="89611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E1</a:t>
            </a:r>
          </a:p>
          <a:p>
            <a:pPr algn="ctr"/>
            <a:r>
              <a:rPr sz="1700" b="1" i="0">
                <a:solidFill>
                  <a:srgbClr val="D32F2F"/>
                </a:solidFill>
                <a:latin typeface="Raleway"/>
                <a:ea typeface="Raleway"/>
                <a:cs typeface="Raleway"/>
                <a:sym typeface="Raleway"/>
              </a:rPr>
              <a:t>6.6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6547104" y="1591056"/>
            <a:ext cx="896112" cy="69494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0" name="TextBox 939"/>
          <p:cNvSpPr txBox="1"/>
          <p:nvPr/>
        </p:nvSpPr>
        <p:spPr>
          <a:xfrm>
            <a:off x="6547104" y="1591056"/>
            <a:ext cx="89611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E2</a:t>
            </a:r>
          </a:p>
          <a:p>
            <a:pPr algn="ctr"/>
            <a:r>
              <a:rPr sz="17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0.1</a:t>
            </a:r>
          </a:p>
        </p:txBody>
      </p:sp>
      <p:sp>
        <p:nvSpPr>
          <p:cNvPr id="941" name="Rounded Rectangle 940"/>
          <p:cNvSpPr/>
          <p:nvPr/>
        </p:nvSpPr>
        <p:spPr>
          <a:xfrm>
            <a:off x="7516367" y="1591056"/>
            <a:ext cx="896112" cy="69494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2" name="TextBox 941"/>
          <p:cNvSpPr txBox="1"/>
          <p:nvPr/>
        </p:nvSpPr>
        <p:spPr>
          <a:xfrm>
            <a:off x="7516367" y="1591056"/>
            <a:ext cx="89611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E3</a:t>
            </a:r>
          </a:p>
          <a:p>
            <a:pPr algn="ctr"/>
            <a:r>
              <a:rPr sz="1700" b="1" i="0">
                <a:solidFill>
                  <a:srgbClr val="008E80"/>
                </a:solidFill>
                <a:latin typeface="Raleway"/>
                <a:ea typeface="Raleway"/>
                <a:cs typeface="Raleway"/>
                <a:sym typeface="Raleway"/>
              </a:rPr>
              <a:t>0.0</a:t>
            </a:r>
          </a:p>
        </p:txBody>
      </p:sp>
      <p:sp>
        <p:nvSpPr>
          <p:cNvPr id="943" name="Rounded Rectangle 942"/>
          <p:cNvSpPr/>
          <p:nvPr/>
        </p:nvSpPr>
        <p:spPr>
          <a:xfrm>
            <a:off x="5394960" y="2542032"/>
            <a:ext cx="3255264" cy="1261872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4" name="TextBox 943"/>
          <p:cNvSpPr txBox="1"/>
          <p:nvPr/>
        </p:nvSpPr>
        <p:spPr>
          <a:xfrm>
            <a:off x="5577840" y="2651760"/>
            <a:ext cx="2889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Where E1 fails</a:t>
            </a:r>
          </a:p>
        </p:txBody>
      </p:sp>
      <p:sp>
        <p:nvSpPr>
          <p:cNvPr id="945" name="TextBox 944"/>
          <p:cNvSpPr txBox="1"/>
          <p:nvPr/>
        </p:nvSpPr>
        <p:spPr>
          <a:xfrm>
            <a:off x="5577840" y="2999232"/>
            <a:ext cx="288950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4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57 errors on 998 images</a:t>
            </a:r>
          </a:p>
          <a:p>
            <a:pPr marL="215000" indent="-215000" algn="l">
              <a:lnSpc>
                <a:spcPct val="124000"/>
              </a:lnSpc>
              <a:buClr>
                <a:srgbClr val="D32F2F"/>
              </a:buClr>
              <a:buSzPts val="1050"/>
              <a:buFont typeface="Roboto"/>
              <a:buChar char="•"/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38 are mask + sunglasses</a:t>
            </a:r>
          </a:p>
        </p:txBody>
      </p:sp>
      <p:sp>
        <p:nvSpPr>
          <p:cNvPr id="946" name="Rounded Rectangle 945"/>
          <p:cNvSpPr/>
          <p:nvPr/>
        </p:nvSpPr>
        <p:spPr>
          <a:xfrm>
            <a:off x="493776" y="3950208"/>
            <a:ext cx="8156448" cy="603504"/>
          </a:xfrm>
          <a:prstGeom prst="roundRect">
            <a:avLst>
              <a:gd name="adj" fmla="val 1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7" name="TextBox 946"/>
          <p:cNvSpPr txBox="1"/>
          <p:nvPr/>
        </p:nvSpPr>
        <p:spPr>
          <a:xfrm>
            <a:off x="640080" y="3950208"/>
            <a:ext cx="7863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The one message:  </a:t>
            </a: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compound occlusion — not occlusion in general — breaks a clean-trained model.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1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898" name="Google Shape;898;p21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9" name="Google Shape;899;p21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1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19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TextBox 900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What Made the Biggest Difference?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Both steps helped. Not by comparable amounts.</a:t>
            </a:r>
          </a:p>
        </p:txBody>
      </p:sp>
      <p:pic>
        <p:nvPicPr>
          <p:cNvPr id="903" name="Picture 902" descr="de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52144"/>
            <a:ext cx="3931920" cy="2184400"/>
          </a:xfrm>
          <a:prstGeom prst="rect">
            <a:avLst/>
          </a:prstGeom>
        </p:spPr>
      </p:pic>
      <p:sp>
        <p:nvSpPr>
          <p:cNvPr id="904" name="Rounded Rectangle 903"/>
          <p:cNvSpPr/>
          <p:nvPr/>
        </p:nvSpPr>
        <p:spPr>
          <a:xfrm>
            <a:off x="4754880" y="1152144"/>
            <a:ext cx="3895344" cy="1042415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5" name="TextBox 904"/>
          <p:cNvSpPr txBox="1"/>
          <p:nvPr/>
        </p:nvSpPr>
        <p:spPr>
          <a:xfrm>
            <a:off x="4937760" y="1152144"/>
            <a:ext cx="3529584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E1 → E2</a:t>
            </a:r>
            <a:r>
              <a:rPr sz="18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      +5.61 points</a:t>
            </a:r>
          </a:p>
          <a:p>
            <a:pPr algn="l"/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Training data only. 57 errors → 1.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4754880" y="2304288"/>
            <a:ext cx="3895344" cy="1042415"/>
          </a:xfrm>
          <a:prstGeom prst="roundRect">
            <a:avLst>
              <a:gd name="adj" fmla="val 4700"/>
            </a:avLst>
          </a:prstGeom>
          <a:solidFill>
            <a:srgbClr val="F5F5F5"/>
          </a:solidFill>
          <a:ln w="737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7" name="TextBox 906"/>
          <p:cNvSpPr txBox="1"/>
          <p:nvPr/>
        </p:nvSpPr>
        <p:spPr>
          <a:xfrm>
            <a:off x="4937760" y="2304288"/>
            <a:ext cx="3529584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E2 → E3</a:t>
            </a:r>
            <a:r>
              <a:rPr sz="1800" b="1" i="0">
                <a:solidFill>
                  <a:srgbClr val="566174"/>
                </a:solidFill>
                <a:latin typeface="Raleway"/>
                <a:ea typeface="Raleway"/>
                <a:cs typeface="Raleway"/>
                <a:sym typeface="Raleway"/>
              </a:rPr>
              <a:t>      +0.10 points</a:t>
            </a:r>
          </a:p>
          <a:p>
            <a:pPr algn="l"/>
            <a:r>
              <a:rPr sz="11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Backbone weights. 1 error → 0.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493776" y="3529584"/>
            <a:ext cx="8156448" cy="1042415"/>
          </a:xfrm>
          <a:prstGeom prst="roundRect">
            <a:avLst>
              <a:gd name="adj" fmla="val 4700"/>
            </a:avLst>
          </a:prstGeom>
          <a:solidFill>
            <a:srgbClr val="EAF2FF"/>
          </a:solidFill>
          <a:ln w="9850">
            <a:solidFill>
              <a:srgbClr val="203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9" name="TextBox 908"/>
          <p:cNvSpPr txBox="1"/>
          <p:nvPr/>
        </p:nvSpPr>
        <p:spPr>
          <a:xfrm>
            <a:off x="713232" y="3529584"/>
            <a:ext cx="7717536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Key finding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Occlusion-diverse training data mattered more than fifty times as much as adapting the backbone. The pretrained representation was never the bottleneck — what it had never been shown was.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2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960" name="Google Shape;960;p22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1" name="Google Shape;961;p22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22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20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TextBox 962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Related Work — Base Papers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One supplies the dataset precedent, the other the method precedent.</a:t>
            </a:r>
          </a:p>
        </p:txBody>
      </p:sp>
      <p:sp>
        <p:nvSpPr>
          <p:cNvPr id="965" name="Rounded Rectangle 964"/>
          <p:cNvSpPr/>
          <p:nvPr/>
        </p:nvSpPr>
        <p:spPr>
          <a:xfrm>
            <a:off x="493776" y="1115568"/>
            <a:ext cx="8156448" cy="347472"/>
          </a:xfrm>
          <a:prstGeom prst="roundRect">
            <a:avLst>
              <a:gd name="adj" fmla="val 8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6" name="TextBox 965"/>
          <p:cNvSpPr txBox="1"/>
          <p:nvPr/>
        </p:nvSpPr>
        <p:spPr>
          <a:xfrm>
            <a:off x="557784" y="1115568"/>
            <a:ext cx="142170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Aspect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2107509" y="1115568"/>
            <a:ext cx="1911095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Pgu-Face (2016)</a:t>
            </a:r>
          </a:p>
        </p:txBody>
      </p:sp>
      <p:sp>
        <p:nvSpPr>
          <p:cNvPr id="968" name="TextBox 967"/>
          <p:cNvSpPr txBox="1"/>
          <p:nvPr/>
        </p:nvSpPr>
        <p:spPr>
          <a:xfrm>
            <a:off x="4146621" y="1115568"/>
            <a:ext cx="223735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Chong et al. (2022)</a:t>
            </a:r>
          </a:p>
        </p:txBody>
      </p:sp>
      <p:sp>
        <p:nvSpPr>
          <p:cNvPr id="969" name="TextBox 968"/>
          <p:cNvSpPr txBox="1"/>
          <p:nvPr/>
        </p:nvSpPr>
        <p:spPr>
          <a:xfrm>
            <a:off x="6511991" y="1115568"/>
            <a:ext cx="207422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project</a:t>
            </a:r>
          </a:p>
        </p:txBody>
      </p:sp>
      <p:sp>
        <p:nvSpPr>
          <p:cNvPr id="970" name="TextBox 969"/>
          <p:cNvSpPr txBox="1"/>
          <p:nvPr/>
        </p:nvSpPr>
        <p:spPr>
          <a:xfrm>
            <a:off x="557784" y="1463040"/>
            <a:ext cx="142170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Role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2107509" y="1463040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Dataset base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4146621" y="1463040"/>
            <a:ext cx="223735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Method base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6511991" y="1463040"/>
            <a:ext cx="2074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Applied system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493776" y="1792224"/>
            <a:ext cx="8156448" cy="329184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5" name="TextBox 974"/>
          <p:cNvSpPr txBox="1"/>
          <p:nvPr/>
        </p:nvSpPr>
        <p:spPr>
          <a:xfrm>
            <a:off x="557784" y="1792224"/>
            <a:ext cx="142170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Identities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2107509" y="1792224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224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4146621" y="1792224"/>
            <a:ext cx="223735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50-category subsets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6511991" y="1792224"/>
            <a:ext cx="2074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30 enrolled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557784" y="2121408"/>
            <a:ext cx="142170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Images</a:t>
            </a:r>
          </a:p>
        </p:txBody>
      </p:sp>
      <p:sp>
        <p:nvSpPr>
          <p:cNvPr id="980" name="TextBox 979"/>
          <p:cNvSpPr txBox="1"/>
          <p:nvPr/>
        </p:nvSpPr>
        <p:spPr>
          <a:xfrm>
            <a:off x="2107509" y="2121408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896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4146621" y="2121408"/>
            <a:ext cx="223735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RMFD 90k / LFW 13k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6511991" y="2121408"/>
            <a:ext cx="2074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5,988 used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493776" y="2450591"/>
            <a:ext cx="8156448" cy="329184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4" name="TextBox 983"/>
          <p:cNvSpPr txBox="1"/>
          <p:nvPr/>
        </p:nvSpPr>
        <p:spPr>
          <a:xfrm>
            <a:off x="557784" y="2450591"/>
            <a:ext cx="142170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Occlusions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2107509" y="2450591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Sunglasses, beard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4146621" y="2450591"/>
            <a:ext cx="223735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Masks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6511991" y="2450591"/>
            <a:ext cx="2074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8 incl. combinations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557784" y="2779775"/>
            <a:ext cx="142170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107509" y="2779775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None proposed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4146621" y="2779775"/>
            <a:ext cx="223735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CNN + SVM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511991" y="2779775"/>
            <a:ext cx="2074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Pretrained ArcFace + head</a:t>
            </a:r>
          </a:p>
        </p:txBody>
      </p:sp>
      <p:sp>
        <p:nvSpPr>
          <p:cNvPr id="992" name="Rounded Rectangle 991"/>
          <p:cNvSpPr/>
          <p:nvPr/>
        </p:nvSpPr>
        <p:spPr>
          <a:xfrm>
            <a:off x="493776" y="3108959"/>
            <a:ext cx="8156448" cy="329184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3" name="TextBox 992"/>
          <p:cNvSpPr txBox="1"/>
          <p:nvPr/>
        </p:nvSpPr>
        <p:spPr>
          <a:xfrm>
            <a:off x="557784" y="3108959"/>
            <a:ext cx="142170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Best result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2107509" y="3108959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Not applicable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4146621" y="3108959"/>
            <a:ext cx="223735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98.39% TAR</a:t>
            </a:r>
          </a:p>
        </p:txBody>
      </p:sp>
      <p:sp>
        <p:nvSpPr>
          <p:cNvPr id="996" name="TextBox 995"/>
          <p:cNvSpPr txBox="1"/>
          <p:nvPr/>
        </p:nvSpPr>
        <p:spPr>
          <a:xfrm>
            <a:off x="6511991" y="3108959"/>
            <a:ext cx="2074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99.90% E2 / 100% E3</a:t>
            </a:r>
          </a:p>
        </p:txBody>
      </p:sp>
      <p:sp>
        <p:nvSpPr>
          <p:cNvPr id="997" name="Rounded Rectangle 996"/>
          <p:cNvSpPr/>
          <p:nvPr/>
        </p:nvSpPr>
        <p:spPr>
          <a:xfrm>
            <a:off x="493776" y="3566160"/>
            <a:ext cx="8156448" cy="1005840"/>
          </a:xfrm>
          <a:prstGeom prst="roundRect">
            <a:avLst>
              <a:gd name="adj" fmla="val 4700"/>
            </a:avLst>
          </a:prstGeom>
          <a:solidFill>
            <a:srgbClr val="FFF3E8"/>
          </a:solidFill>
          <a:ln w="73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8" name="TextBox 997"/>
          <p:cNvSpPr txBox="1"/>
          <p:nvPr/>
        </p:nvSpPr>
        <p:spPr>
          <a:xfrm>
            <a:off x="713232" y="3566160"/>
            <a:ext cx="771753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Not a like-for-like comparison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Chong et al. report TAR on a public benchmark subset; we report closed-set top-1 on 30 locally captured identities. Our 100% does not beat their 98.39% — a closed set of 30 is a fundamentally easier problem.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23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1012" name="Google Shape;1012;p23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3" name="Google Shape;1013;p23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23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21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TextBox 1014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Deployment — Live Phone-to-Laptop</a:t>
            </a:r>
          </a:p>
        </p:txBody>
      </p:sp>
      <p:sp>
        <p:nvSpPr>
          <p:cNvPr id="1016" name="TextBox 1015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A person wearing an occlusion is named in real time.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493776" y="1133856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8" name="TextBox 1017"/>
          <p:cNvSpPr txBox="1"/>
          <p:nvPr/>
        </p:nvSpPr>
        <p:spPr>
          <a:xfrm>
            <a:off x="539496" y="113385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PHONE CAMERA</a:t>
            </a:r>
          </a:p>
        </p:txBody>
      </p:sp>
      <p:sp>
        <p:nvSpPr>
          <p:cNvPr id="1019" name="Isosceles Triangle 1018"/>
          <p:cNvSpPr/>
          <p:nvPr/>
        </p:nvSpPr>
        <p:spPr>
          <a:xfrm rot="10800000">
            <a:off x="1897380" y="1476756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0" name="Rounded Rectangle 1019"/>
          <p:cNvSpPr/>
          <p:nvPr/>
        </p:nvSpPr>
        <p:spPr>
          <a:xfrm>
            <a:off x="493776" y="1568195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1" name="TextBox 1020"/>
          <p:cNvSpPr txBox="1"/>
          <p:nvPr/>
        </p:nvSpPr>
        <p:spPr>
          <a:xfrm>
            <a:off x="539496" y="1568195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Browser · getUserMedia()</a:t>
            </a:r>
          </a:p>
        </p:txBody>
      </p:sp>
      <p:sp>
        <p:nvSpPr>
          <p:cNvPr id="1022" name="Isosceles Triangle 1021"/>
          <p:cNvSpPr/>
          <p:nvPr/>
        </p:nvSpPr>
        <p:spPr>
          <a:xfrm rot="10800000">
            <a:off x="1897380" y="1911095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3" name="Rounded Rectangle 1022"/>
          <p:cNvSpPr/>
          <p:nvPr/>
        </p:nvSpPr>
        <p:spPr>
          <a:xfrm>
            <a:off x="493776" y="2002536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4" name="TextBox 1023"/>
          <p:cNvSpPr txBox="1"/>
          <p:nvPr/>
        </p:nvSpPr>
        <p:spPr>
          <a:xfrm>
            <a:off x="539496" y="200253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JPEG frame → POST</a:t>
            </a:r>
          </a:p>
        </p:txBody>
      </p:sp>
      <p:sp>
        <p:nvSpPr>
          <p:cNvPr id="1025" name="Isosceles Triangle 1024"/>
          <p:cNvSpPr/>
          <p:nvPr/>
        </p:nvSpPr>
        <p:spPr>
          <a:xfrm rot="10800000">
            <a:off x="1897380" y="2345436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6" name="Rounded Rectangle 1025"/>
          <p:cNvSpPr/>
          <p:nvPr/>
        </p:nvSpPr>
        <p:spPr>
          <a:xfrm>
            <a:off x="493776" y="2436876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7" name="TextBox 1026"/>
          <p:cNvSpPr txBox="1"/>
          <p:nvPr/>
        </p:nvSpPr>
        <p:spPr>
          <a:xfrm>
            <a:off x="539496" y="243687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HTTPS Flask + gevent</a:t>
            </a:r>
          </a:p>
        </p:txBody>
      </p:sp>
      <p:sp>
        <p:nvSpPr>
          <p:cNvPr id="1028" name="Isosceles Triangle 1027"/>
          <p:cNvSpPr/>
          <p:nvPr/>
        </p:nvSpPr>
        <p:spPr>
          <a:xfrm rot="10800000">
            <a:off x="1897380" y="2779776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9" name="Rounded Rectangle 1028"/>
          <p:cNvSpPr/>
          <p:nvPr/>
        </p:nvSpPr>
        <p:spPr>
          <a:xfrm>
            <a:off x="493776" y="2871216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0" name="TextBox 1029"/>
          <p:cNvSpPr txBox="1"/>
          <p:nvPr/>
        </p:nvSpPr>
        <p:spPr>
          <a:xfrm>
            <a:off x="539496" y="287121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Detect · align · embed</a:t>
            </a:r>
          </a:p>
        </p:txBody>
      </p:sp>
      <p:sp>
        <p:nvSpPr>
          <p:cNvPr id="1031" name="Isosceles Triangle 1030"/>
          <p:cNvSpPr/>
          <p:nvPr/>
        </p:nvSpPr>
        <p:spPr>
          <a:xfrm rot="10800000">
            <a:off x="1897380" y="3214116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2" name="Rounded Rectangle 1031"/>
          <p:cNvSpPr/>
          <p:nvPr/>
        </p:nvSpPr>
        <p:spPr>
          <a:xfrm>
            <a:off x="493776" y="3305556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3" name="TextBox 1032"/>
          <p:cNvSpPr txBox="1"/>
          <p:nvPr/>
        </p:nvSpPr>
        <p:spPr>
          <a:xfrm>
            <a:off x="539496" y="330555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Temporal smoothing</a:t>
            </a:r>
          </a:p>
        </p:txBody>
      </p:sp>
      <p:sp>
        <p:nvSpPr>
          <p:cNvPr id="1034" name="Isosceles Triangle 1033"/>
          <p:cNvSpPr/>
          <p:nvPr/>
        </p:nvSpPr>
        <p:spPr>
          <a:xfrm rot="10800000">
            <a:off x="1897380" y="3648456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5" name="Rounded Rectangle 1034"/>
          <p:cNvSpPr/>
          <p:nvPr/>
        </p:nvSpPr>
        <p:spPr>
          <a:xfrm>
            <a:off x="493776" y="3739896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6" name="TextBox 1035"/>
          <p:cNvSpPr txBox="1"/>
          <p:nvPr/>
        </p:nvSpPr>
        <p:spPr>
          <a:xfrm>
            <a:off x="539496" y="373989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E1 / E2 / E3 head</a:t>
            </a:r>
          </a:p>
        </p:txBody>
      </p:sp>
      <p:sp>
        <p:nvSpPr>
          <p:cNvPr id="1037" name="Isosceles Triangle 1036"/>
          <p:cNvSpPr/>
          <p:nvPr/>
        </p:nvSpPr>
        <p:spPr>
          <a:xfrm rot="10800000">
            <a:off x="1897380" y="4082796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8" name="Rounded Rectangle 1037"/>
          <p:cNvSpPr/>
          <p:nvPr/>
        </p:nvSpPr>
        <p:spPr>
          <a:xfrm>
            <a:off x="493776" y="4174235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9" name="TextBox 1038"/>
          <p:cNvSpPr txBox="1"/>
          <p:nvPr/>
        </p:nvSpPr>
        <p:spPr>
          <a:xfrm>
            <a:off x="539496" y="4174235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PHONE DISPLAY</a:t>
            </a:r>
          </a:p>
        </p:txBody>
      </p:sp>
      <p:sp>
        <p:nvSpPr>
          <p:cNvPr id="1040" name="Rounded Rectangle 1039"/>
          <p:cNvSpPr/>
          <p:nvPr/>
        </p:nvSpPr>
        <p:spPr>
          <a:xfrm>
            <a:off x="3803904" y="1133856"/>
            <a:ext cx="4846320" cy="106070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1" name="TextBox 1040"/>
          <p:cNvSpPr txBox="1"/>
          <p:nvPr/>
        </p:nvSpPr>
        <p:spPr>
          <a:xfrm>
            <a:off x="3986784" y="1261872"/>
            <a:ext cx="448056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Why HTTPS is not optional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getUserMedia() only exists in a secure context — a plain http:// page never even prompts for the camera. A self-signed cert is reused from runs/certs/.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3803904" y="2304288"/>
            <a:ext cx="4846320" cy="106070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3" name="TextBox 1042"/>
          <p:cNvSpPr txBox="1"/>
          <p:nvPr/>
        </p:nvSpPr>
        <p:spPr>
          <a:xfrm>
            <a:off x="3986784" y="2432304"/>
            <a:ext cx="448056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Why gevent replaced the dev server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ssl_context='adhoc' accepted the connection then hung on the TLS handshake with real mobile browsers, with no server-side error.</a:t>
            </a:r>
          </a:p>
        </p:txBody>
      </p:sp>
      <p:sp>
        <p:nvSpPr>
          <p:cNvPr id="1044" name="Rounded Rectangle 1043"/>
          <p:cNvSpPr/>
          <p:nvPr/>
        </p:nvSpPr>
        <p:spPr>
          <a:xfrm>
            <a:off x="3803904" y="3474720"/>
            <a:ext cx="4846320" cy="106070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5" name="TextBox 1044"/>
          <p:cNvSpPr txBox="1"/>
          <p:nvPr/>
        </p:nvSpPr>
        <p:spPr>
          <a:xfrm>
            <a:off x="3986784" y="3602736"/>
            <a:ext cx="448056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Switching modes live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dropdown swaps E1/E2/E3 without restarting. E3 loads lazily and the embedding buffer is cleared, because its space is incompatible.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4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1031" name="Google Shape;1031;p24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2" name="Google Shape;1032;p24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24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22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TextBox 1033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Limitations &amp; Future Work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These bound what the reported numbers mean.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493776" y="1115568"/>
            <a:ext cx="3977639" cy="2450592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7" name="TextBox 1036"/>
          <p:cNvSpPr txBox="1"/>
          <p:nvPr/>
        </p:nvSpPr>
        <p:spPr>
          <a:xfrm>
            <a:off x="676656" y="122529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Limitations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676656" y="1609344"/>
            <a:ext cx="3611880" cy="1485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D32F2F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Single capture session per person</a:t>
            </a:r>
          </a:p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D32F2F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Closed-set only — cannot reject a stranger</a:t>
            </a:r>
          </a:p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D32F2F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~8% test/train duplicate overlap</a:t>
            </a:r>
          </a:p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D32F2F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One phone per group of five identities</a:t>
            </a:r>
          </a:p>
          <a:p>
            <a:pPr marL="215000" indent="-215000" algn="l">
              <a:lnSpc>
                <a:spcPct val="124000"/>
              </a:lnSpc>
              <a:buClr>
                <a:srgbClr val="D32F2F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Only 30 identities, no anti-spoofing</a:t>
            </a:r>
          </a:p>
        </p:txBody>
      </p:sp>
      <p:sp>
        <p:nvSpPr>
          <p:cNvPr id="1039" name="Rounded Rectangle 1038"/>
          <p:cNvSpPr/>
          <p:nvPr/>
        </p:nvSpPr>
        <p:spPr>
          <a:xfrm>
            <a:off x="4672584" y="1115568"/>
            <a:ext cx="3977639" cy="2450592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0" name="TextBox 1039"/>
          <p:cNvSpPr txBox="1"/>
          <p:nvPr/>
        </p:nvSpPr>
        <p:spPr>
          <a:xfrm>
            <a:off x="4855464" y="122529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Future work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4855464" y="1609344"/>
            <a:ext cx="3611880" cy="1485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203C80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Multi-session capture across days</a:t>
            </a:r>
          </a:p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203C80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Cross-device evaluation</a:t>
            </a:r>
          </a:p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203C80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Report duplicate-free test accuracy</a:t>
            </a:r>
          </a:p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203C80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Open-set rejection with unenrolled visitors</a:t>
            </a:r>
          </a:p>
          <a:p>
            <a:pPr marL="215000" indent="-215000" algn="l">
              <a:lnSpc>
                <a:spcPct val="124000"/>
              </a:lnSpc>
              <a:buClr>
                <a:srgbClr val="203C80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Liveness detection and more identities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493776" y="3749039"/>
            <a:ext cx="8156448" cy="82296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73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3" name="TextBox 1042"/>
          <p:cNvSpPr txBox="1"/>
          <p:nvPr/>
        </p:nvSpPr>
        <p:spPr>
          <a:xfrm>
            <a:off x="640080" y="3749039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How to read 100%:  </a:t>
            </a: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 this 30-person, single-session, closed-set split, E3 classified all 998 test images correctly. Duplicate overlap and one capture session push that figure optimistic — it is a result about this dataset, not a claim about real-world accuracy.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25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1055" name="Google Shape;1055;p25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6" name="Google Shape;1056;p25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25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23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TextBox 1057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 Findings &amp; Conclusion</a:t>
            </a:r>
          </a:p>
        </p:txBody>
      </p:sp>
      <p:sp>
        <p:nvSpPr>
          <p:cNvPr id="1059" name="Rounded Rectangle 1058"/>
          <p:cNvSpPr/>
          <p:nvPr/>
        </p:nvSpPr>
        <p:spPr>
          <a:xfrm>
            <a:off x="493776" y="969264"/>
            <a:ext cx="3986784" cy="102412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0" name="TextBox 1059"/>
          <p:cNvSpPr txBox="1"/>
          <p:nvPr/>
        </p:nvSpPr>
        <p:spPr>
          <a:xfrm>
            <a:off x="676656" y="1078992"/>
            <a:ext cx="3621024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81A8EF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The pretrained embedding was already strong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Every single occlusion was solved at 100% by the clean-only baseline.</a:t>
            </a:r>
          </a:p>
        </p:txBody>
      </p:sp>
      <p:sp>
        <p:nvSpPr>
          <p:cNvPr id="1061" name="Rounded Rectangle 1060"/>
          <p:cNvSpPr/>
          <p:nvPr/>
        </p:nvSpPr>
        <p:spPr>
          <a:xfrm>
            <a:off x="4663440" y="969264"/>
            <a:ext cx="3986784" cy="102412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2" name="TextBox 1061"/>
          <p:cNvSpPr txBox="1"/>
          <p:nvPr/>
        </p:nvSpPr>
        <p:spPr>
          <a:xfrm>
            <a:off x="4846320" y="1078992"/>
            <a:ext cx="3621024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81A8EF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Compound occlusion is the real failure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Mask + sunglasses caused 38 of E1's 57 errors.</a:t>
            </a:r>
          </a:p>
        </p:txBody>
      </p:sp>
      <p:sp>
        <p:nvSpPr>
          <p:cNvPr id="1063" name="Rounded Rectangle 1062"/>
          <p:cNvSpPr/>
          <p:nvPr/>
        </p:nvSpPr>
        <p:spPr>
          <a:xfrm>
            <a:off x="493776" y="2103120"/>
            <a:ext cx="3986784" cy="102412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4" name="TextBox 1063"/>
          <p:cNvSpPr txBox="1"/>
          <p:nvPr/>
        </p:nvSpPr>
        <p:spPr>
          <a:xfrm>
            <a:off x="676656" y="2212848"/>
            <a:ext cx="3621024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81A8EF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Diverse data repaired exactly that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E2 reached 100% on it with an identical model and seed.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4663440" y="2103120"/>
            <a:ext cx="3986784" cy="102412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6" name="TextBox 1065"/>
          <p:cNvSpPr txBox="1"/>
          <p:nvPr/>
        </p:nvSpPr>
        <p:spPr>
          <a:xfrm>
            <a:off x="4846320" y="2212848"/>
            <a:ext cx="3621024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81A8EF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Fine-tuning added almost nothing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E3's +0.10 points is one image out of 998.</a:t>
            </a:r>
          </a:p>
        </p:txBody>
      </p:sp>
      <p:sp>
        <p:nvSpPr>
          <p:cNvPr id="1067" name="Rounded Rectangle 1066"/>
          <p:cNvSpPr/>
          <p:nvPr/>
        </p:nvSpPr>
        <p:spPr>
          <a:xfrm>
            <a:off x="493776" y="3310128"/>
            <a:ext cx="8156448" cy="1261872"/>
          </a:xfrm>
          <a:prstGeom prst="roundRect">
            <a:avLst>
              <a:gd name="adj" fmla="val 47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8" name="TextBox 1067"/>
          <p:cNvSpPr txBox="1"/>
          <p:nvPr/>
        </p:nvSpPr>
        <p:spPr>
          <a:xfrm>
            <a:off x="749808" y="3310128"/>
            <a:ext cx="7644383" cy="1261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81A8EF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correctly normalized pretrained ArcFace embedding with a small locally trained head reaches 99.90% closed-set top-1 across eight occlusion conditions — without touching the backbone.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C7D3EE"/>
                </a:solidFill>
                <a:latin typeface="Roboto"/>
                <a:ea typeface="Roboto"/>
                <a:cs typeface="Roboto"/>
                <a:sym typeface="Roboto"/>
              </a:rPr>
              <a:t>The transferable finding: training-condition diversity matters far more than how much of the backbone you unfreeze.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3307</Words>
  <Application>Microsoft Office PowerPoint</Application>
  <PresentationFormat>On-screen Show (16:9)</PresentationFormat>
  <Paragraphs>632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Arimo</vt:lpstr>
      <vt:lpstr>Calibri</vt:lpstr>
      <vt:lpstr>Play</vt:lpstr>
      <vt:lpstr>Arial</vt:lpstr>
      <vt:lpstr>Courier New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DIP</cp:lastModifiedBy>
  <cp:revision>7</cp:revision>
  <dcterms:modified xsi:type="dcterms:W3CDTF">2026-09-08T07:11:37Z</dcterms:modified>
</cp:coreProperties>
</file>