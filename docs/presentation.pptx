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KHULNA UNIVERSITY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E8F0F7"/>
                </a:solidFill>
                <a:latin typeface="Calibri"/>
              </a:defRPr>
            </a:pPr>
            <a:r>
              <a:t>Department of Computer Science and Engineering  —  CSE 4112 Machine Learning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Occlusion-Robust Face Identification</a:t>
            </a:r>
          </a:p>
          <a:p>
            <a:r>
              <a:t>Using a Pretrained ArcFace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E8F0F7"/>
                </a:solidFill>
                <a:latin typeface="Calibri"/>
              </a:defRPr>
            </a:pPr>
            <a:r>
              <a:t>Project Report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Roll: 2107031, 2107044, 2107046, 2107047, 2107057, 2107059  |  Section A  |  4th Year, 1st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F0F7"/>
                </a:solidFill>
                <a:latin typeface="Calibri"/>
              </a:defRPr>
            </a:pPr>
            <a:r>
              <a:t>Submitted to: Dr. Muhammad Aminul Haque Akhand &amp; Nabil Faiyaz Sadi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E8F0F7"/>
                </a:solidFill>
                <a:latin typeface="Calibri"/>
              </a:defRPr>
            </a:pPr>
            <a:r>
              <a:t>Khulna,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Problem Statement &amp; Objectives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Dataset: Collection, Consent &amp; Manual Curation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Preprocessing: Detection &amp; Alignment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Data Splitting Strategy (Constrained)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Why a Pretrained ArcFace Backbone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Experiment Design: E1, E2, E3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Training Pipelines &amp;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A Real Bug, Found and Fixed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Results: Accuracy, Per-Occlusion, Confusion Matrices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Comparison with Related Published Work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Inference Pipeline: Image → Label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Live Web Demo</a:t>
            </a:r>
          </a:p>
          <a:p>
            <a:pPr>
              <a:spcAft>
                <a:spcPts val="919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▪  Limitations, Future Work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4114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Closed-set face identification: every test photo belongs to one of 30 enrolled people.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System must return the correct participant ID (e.g. p07) — not just detect “is a mask present.”</a:t>
            </a:r>
          </a:p>
          <a:p>
            <a:pPr>
              <a:spcAft>
                <a:spcPts val="919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▪  Occlusions hide different regions:</a:t>
            </a:r>
          </a:p>
          <a:p>
            <a:pPr lvl="1"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–  Mask → nose, mouth, jawline</a:t>
            </a:r>
          </a:p>
          <a:p>
            <a:pPr lvl="1"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–  Sunglasses → eye region</a:t>
            </a:r>
          </a:p>
          <a:p>
            <a:pPr lvl="1"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–  Cap → forehead, hairline</a:t>
            </a:r>
          </a:p>
          <a:p>
            <a:pPr lvl="1"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–  Low light → visible texture generally</a:t>
            </a:r>
          </a:p>
          <a:p>
            <a:pPr>
              <a:spcAft>
                <a:spcPts val="919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▪  Central question: can a pretrained face embedding stay discriminative under these conditions with only a small amount of per-identity data?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34924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Objectives (all completed)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49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Collect a structured dataset across occlusion &amp; lighting conditions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Detect, align, crop &amp; quality-check every image (one pipeline)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Split into train/val/test with every identity in all three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Evaluate a pretrained ArcFace pipeline with two forms of task-specific training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Report accuracy, confusion matrices, and per-class/per-occlusion P/R/F1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Produce a working live phone-camera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Problem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611880" cy="13716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30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Enrolled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611880" cy="13716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6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Team members, 5 people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34440"/>
            <a:ext cx="3611880" cy="13716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8 × 2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Occlusion types × lighting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611880" cy="13716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6,000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Raw images captured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788920"/>
            <a:ext cx="3611880" cy="13716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5,988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Successfully preprocessed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788920"/>
            <a:ext cx="3611880" cy="13716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99.8%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Detection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D"/>
                </a:solidFill>
                <a:latin typeface="Calibri"/>
              </a:defRPr>
            </a:pPr>
            <a:r>
              <a:t>Occlusion conditions captured: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02020"/>
                </a:solidFill>
                <a:latin typeface="Calibri"/>
              </a:defRPr>
            </a:pPr>
            <a:r>
              <a:t>none · cap · mask · scarf · clear glasses · sunglasses · mask+sunglasses · mask+clear glasses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  <a:latin typeface="Calibri"/>
              </a:defRPr>
            </a:pPr>
            <a:r>
              <a:t>Filenames encode ground truth directly (p07_mask_sunglass_low_014.jpg) — parsed by regex, with a CSV manifest as the single authoritative metadata source downstream.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Dataset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Eight Occlusion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8F0F7"/>
                </a:solidFill>
              </a:defRPr>
            </a:pPr>
            <a:r>
              <a:t>Real photos are withheld for participant privacy (consent-gated); shown here as labeled diagrams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Clear, unoccluded baseline 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Cap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92024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Forehead &amp; hairline hidden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Mask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Nose, mouth, jawline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1732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Scarf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92024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Lower face wrapped/hidden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Clear Glasses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Mild eye-region distortion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79476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Sunglasses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29768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Eye region fully hidden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2697480" cy="5029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Mask + Clear Glasses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29768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Lower face + mild eye distortion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794760"/>
            <a:ext cx="269748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Mask + Sunglasses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297680"/>
            <a:ext cx="269748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>
                <a:solidFill>
                  <a:srgbClr val="202020"/>
                </a:solidFill>
              </a:defRPr>
            </a:pPr>
            <a:r>
              <a:t>Both eyes AND lower face hidden — hardest condition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Occlusion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Consent &amp; Manual Data Curation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286000" cy="7315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Phone capture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(6 members x 5 people)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783080"/>
            <a:ext cx="320040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63240" y="1417320"/>
            <a:ext cx="2286000" cy="7315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Consent form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signed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49240" y="1783080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79" y="1417320"/>
            <a:ext cx="2286000" cy="73152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Manual quality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280659" y="2194560"/>
            <a:ext cx="1257300" cy="32004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77639" y="2560320"/>
            <a:ext cx="260604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Reject: blurry, too dark,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fully covered, mis-cropped, duplicate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80659" y="3337560"/>
            <a:ext cx="0" cy="32004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77639" y="3657600"/>
            <a:ext cx="260604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put_asides/&lt;member&gt;/&lt;person&gt;/</a:t>
            </a:r>
          </a:p>
          <a:p>
            <a:pPr algn="ctr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(kept, with reason)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599" y="2194560"/>
            <a:ext cx="1257301" cy="32004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79" y="2560320"/>
            <a:ext cx="26060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Accept: rename to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p##_occ_light_seq.jpg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43900" y="3337560"/>
            <a:ext cx="0" cy="32004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79" y="3657600"/>
            <a:ext cx="2606040" cy="6400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processed_data/p01..p30/</a:t>
            </a:r>
          </a:p>
          <a:p>
            <a:pPr algn="ctr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FROZEN dataset (6,000 images)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417320"/>
            <a:ext cx="2651760" cy="731520"/>
          </a:xfrm>
          <a:prstGeom prst="roundRect">
            <a:avLst/>
          </a:prstGeom>
          <a:solidFill>
            <a:srgbClr val="5B8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metadata/person_id_mapping.txt</a:t>
            </a:r>
          </a:p>
          <a:p>
            <a:pPr algn="ctr">
              <a:defRPr sz="1050" b="1" i="0">
                <a:solidFill>
                  <a:srgbClr val="FFFFFF"/>
                </a:solidFill>
                <a:latin typeface="Calibri"/>
              </a:defRPr>
            </a:pPr>
            <a:r>
              <a:t>p## -&gt; member -&gt; real person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D"/>
                </a:solidFill>
                <a:latin typeface="Calibri"/>
              </a:defRPr>
            </a:pPr>
            <a:r>
              <a:t>Privacy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Every participant signed a consent form before any photo was taken; anonymous p## IDs only — no names in any dataset file.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A separate optional box grants permission to show a recognisable photo in the report/demo — respected throughout this project.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429 images turned out to be byte-identical duplicates (repeat shutter presses) — kept as independent samples, not silently merged; effect measured and disclosed in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Consent &amp; Data Curation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Preprocessing: Detect, Align, Crop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Raw photo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(full resolution)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1805940"/>
            <a:ext cx="320040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37160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RetinaFace detect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bbox + 5 landmarks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1805940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137160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Similarity transform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align to template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1805940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1371600"/>
            <a:ext cx="251460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112x112 crop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(training-ready)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Why RetinaFace?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Purpose-built face detector — not a generic object detector repurposed for faces.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Outputs 5 landmarks (eyes, nose, mouth corners) in the same pass as detection — exactly what alignment needs.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Single-shot, multi-level: robust across scales without a separate landmark model.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Precedent in published work adapting the same family to occluded/masked faces.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14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Why alignment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2608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Maps eyes/nose/mouth to the SAME pixel positions every time — regardless of phone tilt, distance, or head turn.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Without it, a classifier could key on background or camera artifacts instead of the actual face.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The exact same align_crop() function builds training crops AND live-demo frames — no train/inference mismatch.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074920"/>
            <a:ext cx="2560320" cy="105156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99.8%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Detection success rate
(5,988 / 6,000)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074920"/>
            <a:ext cx="2651760" cy="105156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12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Failures — mostly
mask+sunglasses (10/12)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Splitting Strategy (Constrained)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965960" cy="82296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preprocess_log.csv</a:t>
            </a:r>
          </a:p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(md5, detection log)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1737360"/>
            <a:ext cx="256031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79191" y="1325880"/>
            <a:ext cx="1965960" cy="82296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Group near-</a:t>
            </a:r>
          </a:p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duplicates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45152" y="1737360"/>
            <a:ext cx="256032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01183" y="1325880"/>
            <a:ext cx="1965960" cy="82296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Deficit-based</a:t>
            </a:r>
          </a:p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greedy allocator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67144" y="1737360"/>
            <a:ext cx="256032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23175" y="1325880"/>
            <a:ext cx="1965960" cy="82296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Hard assertions</a:t>
            </a:r>
          </a:p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(coverage check)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89136" y="1737360"/>
            <a:ext cx="256031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45167" y="1325880"/>
            <a:ext cx="1965960" cy="8229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manifest.csv</a:t>
            </a:r>
          </a:p>
          <a:p>
            <a:pPr algn="ctr">
              <a:defRPr sz="1150" b="1" i="0">
                <a:solidFill>
                  <a:srgbClr val="FFFFFF"/>
                </a:solidFill>
                <a:latin typeface="Calibri"/>
              </a:defRPr>
            </a:pPr>
            <a:r>
              <a:t>(final split)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Why not just random-split?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Near-duplicate leakage risk: burst-mode shots taken seconds apart, or a low-light image derived by darkening a regular one, could land on opposite sides.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Fix: union-find groups images sharing a source OR captured within an 8s burst for the same (person, occlusion) — then splits by whole GROUP, never individual image.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429 byte-identical duplicates are deliberately kept as independent samples — not merged — with the ~8% resulting test/train overlap measured and disclosed, not hidden.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Hard guarantee: every one of the 30 identities appears in ALL three splits (asserted, not hoped for). Per-occlusion coverage per split is best-effort only.</a:t>
            </a:r>
          </a:p>
        </p:txBody>
      </p:sp>
      <p:pic>
        <p:nvPicPr>
          <p:cNvPr id="15" name="Picture 14" descr="char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1720"/>
            <a:ext cx="5394960" cy="323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Data Splitting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a Pretrained ArcFace Backbone?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The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Purpose-built for faces — RetinaFace + ArcFace are designed specifically for finding and telling apart human faces, unlike a general-purpose image classifier.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Needs far less local data — ArcFace already understands faces broadly from large-scale pretraining, so it needs far less new data to learn our 30 specific people than training from scratch.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Practical to run — iResNet50 is light enough for a 2xRTX3090 box AND a modest laptop CPU, while far stronger than a small CNN trained from random initialisation.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Proven on occluded faces — prior published work has already adapted this exact model family to masked/occluded faces, supporting its use here.</a:t>
            </a:r>
          </a:p>
          <a:p>
            <a:pPr>
              <a:spcAft>
                <a:spcPts val="919"/>
              </a:spcAft>
            </a:pPr>
            <a:r>
              <a:rPr sz="1450" b="1">
                <a:solidFill>
                  <a:srgbClr val="202020"/>
                </a:solidFill>
                <a:latin typeface="Calibri"/>
              </a:rPr>
              <a:t>▪  No from-scratch CNN baseline was trained: with only 30 classes and a few hundred images per identity, it was judged inherently weaker and less informative than the E1-vs-E2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The angular-margin loss, intuitively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777240"/>
          </a:xfrm>
          <a:prstGeom prst="round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 i="0">
                <a:solidFill>
                  <a:srgbClr val="1F4E7D"/>
                </a:solidFill>
                <a:latin typeface="Calibri"/>
              </a:defRPr>
            </a:pPr>
            <a:r>
              <a:t>L = -log[ e^(s·cos(θy+m)) / (e^(s·cos(θy+m)) + Σ e^(s·cosθj))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60604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Adds an angular margin m directly to the target class's angle before the softmax.</a:t>
            </a:r>
          </a:p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Effect: pulls same-person embeddings tighter together, and pushes different-person embeddings further apart, on the surface of a hypersphere.</a:t>
            </a:r>
          </a:p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This is WHY nearest-centroid matching already works well on this pretrained space — it was explicitly optimised for exactly that kind of separation.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846320"/>
            <a:ext cx="2606040" cy="123444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512-d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Embedding size
(w600k_r50.onnx)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846320"/>
            <a:ext cx="2606040" cy="123444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iResNet50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Backbone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Why ArcFace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 Design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468880"/>
                <a:gridCol w="1828800"/>
                <a:gridCol w="219456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Backbone State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Train Data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Trained head, clean-only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Frozen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none-occlusion only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The proposal's original baseline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Trained head, mixed-condition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Frozen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all 8 occlusions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Does occlusion-diverse data help over E1?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E3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Partial backbone fine-tune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Last 15% unfrozen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all 8 occlusions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Does adapting backbone weights help further?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Architecture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2926080" cy="77724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Pretrained ArcFace backbone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(w600k_r50.onnx)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749039" y="4000500"/>
            <a:ext cx="594361" cy="11430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49039" y="4343400"/>
            <a:ext cx="594361" cy="43434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3657600"/>
            <a:ext cx="2743200" cy="685800"/>
          </a:xfrm>
          <a:prstGeom prst="roundRect">
            <a:avLst/>
          </a:prstGeom>
          <a:solidFill>
            <a:srgbClr val="5B8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E1 / E2: FROZEN</a:t>
            </a:r>
          </a:p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+ new 30-way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434840"/>
            <a:ext cx="2743200" cy="6858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E3: last 15% UNFROZEN</a:t>
            </a:r>
          </a:p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+ new 30-way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657600"/>
            <a:ext cx="4251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E1/E2 = linear probing — zero backbone weights ever touched, only the head is learned.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E3 = genuine partial fine-tune — backbone AND head both get gradient updates, at very different learning rates.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All three share the identical frozen-embedding starting point and evaluation protocol.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Experiment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E1 &amp; E2: Linear Probing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crops/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112x112 aligned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1805940"/>
            <a:ext cx="320040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37160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03_embed.py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frozen ArcFace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1805940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137160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embeddings.npz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512-d cached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1805940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1371600"/>
            <a:ext cx="251460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05_train_head.py</a:t>
            </a:r>
          </a:p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30-way ArcFace head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18420" y="2240280"/>
            <a:ext cx="0" cy="22860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8240" y="2468880"/>
            <a:ext cx="288036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e1_head.pt  /  e2_head.pt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What differs between E1 and E2?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Only the TRAINING DATA — architecture and optimiser settings are identical.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E1 trains on none-occlusion images only. E2 trains on all 8 occlusion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Training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cos(θy + m)·s angular-margin head, s=32, margin warm-up 0→0.20 over 5 epochs, label smoothing 0.1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AdamW, cosine LR schedule, early stopping on validation macro-F1 (patience 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 i="0">
                <a:solidFill>
                  <a:srgbClr val="1F4E7D"/>
                </a:solidFill>
                <a:latin typeface="Calibri"/>
              </a:defRPr>
            </a:pPr>
            <a:r>
              <a:t>Why call this “linear probing”, not fine-tuning?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88620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The backbone (w600k_r50.onnx) receives ZERO gradient updates in E1/E2 — it is packaged as inference-only ONNX and never touched.</a:t>
            </a:r>
          </a:p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Only a brand-new 512→30 linear layer is trained on top of the frozen embedding — the pretrained representation is used exactly as-is.</a:t>
            </a:r>
          </a:p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This isolates one specific question: given a fixed representation, does the TRAINING DATA'S occlusion-diversity matter?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E1 &amp; E2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E3: Partial Backbone Fine-Tuning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crops/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112x112 aligned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1760219"/>
            <a:ext cx="320040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325880"/>
            <a:ext cx="2514600" cy="86868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onnx2torch convert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+ numerical verify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1760219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1325880"/>
            <a:ext cx="251460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Unfreeze last 15%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+ new head, BN frozen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1760219"/>
            <a:ext cx="320039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1325880"/>
            <a:ext cx="251460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Train (grad on</a:t>
            </a:r>
          </a:p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backbone + head)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18420" y="2194560"/>
            <a:ext cx="0" cy="22860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8240" y="2423160"/>
            <a:ext cx="288036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e3_model.pt  (~166MB)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Why only the last 15%?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Only ~3,500 training images. Unfreezing the WHOLE ~25M-parameter backbone risks catastrophic forgetting on so little data.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Last layers encode identity/task-specific features; early layers encode generic edges/textures that should transfer regardless of which 30 people.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Faster training, less GPU memory, lower risk of optimiser instability.</a:t>
            </a:r>
          </a:p>
          <a:p>
            <a:pPr>
              <a:spcAft>
                <a:spcPts val="919"/>
              </a:spcAft>
            </a:pPr>
            <a:r>
              <a:rPr sz="1350" b="1">
                <a:solidFill>
                  <a:srgbClr val="202020"/>
                </a:solidFill>
                <a:latin typeface="Calibri"/>
              </a:rPr>
              <a:t>▪  Honest caveat: 15% was one chosen value, not the result of a sweep across 5%/30%/50%.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246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 i="0">
                <a:solidFill>
                  <a:srgbClr val="1F4E7D"/>
                </a:solidFill>
                <a:latin typeface="Calibri"/>
              </a:defRPr>
            </a:pPr>
            <a:r>
              <a:t>Two safeguards that made this trustworthy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576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Numerical verification: converted backbone checked against original ONNX output BEFORE training — cosine similarity 1.000000, max abs diff 1.86e-4.</a:t>
            </a:r>
          </a:p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BatchNorm frozen throughout (even during training): letting BN running stats update on so few images would silently destroy pretrained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5623560"/>
            <a:ext cx="2606040" cy="9144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10^-5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Backbone LR (vs 10^-3 for head)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5623560"/>
            <a:ext cx="2606040" cy="91440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15%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of backbone parameters unfrozen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E3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Real Bug, Found and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8F0F7"/>
                </a:solidFill>
              </a:defRPr>
            </a:pPr>
            <a:r>
              <a:t>A methodological red flag caught before it became a false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02020"/>
                </a:solidFill>
                <a:latin typeface="Calibri"/>
              </a:defRPr>
            </a:pPr>
            <a:r>
              <a:t>insightface's get_feat() does NOT return unit-length embeddings — but the E1/E2 head code assumed it did, computing cos(θ)=x·w as an unbounded dot product instead of a true cosine. This silently corrupted the arccos margin term on every training and evaluation batch.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Before fix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After fix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02020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02020"/>
                          </a:solidFill>
                        </a:defRPr>
                      </a:pPr>
                      <a:r>
                        <a:t>70.34%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02020"/>
                          </a:solidFill>
                        </a:defRPr>
                      </a:pPr>
                      <a:r>
                        <a:t>94.29%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02020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02020"/>
                          </a:solidFill>
                        </a:defRPr>
                      </a:pPr>
                      <a:r>
                        <a:t>96.29%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02020"/>
                          </a:solidFill>
                        </a:defRPr>
                      </a:pPr>
                      <a:r>
                        <a:t>99.90%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2286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How it was caught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69748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Red flag: a strictly more expressive model (frozen backbone + trainable head) scored WORSE than a training-free baseline — that ordering should never happen without an explanation.</a:t>
            </a:r>
          </a:p>
          <a:p>
            <a:pPr>
              <a:spcAft>
                <a:spcPts val="919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▪  Root cause traced to a documented-but-easy-to-miss insightface API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Why this matters beyond the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Fixed the story, not just the score: pre-fix, E1 looked broadly worse everywhere; post-fix, E1 fails specifically on mask+sunglasses — a controlled, explainable effect.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A useful debugging heuristic: sanity-check EXPECTED ORDERING between experiments, not just absolute numbers.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Reported transparently in the final report as a case study — not hidden as an embarrassment.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The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Accuracy Across E1, E2, E3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463040"/>
                <a:gridCol w="14630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Macro-P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Macro-R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E1 — Head, clean-only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94.29%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95.06%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93.55%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93.89%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[92.7%, 95.6%]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E2 — Head, mixed-condition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99.90%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[99.4%, 100.0%]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E3 — Partial fine-tune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[99.6%, 100.0%]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998 test images, 30 classes, 95% Wilson confidence intervals throughout.</a:t>
            </a:r>
          </a:p>
          <a:p>
            <a:pPr>
              <a:spcAft>
                <a:spcPts val="919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▪  E2 and E3's intervals overlap — not statistically distinguishable at this sample size.</a:t>
            </a:r>
          </a:p>
          <a:p>
            <a:pPr>
              <a:spcAft>
                <a:spcPts val="919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▪  The real finding isn't E2-vs-E3 (small gap); it's E1-vs-E2 (large, explainable gap) — see next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Results: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Per-Occlusion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8F0F7"/>
                </a:solidFill>
              </a:defRPr>
            </a:pPr>
            <a:r>
              <a:t>The clearest, most informative comparison in this project</a:t>
            </a:r>
          </a:p>
        </p:txBody>
      </p:sp>
      <p:pic>
        <p:nvPicPr>
          <p:cNvPr id="5" name="Picture 4" descr="chart_per_oc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10607040" cy="4596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555555"/>
                </a:solidFill>
                <a:latin typeface="Calibri"/>
              </a:defRPr>
            </a:pPr>
            <a:r>
              <a:t>Occlusion-diverse training data matters specifically for COMPOUND occlusions — single occlusions were already handled well by all three approaches.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Per-Occlusion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Confusion Matrices: E1 vs E2 vs E3</a:t>
            </a:r>
          </a:p>
        </p:txBody>
      </p:sp>
      <p:pic>
        <p:nvPicPr>
          <p:cNvPr id="4" name="Picture 3" descr="cm_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611880" cy="3283527"/>
          </a:xfrm>
          <a:prstGeom prst="rect">
            <a:avLst/>
          </a:prstGeom>
        </p:spPr>
      </p:pic>
      <p:pic>
        <p:nvPicPr>
          <p:cNvPr id="5" name="Picture 4" descr="cm_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3611880" cy="3283527"/>
          </a:xfrm>
          <a:prstGeom prst="rect">
            <a:avLst/>
          </a:prstGeom>
        </p:spPr>
      </p:pic>
      <p:pic>
        <p:nvPicPr>
          <p:cNvPr id="6" name="Picture 5" descr="cm_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234440"/>
            <a:ext cx="3611880" cy="32835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(a) E1 — clean-only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45720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F4E7D"/>
                </a:solidFill>
                <a:latin typeface="Calibri"/>
              </a:defRPr>
            </a:pPr>
            <a:r>
              <a:t>(b) E2 — mixed-condition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5720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7AE60"/>
                </a:solidFill>
                <a:latin typeface="Calibri"/>
              </a:defRPr>
            </a:pPr>
            <a:r>
              <a:t>(c) E3 — fine-tuned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E1 is the only one with visible off-diagonal structure — top confusion: p06→p16 (6 images), concentrated in mask+sunglasses.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Confusion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Related Published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2834640"/>
                <a:gridCol w="393192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Reported accuracy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This project (E3)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Closed-set ID,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30 identities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5,988 images,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8 occlusion types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100.00% top-1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(998/998, CI [99.6,100.0]%)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Boutros et al. 2022</a:t>
                      </a:r>
                    </a:p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(SRT loss)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Open-set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Large masked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verification benchmarks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High-90s% verification acc.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(mask-aware triplet loss)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InsightFace MFR</a:t>
                      </a:r>
                    </a:p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Challenge 2021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Open-set verif.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/ identification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Millions of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identities, web-scale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90s% masked TAR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at very low FAR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NIST FRVT</a:t>
                      </a:r>
                    </a:p>
                    <a:p>
                      <a:pPr algn="l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Part 6B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Verification,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commercial algos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Large government-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operational 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5-50 pt accuracy drop</a:t>
                      </a:r>
                    </a:p>
                    <a:p>
                      <a:pPr algn="ctr">
                        <a:defRPr sz="1250">
                          <a:solidFill>
                            <a:srgbClr val="202020"/>
                          </a:solidFill>
                        </a:defRPr>
                      </a:pPr>
                      <a:r>
                        <a:t>masked vs unmasked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86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The honest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97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This project does NOT “beat” these papers — the comparison doesn't survive the scale / open-set-vs-closed-set difference.</a:t>
            </a:r>
          </a:p>
          <a:p>
            <a:pPr>
              <a:spcAft>
                <a:spcPts val="919"/>
              </a:spcAft>
            </a:pPr>
            <a:r>
              <a:rPr sz="1450" b="0">
                <a:solidFill>
                  <a:srgbClr val="202020"/>
                </a:solidFill>
                <a:latin typeface="Calibri"/>
              </a:rPr>
              <a:t>▪  A closed-set task with 30 known identities is dramatically easier than open-set, web-scale recognition — which is exactly why a plain pretrained embedding, with no mask-specific loss engineering, was already sufficient here.</a:t>
            </a:r>
          </a:p>
          <a:p>
            <a:pPr>
              <a:spcAft>
                <a:spcPts val="919"/>
              </a:spcAft>
            </a:pPr>
            <a:r>
              <a:rPr sz="1450" b="1">
                <a:solidFill>
                  <a:srgbClr val="202020"/>
                </a:solidFill>
                <a:latin typeface="Calibri"/>
              </a:rPr>
              <a:t>▪  The real contribution: an empirical demonstration of HOW FAR an off-the-shelf pretrained model goes, and WHERE the remaining gap actually lives (E1-vs-E2, not further architecture engineering).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Related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Inference Pipeline: Image →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8F0F7"/>
                </a:solidFill>
              </a:defRPr>
            </a:pPr>
            <a:r>
              <a:t>Worked example: a photo of p07, wearing a mask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755648" cy="91440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Phone photo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(full frame)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1408" y="1874519"/>
            <a:ext cx="164592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1417320"/>
            <a:ext cx="1755648" cy="91440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RetinaFace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detect + landmarks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41648" y="1874519"/>
            <a:ext cx="164592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06240" y="1417320"/>
            <a:ext cx="1755648" cy="91440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align_crop()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112x112 crop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1874519"/>
            <a:ext cx="164591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79" y="1417320"/>
            <a:ext cx="1755648" cy="91440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ArcFace embed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+ L2 normalize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82127" y="1874519"/>
            <a:ext cx="164592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19" y="1417320"/>
            <a:ext cx="1755648" cy="91440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Rolling buffer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avg of 6 frames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02367" y="1874519"/>
            <a:ext cx="164592" cy="0"/>
          </a:xfrm>
          <a:prstGeom prst="line">
            <a:avLst/>
          </a:prstGeom>
          <a:ln w="22225">
            <a:solidFill>
              <a:srgbClr val="1F4E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59" y="1417320"/>
            <a:ext cx="1755648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Classify</a:t>
            </a:r>
          </a:p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(argmax vs head)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 i="0">
                <a:solidFill>
                  <a:srgbClr val="1F4E7D"/>
                </a:solidFill>
                <a:latin typeface="Calibri"/>
              </a:defRPr>
            </a:pPr>
            <a:r>
              <a:t>Example scores (mask photo, E2 mode)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301752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Similarity score</a:t>
                      </a:r>
                    </a:p>
                  </a:txBody>
                  <a:tcPr anchor="ctr">
                    <a:solidFill>
                      <a:srgbClr val="1F4E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p07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0.81  &lt;- highest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p14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p03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5760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AE60"/>
                </a:solidFill>
                <a:latin typeface="Calibri"/>
              </a:defRPr>
            </a:pPr>
            <a:r>
              <a:t>argmax -&gt; label = p07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 i="0">
                <a:solidFill>
                  <a:srgbClr val="1F4E7D"/>
                </a:solidFill>
                <a:latin typeface="Calibri"/>
              </a:defRPr>
            </a:pPr>
            <a:r>
              <a:t>What's actually in the 512-d vector?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0175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Not human-interpretable per-dimension — geometrically, same-person faces land close together, different people land far apart.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Raw embedding is NOT unit-length — must be explicitly L2-normalized before any similarity comparison (the bug from Slide 13).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Rolling buffer of 6 frames (~2 seconds) smooths out per-frame blur/blink noise before classifying.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Inference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Web Demo</a:t>
            </a:r>
          </a:p>
        </p:txBody>
      </p:sp>
      <p:pic>
        <p:nvPicPr>
          <p:cNvPr id="4" name="Picture 3" descr="demo_app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394960" cy="2655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234440"/>
            <a:ext cx="5394960" cy="2655900"/>
          </a:xfrm>
          <a:prstGeom prst="rect">
            <a:avLst/>
          </a:prstGeom>
          <a:noFill/>
          <a:ln w="1587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000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1">
                <a:solidFill>
                  <a:srgbClr val="555555"/>
                </a:solidFill>
                <a:latin typeface="Calibri"/>
              </a:defRPr>
            </a:pPr>
            <a:r>
              <a:t>Idle state: model dropdown, camera picker, Start/Stop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4700"/>
            <a:ext cx="1691640" cy="96012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3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modes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484700"/>
            <a:ext cx="1691640" cy="96012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~400ms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E1/E2 cadence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484700"/>
            <a:ext cx="1737360" cy="960120"/>
          </a:xfrm>
          <a:prstGeom prst="roundRect">
            <a:avLst/>
          </a:prstGeom>
          <a:solidFill>
            <a:srgbClr val="E8F0F7"/>
          </a:solidFill>
          <a:ln w="9525">
            <a:solidFill>
              <a:srgbClr val="5B8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4E7D"/>
                </a:solidFill>
              </a:rPr>
              <a:t>~1-3s</a:t>
            </a:r>
          </a:p>
          <a:p>
            <a:pPr algn="ctr"/>
            <a:r>
              <a:rPr sz="1150">
                <a:solidFill>
                  <a:srgbClr val="202020"/>
                </a:solidFill>
              </a:rPr>
              <a:t>E3 lazy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4592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Flask server on a laptop; phone connects over the same Wi-Fi as a browser page and streams its camera.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HTTPS required — getUserMedia only works in a secure context; served via gevent's WSGIServer + a persistent self-signed cert (Flask's dev server hung on real TLS handshakes).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A dropdown switches between E1 / E2 / E3 LIVE, no server restart — default is E2.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E3 loads lazily on first selection since it's heaviest; frames throttle to 900ms there vs 400ms for E1/E2.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Practical touches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75488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Camera-lens picker + front/back switch — many phones default to a blurry ultra-wide rear lens.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Rolling embedding buffer clears on every mode switch (different embedding spaces must never mix).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Currently closed-set only: a calibrated UNKNOWN-rejection gallery classifier exists in code but is suppressed for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Limitations, 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Limitations (stated plainly)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Single capture session — train/val/test all same day, clothing, background; inflates accuracy vs. a true multi-session protocol.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Closed-set only in the current demo — no unenrolled-visitor rejection active.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~8% test images are MD5-identical to a training image (disclosed, not hidden).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Camera confound: each member's 5 people share one phone's sensor signature.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Only 30 identities — not comparable in absolute terms to open-set, web-scale results.</a:t>
            </a:r>
          </a:p>
          <a:p>
            <a:pPr>
              <a:spcAft>
                <a:spcPts val="919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▪  No anti-spoofing / liveness detection — a lab prototype, not access-control.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D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002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A mask-aware triplet loss or a restoration/de-occlusion front end, evaluated on a second, genuinely multi-session capture round.</a:t>
            </a:r>
          </a:p>
          <a:p>
            <a:pPr>
              <a:spcAft>
                <a:spcPts val="919"/>
              </a:spcAft>
            </a:pPr>
            <a:r>
              <a:rPr sz="1350" b="0">
                <a:solidFill>
                  <a:srgbClr val="202020"/>
                </a:solidFill>
                <a:latin typeface="Calibri"/>
              </a:rPr>
              <a:t>▪  Re-enable the gallery/UNKNOWN-rejection mode for open-set-aware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520440"/>
            <a:ext cx="5394960" cy="2743200"/>
          </a:xfrm>
          <a:prstGeom prst="roundRect">
            <a:avLst/>
          </a:prstGeom>
          <a:solidFill>
            <a:srgbClr val="1F4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A pretrained ArcFace pipeline, given occlusion-diverse training data, reaches 99.9-100% closed-set accuracy on 30 people under 8 real occlusion types — with the one controlled, mechanistic finding that occlusion diversity in training data (not architecture or loss engineering) is what fixes compound-occlusion failures.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Occlusion-Robust Face ID  |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